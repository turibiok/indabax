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(5 min). Lire le discours d'accroche, puis poser la question ouverte à la salle : qui a utilisé une IA cette semaine, et pour quoi faire ? Recueillir 3 ou 4 réponses avant d'enchaîner.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contrat de la séance : ce n'est pas un cours d'informatique, c'est un exercice de citoyenneté numérique. Insister sur AGIR en rappelant que le levier diffère selon le profil : un réglage personnel pour l'un, un choix d'architecture pour l'autre, une politique d'achat pour un troisième.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Afficher le déroulé et annoncer clairement le débat : la salle écoute mieux les trois modules en sachant qu'elle devra argumenter ensuite.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l'IA n'est pas magique, elle est alimentée. Par quoi ? Par nous.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à la salle : qui a déjà publié une photo de groupe, un portfolio, un dépôt de code public ? Ces contenus sont peut-être déjà dans un jeu d'entraînement. Ne pas dramatiser : le but est la prise de conscience, pas la peur.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donner les réponses tout de suite. Faire lever la main sur Q1, compter les avis, puis enchaîner sur la diapositive suivante qui donne le principe juridique.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Diapositive-pivot de tout le module 1. La faire répéter à voix haute par la salle si l'ambiance le permet.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Adapter la profondeur juridique à la salle. Message commun : la règle existe, elle est exigeante, elle est déjà appliquée — voir la diapositive suivante. Pour les praticiens, insister sur le fait que le test doit être documenté.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confirmer montants et intitulés par le FGI Bénin avant diffusion. Message : le droit n'est pas resté théorique, des amendes sont tombées.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fichier robots.txt est un bon exemple concret : un simple fichier texte, à la portée de quiconque gère un site. Pour les développeurs de la salle, enchaîner sur la minimisation et la traçabilité des jeux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après la question des données prises, celle des regards posés.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la détection des émotions à l'école et au travail : c'est l'interdiction qui parle le plus directement à cette salle, étudiants comme salariés.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n'est pas l'anecdote italienne mais le mécanisme : la loi protège, le décret d'application peut détricoter. D'où l'utilité d'un FGI et d'une société civile organisée.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ici que les trois axes de la rencontre se rejoignent : vie privée, liberté d'expression, accès à l'information. Le dire explicitement.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jusqu'ici, le constat. Maintenant, les solutions — et elles existent déjà.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les trois analogies avant les définitions techniques si la salle décroche. Elles suffisent à faire passer l'idée.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sortir un téléphone et montrer les suggestions du clavier. C'est le moment le plus concret de la séance.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mot « bruit » est contre-intuitif : préciser qu'on ajoute volontairement de l'imprécision pour protéger, et que la statistique globale reste juste.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Poser les trois questions sans y répondre : elles servent de passerelle vers le débat, et vers le rôle du FGI Bénin. Devant des hébergeurs ou des institutions, s'y attarder davantage.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Distribuer les rôles au hasard : un participant qui défend la police municipale comprend mieux le dilemme qu'un participant à qui l'on donne raison d'avance. Tenir le temps strictement.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répéter les trois phrases. Ce sont elles qui doivent rester si la salle oublie tout le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(4 min). Terminer sur l'invitation à rejoindre les activités du FGI Bénin et d'ISOC Bénin. Laisser la place aux questions si le temps le permet.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référence, à imprimer et distribuer aux enseignants plutôt qu'à projeter longuement.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35"/>
        </a:solidFill>
      </p:bgPr>
    </p:bg>
    <p:spTree>
      <p:nvGrpSpPr>
        <p:cNvPr id="1" name=""/>
        <p:cNvGrpSpPr/>
        <p:nvPr/>
      </p:nvGrpSpPr>
      <p:grpSpPr>
        <a:xfrm>
          <a:off x="0" y="0"/>
          <a:ext cx="0" cy="0"/>
          <a:chOff x="0" y="0"/>
          <a:chExt cx="0" cy="0"/>
        </a:xfrm>
      </p:grpSpPr>
      <p:sp>
        <p:nvSpPr>
          <p:cNvPr id="2" name="Shape 0"/>
          <p:cNvSpPr/>
          <p:nvPr/>
        </p:nvSpPr>
        <p:spPr>
          <a:xfrm>
            <a:off x="9052560" y="3657600"/>
            <a:ext cx="4754880" cy="4754880"/>
          </a:xfrm>
          <a:prstGeom prst="ellipse">
            <a:avLst/>
          </a:prstGeom>
          <a:solidFill>
            <a:srgbClr val="0B5D50">
              <a:alpha val="45000"/>
            </a:srgbClr>
          </a:solidFill>
          <a:ln/>
        </p:spPr>
      </p:sp>
      <p:sp>
        <p:nvSpPr>
          <p:cNvPr id="3" name="Shape 1"/>
          <p:cNvSpPr/>
          <p:nvPr/>
        </p:nvSpPr>
        <p:spPr>
          <a:xfrm>
            <a:off x="10332720" y="4937760"/>
            <a:ext cx="2194560" cy="2194560"/>
          </a:xfrm>
          <a:prstGeom prst="ellipse">
            <a:avLst/>
          </a:prstGeom>
          <a:solidFill>
            <a:srgbClr val="D9A521">
              <a:alpha val="28000"/>
            </a:srgbClr>
          </a:solidFill>
          <a:ln/>
        </p:spPr>
      </p:sp>
      <p:sp>
        <p:nvSpPr>
          <p:cNvPr id="4" name="Text 2"/>
          <p:cNvSpPr txBox="1"/>
          <p:nvPr/>
        </p:nvSpPr>
        <p:spPr>
          <a:xfrm>
            <a:off x="566928" y="658368"/>
            <a:ext cx="9144000" cy="274320"/>
          </a:xfrm>
          <a:prstGeom prst="rect">
            <a:avLst/>
          </a:prstGeom>
          <a:noFill/>
          <a:ln/>
        </p:spPr>
        <p:txBody>
          <a:bodyPr wrap="square" lIns="0" tIns="0" rIns="0" bIns="0" rtlCol="0" anchor="ctr"/>
          <a:lstStyle/>
          <a:p>
            <a:pPr indent="0" marL="0">
              <a:buNone/>
            </a:pPr>
            <a:r>
              <a:rPr lang="en-US" sz="1000" b="1" spc="200" kern="0" dirty="0">
                <a:solidFill>
                  <a:srgbClr val="9FBFB5"/>
                </a:solidFill>
                <a:latin typeface="Courier New" pitchFamily="34" charset="0"/>
                <a:ea typeface="Courier New" pitchFamily="34" charset="-122"/>
                <a:cs typeface="Courier New" pitchFamily="34" charset="-120"/>
              </a:rPr>
              <a:t>FGI BÉNIN × ISOC BÉNIN · GOUVERNANCE DE L'INTERNET</a:t>
            </a:r>
            <a:endParaRPr lang="en-US" sz="1000" dirty="0"/>
          </a:p>
        </p:txBody>
      </p:sp>
      <p:sp>
        <p:nvSpPr>
          <p:cNvPr id="5" name="Text 3"/>
          <p:cNvSpPr txBox="1"/>
          <p:nvPr/>
        </p:nvSpPr>
        <p:spPr>
          <a:xfrm>
            <a:off x="566928" y="1417320"/>
            <a:ext cx="5486400" cy="310896"/>
          </a:xfrm>
          <a:prstGeom prst="rect">
            <a:avLst/>
          </a:prstGeom>
          <a:noFill/>
          <a:ln/>
        </p:spPr>
        <p:txBody>
          <a:bodyPr wrap="square" lIns="0" tIns="0" rIns="0" bIns="0" rtlCol="0" anchor="ctr"/>
          <a:lstStyle/>
          <a:p>
            <a:pPr indent="0" marL="0">
              <a:buNone/>
            </a:pPr>
            <a:r>
              <a:rPr lang="en-US" sz="1300" b="1" spc="300" kern="0" dirty="0">
                <a:solidFill>
                  <a:srgbClr val="D9A521"/>
                </a:solidFill>
                <a:latin typeface="Courier New" pitchFamily="34" charset="0"/>
                <a:ea typeface="Courier New" pitchFamily="34" charset="-122"/>
                <a:cs typeface="Courier New" pitchFamily="34" charset="-120"/>
              </a:rPr>
              <a:t>COMMUNICATION 01</a:t>
            </a:r>
            <a:endParaRPr lang="en-US" sz="1300" dirty="0"/>
          </a:p>
        </p:txBody>
      </p:sp>
      <p:sp>
        <p:nvSpPr>
          <p:cNvPr id="6" name="Text 4"/>
          <p:cNvSpPr txBox="1"/>
          <p:nvPr/>
        </p:nvSpPr>
        <p:spPr>
          <a:xfrm>
            <a:off x="566928" y="1874520"/>
            <a:ext cx="8778240" cy="1828800"/>
          </a:xfrm>
          <a:prstGeom prst="rect">
            <a:avLst/>
          </a:prstGeom>
          <a:noFill/>
          <a:ln/>
        </p:spPr>
        <p:txBody>
          <a:bodyPr wrap="square" lIns="0" tIns="0" rIns="0" bIns="0" rtlCol="0" anchor="t"/>
          <a:lstStyle/>
          <a:p>
            <a:pPr indent="0" marL="0">
              <a:lnSpc>
                <a:spcPts val="5200"/>
              </a:lnSpc>
              <a:buNone/>
            </a:pPr>
            <a:r>
              <a:rPr lang="en-US" sz="5000" b="1" dirty="0">
                <a:solidFill>
                  <a:srgbClr val="FFFFFF"/>
                </a:solidFill>
                <a:latin typeface="Cambria" pitchFamily="34" charset="0"/>
                <a:ea typeface="Cambria" pitchFamily="34" charset="-122"/>
                <a:cs typeface="Cambria" pitchFamily="34" charset="-120"/>
              </a:rPr>
              <a:t>Nos données,</a:t>
            </a:r>
            <a:endParaRPr lang="en-US" sz="5000" dirty="0"/>
          </a:p>
          <a:p>
            <a:pPr indent="0" marL="0">
              <a:lnSpc>
                <a:spcPts val="5200"/>
              </a:lnSpc>
              <a:buNone/>
            </a:pPr>
            <a:r>
              <a:rPr lang="en-US" sz="5000" b="1" dirty="0">
                <a:solidFill>
                  <a:srgbClr val="D9A521"/>
                </a:solidFill>
                <a:latin typeface="Cambria" pitchFamily="34" charset="0"/>
                <a:ea typeface="Cambria" pitchFamily="34" charset="-122"/>
                <a:cs typeface="Cambria" pitchFamily="34" charset="-120"/>
              </a:rPr>
              <a:t>notre souveraineté</a:t>
            </a:r>
            <a:endParaRPr lang="en-US" sz="5000" dirty="0"/>
          </a:p>
        </p:txBody>
      </p:sp>
      <p:sp>
        <p:nvSpPr>
          <p:cNvPr id="7" name="Text 5"/>
          <p:cNvSpPr txBox="1"/>
          <p:nvPr/>
        </p:nvSpPr>
        <p:spPr>
          <a:xfrm>
            <a:off x="566928" y="3886200"/>
            <a:ext cx="7863840" cy="640080"/>
          </a:xfrm>
          <a:prstGeom prst="rect">
            <a:avLst/>
          </a:prstGeom>
          <a:noFill/>
          <a:ln/>
        </p:spPr>
        <p:txBody>
          <a:bodyPr wrap="square" lIns="0" tIns="0" rIns="0" bIns="0" rtlCol="0" anchor="t"/>
          <a:lstStyle/>
          <a:p>
            <a:pPr indent="0" marL="0">
              <a:buNone/>
            </a:pPr>
            <a:r>
              <a:rPr lang="en-US" sz="1600" dirty="0">
                <a:solidFill>
                  <a:srgbClr val="9FBFB5"/>
                </a:solidFill>
                <a:latin typeface="Calibri" pitchFamily="34" charset="0"/>
                <a:ea typeface="Calibri" pitchFamily="34" charset="-122"/>
                <a:cs typeface="Calibri" pitchFamily="34" charset="-120"/>
              </a:rPr>
              <a:t>Protection de la vie privée et souveraineté des données à l'ère de l'intelligence artificielle</a:t>
            </a:r>
            <a:endParaRPr lang="en-US" sz="1600" dirty="0"/>
          </a:p>
        </p:txBody>
      </p:sp>
      <p:sp>
        <p:nvSpPr>
          <p:cNvPr id="8" name="Text 6"/>
          <p:cNvSpPr txBox="1"/>
          <p:nvPr/>
        </p:nvSpPr>
        <p:spPr>
          <a:xfrm>
            <a:off x="566928" y="5120640"/>
            <a:ext cx="3657600" cy="237744"/>
          </a:xfrm>
          <a:prstGeom prst="rect">
            <a:avLst/>
          </a:prstGeom>
          <a:noFill/>
          <a:ln/>
        </p:spPr>
        <p:txBody>
          <a:bodyPr wrap="square" lIns="0" tIns="0" rIns="0" bIns="0" rtlCol="0" anchor="ctr"/>
          <a:lstStyle/>
          <a:p>
            <a:pPr indent="0" marL="0">
              <a:buNone/>
            </a:pPr>
            <a:r>
              <a:rPr lang="en-US" sz="900" b="1" spc="200" kern="0" dirty="0">
                <a:solidFill>
                  <a:srgbClr val="D9A521"/>
                </a:solidFill>
                <a:latin typeface="Courier New" pitchFamily="34" charset="0"/>
                <a:ea typeface="Courier New" pitchFamily="34" charset="-122"/>
                <a:cs typeface="Courier New" pitchFamily="34" charset="-120"/>
              </a:rPr>
              <a:t>PRÉSENTÉ PAR</a:t>
            </a:r>
            <a:endParaRPr lang="en-US" sz="900" dirty="0"/>
          </a:p>
        </p:txBody>
      </p:sp>
      <p:sp>
        <p:nvSpPr>
          <p:cNvPr id="9" name="Text 7"/>
          <p:cNvSpPr txBox="1"/>
          <p:nvPr/>
        </p:nvSpPr>
        <p:spPr>
          <a:xfrm>
            <a:off x="566928" y="5376672"/>
            <a:ext cx="4937760" cy="36576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Mahuvivi Turibio KEKE</a:t>
            </a:r>
            <a:endParaRPr lang="en-US" sz="1900" dirty="0"/>
          </a:p>
        </p:txBody>
      </p:sp>
      <p:sp>
        <p:nvSpPr>
          <p:cNvPr id="10" name="Text 8"/>
          <p:cNvSpPr txBox="1"/>
          <p:nvPr/>
        </p:nvSpPr>
        <p:spPr>
          <a:xfrm>
            <a:off x="566928" y="5870448"/>
            <a:ext cx="8778240" cy="274320"/>
          </a:xfrm>
          <a:prstGeom prst="rect">
            <a:avLst/>
          </a:prstGeom>
          <a:noFill/>
          <a:ln/>
        </p:spPr>
        <p:txBody>
          <a:bodyPr wrap="square" lIns="0" tIns="0" rIns="0" bIns="0" rtlCol="0" anchor="ctr"/>
          <a:lstStyle/>
          <a:p>
            <a:pPr indent="0" marL="0">
              <a:buNone/>
            </a:pPr>
            <a:r>
              <a:rPr lang="en-US" sz="1150" dirty="0">
                <a:solidFill>
                  <a:srgbClr val="9FBFB5"/>
                </a:solidFill>
                <a:latin typeface="Calibri" pitchFamily="34" charset="0"/>
                <a:ea typeface="Calibri" pitchFamily="34" charset="-122"/>
                <a:cs typeface="Calibri" pitchFamily="34" charset="-120"/>
              </a:rPr>
              <a:t>Étudiants, professionnels, enseignants et acteurs de l’écosystème tech du Bénin · 60 min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FICHE TECHNIQUE</a:t>
            </a:r>
            <a:endParaRPr lang="en-US" sz="950" dirty="0"/>
          </a:p>
        </p:txBody>
      </p:sp>
      <p:sp>
        <p:nvSpPr>
          <p:cNvPr id="3" name="Text 1"/>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200" b="1" dirty="0">
                <a:solidFill>
                  <a:srgbClr val="12211D"/>
                </a:solidFill>
                <a:latin typeface="Cambria" pitchFamily="34" charset="0"/>
                <a:ea typeface="Cambria" pitchFamily="34" charset="-122"/>
                <a:cs typeface="Cambria" pitchFamily="34" charset="-120"/>
              </a:rPr>
              <a:t>Objectif de la communication</a:t>
            </a:r>
            <a:endParaRPr lang="en-US" sz="3200" dirty="0"/>
          </a:p>
        </p:txBody>
      </p:sp>
      <p:sp>
        <p:nvSpPr>
          <p:cNvPr id="4" name="Text 2"/>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5" name="Text 3"/>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2</a:t>
            </a:r>
            <a:endParaRPr lang="en-US" sz="800" dirty="0"/>
          </a:p>
        </p:txBody>
      </p:sp>
      <p:sp>
        <p:nvSpPr>
          <p:cNvPr id="6" name="Shape 4"/>
          <p:cNvSpPr/>
          <p:nvPr/>
        </p:nvSpPr>
        <p:spPr>
          <a:xfrm>
            <a:off x="566928" y="1572768"/>
            <a:ext cx="11027664" cy="1298448"/>
          </a:xfrm>
          <a:prstGeom prst="roundRect">
            <a:avLst>
              <a:gd name="adj" fmla="val 4930"/>
            </a:avLst>
          </a:prstGeom>
          <a:solidFill>
            <a:srgbClr val="E3EEE9"/>
          </a:solidFill>
          <a:ln/>
        </p:spPr>
      </p:sp>
      <p:sp>
        <p:nvSpPr>
          <p:cNvPr id="7" name="Text 5"/>
          <p:cNvSpPr txBox="1"/>
          <p:nvPr/>
        </p:nvSpPr>
        <p:spPr>
          <a:xfrm>
            <a:off x="841248" y="1737360"/>
            <a:ext cx="4572000" cy="219456"/>
          </a:xfrm>
          <a:prstGeom prst="rect">
            <a:avLst/>
          </a:prstGeom>
          <a:noFill/>
          <a:ln/>
        </p:spPr>
        <p:txBody>
          <a:bodyPr wrap="square" lIns="0" tIns="0" rIns="0" bIns="0" rtlCol="0" anchor="ctr"/>
          <a:lstStyle/>
          <a:p>
            <a:pPr indent="0" marL="0">
              <a:buNone/>
            </a:pPr>
            <a:r>
              <a:rPr lang="en-US" sz="900" b="1" spc="200" kern="0" dirty="0">
                <a:solidFill>
                  <a:srgbClr val="0B5D50"/>
                </a:solidFill>
                <a:latin typeface="Courier New" pitchFamily="34" charset="0"/>
                <a:ea typeface="Courier New" pitchFamily="34" charset="-122"/>
                <a:cs typeface="Courier New" pitchFamily="34" charset="-120"/>
              </a:rPr>
              <a:t>OBJECTIF GÉNÉRAL</a:t>
            </a:r>
            <a:endParaRPr lang="en-US" sz="900" dirty="0"/>
          </a:p>
        </p:txBody>
      </p:sp>
      <p:sp>
        <p:nvSpPr>
          <p:cNvPr id="8" name="Text 6"/>
          <p:cNvSpPr txBox="1"/>
          <p:nvPr/>
        </p:nvSpPr>
        <p:spPr>
          <a:xfrm>
            <a:off x="841248" y="1975104"/>
            <a:ext cx="10479024" cy="841248"/>
          </a:xfrm>
          <a:prstGeom prst="rect">
            <a:avLst/>
          </a:prstGeom>
          <a:noFill/>
          <a:ln/>
        </p:spPr>
        <p:txBody>
          <a:bodyPr wrap="square" lIns="0" tIns="0" rIns="0" bIns="0" rtlCol="0" anchor="t"/>
          <a:lstStyle/>
          <a:p>
            <a:pPr indent="0" marL="0">
              <a:lnSpc>
                <a:spcPts val="1900"/>
              </a:lnSpc>
              <a:buNone/>
            </a:pPr>
            <a:r>
              <a:rPr lang="en-US" sz="1400" b="1" dirty="0">
                <a:solidFill>
                  <a:srgbClr val="12211D"/>
                </a:solidFill>
                <a:latin typeface="Cambria" pitchFamily="34" charset="0"/>
                <a:ea typeface="Cambria" pitchFamily="34" charset="-122"/>
                <a:cs typeface="Cambria" pitchFamily="34" charset="-120"/>
              </a:rPr>
              <a:t>Sensibiliser les acteurs de l'écosystème numérique béninois — étudiants, professionnels, enseignants — aux enjeux de la souveraineté des données, de la protection de la vie privée et de l'éthique de l'IA, afin d'en faire des acteurs responsables de l'Internet inclusif de demain.</a:t>
            </a:r>
            <a:endParaRPr lang="en-US" sz="1400" dirty="0"/>
          </a:p>
        </p:txBody>
      </p:sp>
      <p:sp>
        <p:nvSpPr>
          <p:cNvPr id="9" name="Shape 7"/>
          <p:cNvSpPr/>
          <p:nvPr/>
        </p:nvSpPr>
        <p:spPr>
          <a:xfrm>
            <a:off x="566928" y="3054096"/>
            <a:ext cx="5367528" cy="1371600"/>
          </a:xfrm>
          <a:prstGeom prst="roundRect">
            <a:avLst>
              <a:gd name="adj" fmla="val 4667"/>
            </a:avLst>
          </a:prstGeom>
          <a:solidFill>
            <a:srgbClr val="FFFFFF"/>
          </a:solidFill>
          <a:ln/>
          <a:effectLst>
            <a:outerShdw sx="100000" sy="100000" kx="0" ky="0" algn="bl" rotWithShape="0" blurRad="114300" dist="38100" dir="5400000">
              <a:srgbClr val="0B3D35">
                <a:alpha val="9000"/>
              </a:srgbClr>
            </a:outerShdw>
          </a:effectLst>
        </p:spPr>
      </p:sp>
      <p:sp>
        <p:nvSpPr>
          <p:cNvPr id="10" name="Text 8"/>
          <p:cNvSpPr txBox="1"/>
          <p:nvPr/>
        </p:nvSpPr>
        <p:spPr>
          <a:xfrm>
            <a:off x="822960" y="3255264"/>
            <a:ext cx="4855464" cy="219456"/>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COMPRENDRE</a:t>
            </a:r>
            <a:endParaRPr lang="en-US" sz="950" dirty="0"/>
          </a:p>
        </p:txBody>
      </p:sp>
      <p:sp>
        <p:nvSpPr>
          <p:cNvPr id="11" name="Text 9"/>
          <p:cNvSpPr txBox="1"/>
          <p:nvPr/>
        </p:nvSpPr>
        <p:spPr>
          <a:xfrm>
            <a:off x="822960" y="3557016"/>
            <a:ext cx="4855464" cy="749808"/>
          </a:xfrm>
          <a:prstGeom prst="rect">
            <a:avLst/>
          </a:prstGeom>
          <a:noFill/>
          <a:ln/>
        </p:spPr>
        <p:txBody>
          <a:bodyPr wrap="square" lIns="0" tIns="0" rIns="0" bIns="0" rtlCol="0" anchor="t"/>
          <a:lstStyle/>
          <a:p>
            <a:pPr indent="0" marL="0">
              <a:buNone/>
            </a:pPr>
            <a:r>
              <a:rPr lang="en-US" sz="1300" dirty="0">
                <a:solidFill>
                  <a:srgbClr val="5C6D64"/>
                </a:solidFill>
                <a:latin typeface="Calibri" pitchFamily="34" charset="0"/>
                <a:ea typeface="Calibri" pitchFamily="34" charset="-122"/>
                <a:cs typeface="Calibri" pitchFamily="34" charset="-120"/>
              </a:rPr>
              <a:t>D'où viennent les données qui entraînent une IA, et pourquoi « public sur Internet » ne veut pas dire « libre de droit ».</a:t>
            </a:r>
            <a:endParaRPr lang="en-US" sz="1300" dirty="0"/>
          </a:p>
        </p:txBody>
      </p:sp>
      <p:sp>
        <p:nvSpPr>
          <p:cNvPr id="12" name="Shape 10"/>
          <p:cNvSpPr/>
          <p:nvPr/>
        </p:nvSpPr>
        <p:spPr>
          <a:xfrm>
            <a:off x="6227064" y="3054096"/>
            <a:ext cx="5367528" cy="1371600"/>
          </a:xfrm>
          <a:prstGeom prst="roundRect">
            <a:avLst>
              <a:gd name="adj" fmla="val 4667"/>
            </a:avLst>
          </a:prstGeom>
          <a:solidFill>
            <a:srgbClr val="FFFFFF"/>
          </a:solidFill>
          <a:ln/>
          <a:effectLst>
            <a:outerShdw sx="100000" sy="100000" kx="0" ky="0" algn="bl" rotWithShape="0" blurRad="114300" dist="38100" dir="5400000">
              <a:srgbClr val="0B3D35">
                <a:alpha val="9000"/>
              </a:srgbClr>
            </a:outerShdw>
          </a:effectLst>
        </p:spPr>
      </p:sp>
      <p:sp>
        <p:nvSpPr>
          <p:cNvPr id="13" name="Text 11"/>
          <p:cNvSpPr txBox="1"/>
          <p:nvPr/>
        </p:nvSpPr>
        <p:spPr>
          <a:xfrm>
            <a:off x="6483096" y="3255264"/>
            <a:ext cx="4855464" cy="219456"/>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IDENTIFIER</a:t>
            </a:r>
            <a:endParaRPr lang="en-US" sz="950" dirty="0"/>
          </a:p>
        </p:txBody>
      </p:sp>
      <p:sp>
        <p:nvSpPr>
          <p:cNvPr id="14" name="Text 12"/>
          <p:cNvSpPr txBox="1"/>
          <p:nvPr/>
        </p:nvSpPr>
        <p:spPr>
          <a:xfrm>
            <a:off x="6483096" y="3557016"/>
            <a:ext cx="4855464" cy="749808"/>
          </a:xfrm>
          <a:prstGeom prst="rect">
            <a:avLst/>
          </a:prstGeom>
          <a:noFill/>
          <a:ln/>
        </p:spPr>
        <p:txBody>
          <a:bodyPr wrap="square" lIns="0" tIns="0" rIns="0" bIns="0" rtlCol="0" anchor="t"/>
          <a:lstStyle/>
          <a:p>
            <a:pPr indent="0" marL="0">
              <a:buNone/>
            </a:pPr>
            <a:r>
              <a:rPr lang="en-US" sz="1300" dirty="0">
                <a:solidFill>
                  <a:srgbClr val="5C6D64"/>
                </a:solidFill>
                <a:latin typeface="Calibri" pitchFamily="34" charset="0"/>
                <a:ea typeface="Calibri" pitchFamily="34" charset="-122"/>
                <a:cs typeface="Calibri" pitchFamily="34" charset="-120"/>
              </a:rPr>
              <a:t>Les dérives de la surveillance algorithmique : collecte biométrique invisible, notation sociale, détection d'émotions, profilage.</a:t>
            </a:r>
            <a:endParaRPr lang="en-US" sz="1300" dirty="0"/>
          </a:p>
        </p:txBody>
      </p:sp>
      <p:sp>
        <p:nvSpPr>
          <p:cNvPr id="15" name="Shape 13"/>
          <p:cNvSpPr/>
          <p:nvPr/>
        </p:nvSpPr>
        <p:spPr>
          <a:xfrm>
            <a:off x="566928" y="4663440"/>
            <a:ext cx="5367528" cy="1371600"/>
          </a:xfrm>
          <a:prstGeom prst="roundRect">
            <a:avLst>
              <a:gd name="adj" fmla="val 4667"/>
            </a:avLst>
          </a:prstGeom>
          <a:solidFill>
            <a:srgbClr val="FFFFFF"/>
          </a:solidFill>
          <a:ln/>
          <a:effectLst>
            <a:outerShdw sx="100000" sy="100000" kx="0" ky="0" algn="bl" rotWithShape="0" blurRad="114300" dist="38100" dir="5400000">
              <a:srgbClr val="0B3D35">
                <a:alpha val="9000"/>
              </a:srgbClr>
            </a:outerShdw>
          </a:effectLst>
        </p:spPr>
      </p:sp>
      <p:sp>
        <p:nvSpPr>
          <p:cNvPr id="16" name="Text 14"/>
          <p:cNvSpPr txBox="1"/>
          <p:nvPr/>
        </p:nvSpPr>
        <p:spPr>
          <a:xfrm>
            <a:off x="822960" y="4864608"/>
            <a:ext cx="4855464" cy="219456"/>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NOMMER</a:t>
            </a:r>
            <a:endParaRPr lang="en-US" sz="950" dirty="0"/>
          </a:p>
        </p:txBody>
      </p:sp>
      <p:sp>
        <p:nvSpPr>
          <p:cNvPr id="17" name="Text 15"/>
          <p:cNvSpPr txBox="1"/>
          <p:nvPr/>
        </p:nvSpPr>
        <p:spPr>
          <a:xfrm>
            <a:off x="822960" y="5166360"/>
            <a:ext cx="4855464" cy="749808"/>
          </a:xfrm>
          <a:prstGeom prst="rect">
            <a:avLst/>
          </a:prstGeom>
          <a:noFill/>
          <a:ln/>
        </p:spPr>
        <p:txBody>
          <a:bodyPr wrap="square" lIns="0" tIns="0" rIns="0" bIns="0" rtlCol="0" anchor="t"/>
          <a:lstStyle/>
          <a:p>
            <a:pPr indent="0" marL="0">
              <a:buNone/>
            </a:pPr>
            <a:r>
              <a:rPr lang="en-US" sz="1300" dirty="0">
                <a:solidFill>
                  <a:srgbClr val="5C6D64"/>
                </a:solidFill>
                <a:latin typeface="Calibri" pitchFamily="34" charset="0"/>
                <a:ea typeface="Calibri" pitchFamily="34" charset="-122"/>
                <a:cs typeface="Calibri" pitchFamily="34" charset="-120"/>
              </a:rPr>
              <a:t>Trois approches de Privacy by Design : apprentissage fédéré, confidentialité différentielle, traitement local.</a:t>
            </a:r>
            <a:endParaRPr lang="en-US" sz="1300" dirty="0"/>
          </a:p>
        </p:txBody>
      </p:sp>
      <p:sp>
        <p:nvSpPr>
          <p:cNvPr id="18" name="Shape 16"/>
          <p:cNvSpPr/>
          <p:nvPr/>
        </p:nvSpPr>
        <p:spPr>
          <a:xfrm>
            <a:off x="6227064" y="4663440"/>
            <a:ext cx="5367528" cy="1371600"/>
          </a:xfrm>
          <a:prstGeom prst="roundRect">
            <a:avLst>
              <a:gd name="adj" fmla="val 4667"/>
            </a:avLst>
          </a:prstGeom>
          <a:solidFill>
            <a:srgbClr val="FFFFFF"/>
          </a:solidFill>
          <a:ln/>
          <a:effectLst>
            <a:outerShdw sx="100000" sy="100000" kx="0" ky="0" algn="bl" rotWithShape="0" blurRad="114300" dist="38100" dir="5400000">
              <a:srgbClr val="0B3D35">
                <a:alpha val="9000"/>
              </a:srgbClr>
            </a:outerShdw>
          </a:effectLst>
        </p:spPr>
      </p:sp>
      <p:sp>
        <p:nvSpPr>
          <p:cNvPr id="19" name="Text 17"/>
          <p:cNvSpPr txBox="1"/>
          <p:nvPr/>
        </p:nvSpPr>
        <p:spPr>
          <a:xfrm>
            <a:off x="6483096" y="4864608"/>
            <a:ext cx="4855464" cy="219456"/>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AGIR</a:t>
            </a:r>
            <a:endParaRPr lang="en-US" sz="950" dirty="0"/>
          </a:p>
        </p:txBody>
      </p:sp>
      <p:sp>
        <p:nvSpPr>
          <p:cNvPr id="20" name="Text 18"/>
          <p:cNvSpPr txBox="1"/>
          <p:nvPr/>
        </p:nvSpPr>
        <p:spPr>
          <a:xfrm>
            <a:off x="6483096" y="5166360"/>
            <a:ext cx="4855464" cy="749808"/>
          </a:xfrm>
          <a:prstGeom prst="rect">
            <a:avLst/>
          </a:prstGeom>
          <a:noFill/>
          <a:ln/>
        </p:spPr>
        <p:txBody>
          <a:bodyPr wrap="square" lIns="0" tIns="0" rIns="0" bIns="0" rtlCol="0" anchor="t"/>
          <a:lstStyle/>
          <a:p>
            <a:pPr indent="0" marL="0">
              <a:buNone/>
            </a:pPr>
            <a:r>
              <a:rPr lang="en-US" sz="1300" dirty="0">
                <a:solidFill>
                  <a:srgbClr val="5C6D64"/>
                </a:solidFill>
                <a:latin typeface="Calibri" pitchFamily="34" charset="0"/>
                <a:ea typeface="Calibri" pitchFamily="34" charset="-122"/>
                <a:cs typeface="Calibri" pitchFamily="34" charset="-120"/>
              </a:rPr>
              <a:t>Argumenter en débat et repartir avec un geste concret : un réglage, une clause d'achat, un choix d'architecture.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PROGRAMME</a:t>
            </a:r>
            <a:endParaRPr lang="en-US" sz="950" dirty="0"/>
          </a:p>
        </p:txBody>
      </p:sp>
      <p:sp>
        <p:nvSpPr>
          <p:cNvPr id="3" name="Text 1"/>
          <p:cNvSpPr txBox="1"/>
          <p:nvPr/>
        </p:nvSpPr>
        <p:spPr>
          <a:xfrm>
            <a:off x="9765792" y="402336"/>
            <a:ext cx="1828800" cy="237744"/>
          </a:xfrm>
          <a:prstGeom prst="rect">
            <a:avLst/>
          </a:prstGeom>
          <a:noFill/>
          <a:ln/>
        </p:spPr>
        <p:txBody>
          <a:bodyPr wrap="square" lIns="0" tIns="0" rIns="0" bIns="0" rtlCol="0" anchor="ctr"/>
          <a:lstStyle/>
          <a:p>
            <a:pPr algn="r" indent="0" marL="0">
              <a:buNone/>
            </a:pPr>
            <a:r>
              <a:rPr lang="en-US" sz="950" b="1" dirty="0">
                <a:solidFill>
                  <a:srgbClr val="8A9A91"/>
                </a:solidFill>
                <a:latin typeface="Courier New" pitchFamily="34" charset="0"/>
                <a:ea typeface="Courier New" pitchFamily="34" charset="-122"/>
                <a:cs typeface="Courier New" pitchFamily="34" charset="-120"/>
              </a:rPr>
              <a:t>60 MIN</a:t>
            </a:r>
            <a:endParaRPr lang="en-US" sz="950" dirty="0"/>
          </a:p>
        </p:txBody>
      </p:sp>
      <p:sp>
        <p:nvSpPr>
          <p:cNvPr id="4" name="Text 2"/>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200" b="1" dirty="0">
                <a:solidFill>
                  <a:srgbClr val="12211D"/>
                </a:solidFill>
                <a:latin typeface="Cambria" pitchFamily="34" charset="0"/>
                <a:ea typeface="Cambria" pitchFamily="34" charset="-122"/>
                <a:cs typeface="Cambria" pitchFamily="34" charset="-120"/>
              </a:rPr>
              <a:t>Déroulé de la séance</a:t>
            </a:r>
            <a:endParaRPr lang="en-US" sz="3200" dirty="0"/>
          </a:p>
        </p:txBody>
      </p:sp>
      <p:sp>
        <p:nvSpPr>
          <p:cNvPr id="5" name="Text 3"/>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6" name="Text 4"/>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3</a:t>
            </a:r>
            <a:endParaRPr lang="en-US" sz="800" dirty="0"/>
          </a:p>
        </p:txBody>
      </p:sp>
      <p:sp>
        <p:nvSpPr>
          <p:cNvPr id="7" name="Shape 5"/>
          <p:cNvSpPr/>
          <p:nvPr/>
        </p:nvSpPr>
        <p:spPr>
          <a:xfrm>
            <a:off x="566928" y="1627632"/>
            <a:ext cx="11027664" cy="566928"/>
          </a:xfrm>
          <a:prstGeom prst="roundRect">
            <a:avLst>
              <a:gd name="adj" fmla="val 11290"/>
            </a:avLst>
          </a:prstGeom>
          <a:solidFill>
            <a:srgbClr val="FFFFFF"/>
          </a:solidFill>
          <a:ln/>
        </p:spPr>
      </p:sp>
      <p:sp>
        <p:nvSpPr>
          <p:cNvPr id="8" name="Text 6"/>
          <p:cNvSpPr txBox="1"/>
          <p:nvPr/>
        </p:nvSpPr>
        <p:spPr>
          <a:xfrm>
            <a:off x="804672" y="1627632"/>
            <a:ext cx="1051560" cy="566928"/>
          </a:xfrm>
          <a:prstGeom prst="rect">
            <a:avLst/>
          </a:prstGeom>
          <a:noFill/>
          <a:ln/>
        </p:spPr>
        <p:txBody>
          <a:bodyPr wrap="square" lIns="0" tIns="0" rIns="0" bIns="0" rtlCol="0" anchor="ctr"/>
          <a:lstStyle/>
          <a:p>
            <a:pPr indent="0" marL="0">
              <a:buNone/>
            </a:pPr>
            <a:r>
              <a:rPr lang="en-US" sz="1250" b="1" dirty="0">
                <a:solidFill>
                  <a:srgbClr val="0B5D50"/>
                </a:solidFill>
                <a:latin typeface="Courier New" pitchFamily="34" charset="0"/>
                <a:ea typeface="Courier New" pitchFamily="34" charset="-122"/>
                <a:cs typeface="Courier New" pitchFamily="34" charset="-120"/>
              </a:rPr>
              <a:t>00–05</a:t>
            </a:r>
            <a:endParaRPr lang="en-US" sz="1250" dirty="0"/>
          </a:p>
        </p:txBody>
      </p:sp>
      <p:sp>
        <p:nvSpPr>
          <p:cNvPr id="9" name="Text 7"/>
          <p:cNvSpPr txBox="1"/>
          <p:nvPr/>
        </p:nvSpPr>
        <p:spPr>
          <a:xfrm>
            <a:off x="1984248" y="1627632"/>
            <a:ext cx="4663440" cy="566928"/>
          </a:xfrm>
          <a:prstGeom prst="rect">
            <a:avLst/>
          </a:prstGeom>
          <a:noFill/>
          <a:ln/>
        </p:spPr>
        <p:txBody>
          <a:bodyPr wrap="square" lIns="0" tIns="0" rIns="0" bIns="0" rtlCol="0" anchor="ctr"/>
          <a:lstStyle/>
          <a:p>
            <a:pPr indent="0" marL="0">
              <a:buNone/>
            </a:pPr>
            <a:r>
              <a:rPr lang="en-US" sz="1350" b="1" dirty="0">
                <a:solidFill>
                  <a:srgbClr val="12211D"/>
                </a:solidFill>
                <a:latin typeface="Calibri" pitchFamily="34" charset="0"/>
                <a:ea typeface="Calibri" pitchFamily="34" charset="-122"/>
                <a:cs typeface="Calibri" pitchFamily="34" charset="-120"/>
              </a:rPr>
              <a:t>Ouverture</a:t>
            </a:r>
            <a:endParaRPr lang="en-US" sz="1350" dirty="0"/>
          </a:p>
        </p:txBody>
      </p:sp>
      <p:sp>
        <p:nvSpPr>
          <p:cNvPr id="10" name="Text 8"/>
          <p:cNvSpPr txBox="1"/>
          <p:nvPr/>
        </p:nvSpPr>
        <p:spPr>
          <a:xfrm>
            <a:off x="6784848" y="1627632"/>
            <a:ext cx="4535424" cy="566928"/>
          </a:xfrm>
          <a:prstGeom prst="rect">
            <a:avLst/>
          </a:prstGeom>
          <a:noFill/>
          <a:ln/>
        </p:spPr>
        <p:txBody>
          <a:bodyPr wrap="square" lIns="0" tIns="0" rIns="0" bIns="0" rtlCol="0" anchor="ctr"/>
          <a:lstStyle/>
          <a:p>
            <a:pPr indent="0" marL="0">
              <a:buNone/>
            </a:pPr>
            <a:r>
              <a:rPr lang="en-US" sz="1250" dirty="0">
                <a:solidFill>
                  <a:srgbClr val="5C6D64"/>
                </a:solidFill>
                <a:latin typeface="Calibri" pitchFamily="34" charset="0"/>
                <a:ea typeface="Calibri" pitchFamily="34" charset="-122"/>
                <a:cs typeface="Calibri" pitchFamily="34" charset="-120"/>
              </a:rPr>
              <a:t>Discours d'accroche et question ouverte à la salle</a:t>
            </a:r>
            <a:endParaRPr lang="en-US" sz="1250" dirty="0"/>
          </a:p>
        </p:txBody>
      </p:sp>
      <p:sp>
        <p:nvSpPr>
          <p:cNvPr id="11" name="Shape 9"/>
          <p:cNvSpPr/>
          <p:nvPr/>
        </p:nvSpPr>
        <p:spPr>
          <a:xfrm>
            <a:off x="566928" y="2286000"/>
            <a:ext cx="11027664" cy="566928"/>
          </a:xfrm>
          <a:prstGeom prst="roundRect">
            <a:avLst>
              <a:gd name="adj" fmla="val 11290"/>
            </a:avLst>
          </a:prstGeom>
          <a:solidFill>
            <a:srgbClr val="FFFFFF"/>
          </a:solidFill>
          <a:ln/>
        </p:spPr>
      </p:sp>
      <p:sp>
        <p:nvSpPr>
          <p:cNvPr id="12" name="Text 10"/>
          <p:cNvSpPr txBox="1"/>
          <p:nvPr/>
        </p:nvSpPr>
        <p:spPr>
          <a:xfrm>
            <a:off x="804672" y="2286000"/>
            <a:ext cx="1051560" cy="566928"/>
          </a:xfrm>
          <a:prstGeom prst="rect">
            <a:avLst/>
          </a:prstGeom>
          <a:noFill/>
          <a:ln/>
        </p:spPr>
        <p:txBody>
          <a:bodyPr wrap="square" lIns="0" tIns="0" rIns="0" bIns="0" rtlCol="0" anchor="ctr"/>
          <a:lstStyle/>
          <a:p>
            <a:pPr indent="0" marL="0">
              <a:buNone/>
            </a:pPr>
            <a:r>
              <a:rPr lang="en-US" sz="1250" b="1" dirty="0">
                <a:solidFill>
                  <a:srgbClr val="0B5D50"/>
                </a:solidFill>
                <a:latin typeface="Courier New" pitchFamily="34" charset="0"/>
                <a:ea typeface="Courier New" pitchFamily="34" charset="-122"/>
                <a:cs typeface="Courier New" pitchFamily="34" charset="-120"/>
              </a:rPr>
              <a:t>05–17</a:t>
            </a:r>
            <a:endParaRPr lang="en-US" sz="1250" dirty="0"/>
          </a:p>
        </p:txBody>
      </p:sp>
      <p:sp>
        <p:nvSpPr>
          <p:cNvPr id="13" name="Text 11"/>
          <p:cNvSpPr txBox="1"/>
          <p:nvPr/>
        </p:nvSpPr>
        <p:spPr>
          <a:xfrm>
            <a:off x="1984248" y="2286000"/>
            <a:ext cx="4663440" cy="566928"/>
          </a:xfrm>
          <a:prstGeom prst="rect">
            <a:avLst/>
          </a:prstGeom>
          <a:noFill/>
          <a:ln/>
        </p:spPr>
        <p:txBody>
          <a:bodyPr wrap="square" lIns="0" tIns="0" rIns="0" bIns="0" rtlCol="0" anchor="ctr"/>
          <a:lstStyle/>
          <a:p>
            <a:pPr indent="0" marL="0">
              <a:buNone/>
            </a:pPr>
            <a:r>
              <a:rPr lang="en-US" sz="1350" b="1" dirty="0">
                <a:solidFill>
                  <a:srgbClr val="12211D"/>
                </a:solidFill>
                <a:latin typeface="Calibri" pitchFamily="34" charset="0"/>
                <a:ea typeface="Calibri" pitchFamily="34" charset="-122"/>
                <a:cs typeface="Calibri" pitchFamily="34" charset="-120"/>
              </a:rPr>
              <a:t>Module 1 · Aspiration massive des données</a:t>
            </a:r>
            <a:endParaRPr lang="en-US" sz="1350" dirty="0"/>
          </a:p>
        </p:txBody>
      </p:sp>
      <p:sp>
        <p:nvSpPr>
          <p:cNvPr id="14" name="Text 12"/>
          <p:cNvSpPr txBox="1"/>
          <p:nvPr/>
        </p:nvSpPr>
        <p:spPr>
          <a:xfrm>
            <a:off x="6784848" y="2286000"/>
            <a:ext cx="4535424" cy="566928"/>
          </a:xfrm>
          <a:prstGeom prst="rect">
            <a:avLst/>
          </a:prstGeom>
          <a:noFill/>
          <a:ln/>
        </p:spPr>
        <p:txBody>
          <a:bodyPr wrap="square" lIns="0" tIns="0" rIns="0" bIns="0" rtlCol="0" anchor="ctr"/>
          <a:lstStyle/>
          <a:p>
            <a:pPr indent="0" marL="0">
              <a:buNone/>
            </a:pPr>
            <a:r>
              <a:rPr lang="en-US" sz="1250" dirty="0">
                <a:solidFill>
                  <a:srgbClr val="5C6D64"/>
                </a:solidFill>
                <a:latin typeface="Calibri" pitchFamily="34" charset="0"/>
                <a:ea typeface="Calibri" pitchFamily="34" charset="-122"/>
                <a:cs typeface="Calibri" pitchFamily="34" charset="-120"/>
              </a:rPr>
              <a:t>Scraping, consentement et cadre juridique</a:t>
            </a:r>
            <a:endParaRPr lang="en-US" sz="1250" dirty="0"/>
          </a:p>
        </p:txBody>
      </p:sp>
      <p:sp>
        <p:nvSpPr>
          <p:cNvPr id="15" name="Shape 13"/>
          <p:cNvSpPr/>
          <p:nvPr/>
        </p:nvSpPr>
        <p:spPr>
          <a:xfrm>
            <a:off x="566928" y="2944368"/>
            <a:ext cx="11027664" cy="566928"/>
          </a:xfrm>
          <a:prstGeom prst="roundRect">
            <a:avLst>
              <a:gd name="adj" fmla="val 11290"/>
            </a:avLst>
          </a:prstGeom>
          <a:solidFill>
            <a:srgbClr val="FFFFFF"/>
          </a:solidFill>
          <a:ln/>
        </p:spPr>
      </p:sp>
      <p:sp>
        <p:nvSpPr>
          <p:cNvPr id="16" name="Text 14"/>
          <p:cNvSpPr txBox="1"/>
          <p:nvPr/>
        </p:nvSpPr>
        <p:spPr>
          <a:xfrm>
            <a:off x="804672" y="2944368"/>
            <a:ext cx="1051560" cy="566928"/>
          </a:xfrm>
          <a:prstGeom prst="rect">
            <a:avLst/>
          </a:prstGeom>
          <a:noFill/>
          <a:ln/>
        </p:spPr>
        <p:txBody>
          <a:bodyPr wrap="square" lIns="0" tIns="0" rIns="0" bIns="0" rtlCol="0" anchor="ctr"/>
          <a:lstStyle/>
          <a:p>
            <a:pPr indent="0" marL="0">
              <a:buNone/>
            </a:pPr>
            <a:r>
              <a:rPr lang="en-US" sz="1250" b="1" dirty="0">
                <a:solidFill>
                  <a:srgbClr val="0B5D50"/>
                </a:solidFill>
                <a:latin typeface="Courier New" pitchFamily="34" charset="0"/>
                <a:ea typeface="Courier New" pitchFamily="34" charset="-122"/>
                <a:cs typeface="Courier New" pitchFamily="34" charset="-120"/>
              </a:rPr>
              <a:t>17–30</a:t>
            </a:r>
            <a:endParaRPr lang="en-US" sz="1250" dirty="0"/>
          </a:p>
        </p:txBody>
      </p:sp>
      <p:sp>
        <p:nvSpPr>
          <p:cNvPr id="17" name="Text 15"/>
          <p:cNvSpPr txBox="1"/>
          <p:nvPr/>
        </p:nvSpPr>
        <p:spPr>
          <a:xfrm>
            <a:off x="1984248" y="2944368"/>
            <a:ext cx="4663440" cy="566928"/>
          </a:xfrm>
          <a:prstGeom prst="rect">
            <a:avLst/>
          </a:prstGeom>
          <a:noFill/>
          <a:ln/>
        </p:spPr>
        <p:txBody>
          <a:bodyPr wrap="square" lIns="0" tIns="0" rIns="0" bIns="0" rtlCol="0" anchor="ctr"/>
          <a:lstStyle/>
          <a:p>
            <a:pPr indent="0" marL="0">
              <a:buNone/>
            </a:pPr>
            <a:r>
              <a:rPr lang="en-US" sz="1350" b="1" dirty="0">
                <a:solidFill>
                  <a:srgbClr val="12211D"/>
                </a:solidFill>
                <a:latin typeface="Calibri" pitchFamily="34" charset="0"/>
                <a:ea typeface="Calibri" pitchFamily="34" charset="-122"/>
                <a:cs typeface="Calibri" pitchFamily="34" charset="-120"/>
              </a:rPr>
              <a:t>Module 2 · Surveillance algorithmique</a:t>
            </a:r>
            <a:endParaRPr lang="en-US" sz="1350" dirty="0"/>
          </a:p>
        </p:txBody>
      </p:sp>
      <p:sp>
        <p:nvSpPr>
          <p:cNvPr id="18" name="Text 16"/>
          <p:cNvSpPr txBox="1"/>
          <p:nvPr/>
        </p:nvSpPr>
        <p:spPr>
          <a:xfrm>
            <a:off x="6784848" y="2944368"/>
            <a:ext cx="4535424" cy="566928"/>
          </a:xfrm>
          <a:prstGeom prst="rect">
            <a:avLst/>
          </a:prstGeom>
          <a:noFill/>
          <a:ln/>
        </p:spPr>
        <p:txBody>
          <a:bodyPr wrap="square" lIns="0" tIns="0" rIns="0" bIns="0" rtlCol="0" anchor="ctr"/>
          <a:lstStyle/>
          <a:p>
            <a:pPr indent="0" marL="0">
              <a:buNone/>
            </a:pPr>
            <a:r>
              <a:rPr lang="en-US" sz="1250" dirty="0">
                <a:solidFill>
                  <a:srgbClr val="5C6D64"/>
                </a:solidFill>
                <a:latin typeface="Calibri" pitchFamily="34" charset="0"/>
                <a:ea typeface="Calibri" pitchFamily="34" charset="-122"/>
                <a:cs typeface="Calibri" pitchFamily="34" charset="-120"/>
              </a:rPr>
              <a:t>Pratiques interdites et étude de cas</a:t>
            </a:r>
            <a:endParaRPr lang="en-US" sz="1250" dirty="0"/>
          </a:p>
        </p:txBody>
      </p:sp>
      <p:sp>
        <p:nvSpPr>
          <p:cNvPr id="19" name="Shape 17"/>
          <p:cNvSpPr/>
          <p:nvPr/>
        </p:nvSpPr>
        <p:spPr>
          <a:xfrm>
            <a:off x="566928" y="3602736"/>
            <a:ext cx="11027664" cy="566928"/>
          </a:xfrm>
          <a:prstGeom prst="roundRect">
            <a:avLst>
              <a:gd name="adj" fmla="val 11290"/>
            </a:avLst>
          </a:prstGeom>
          <a:solidFill>
            <a:srgbClr val="FFFFFF"/>
          </a:solidFill>
          <a:ln/>
        </p:spPr>
      </p:sp>
      <p:sp>
        <p:nvSpPr>
          <p:cNvPr id="20" name="Text 18"/>
          <p:cNvSpPr txBox="1"/>
          <p:nvPr/>
        </p:nvSpPr>
        <p:spPr>
          <a:xfrm>
            <a:off x="804672" y="3602736"/>
            <a:ext cx="1051560" cy="566928"/>
          </a:xfrm>
          <a:prstGeom prst="rect">
            <a:avLst/>
          </a:prstGeom>
          <a:noFill/>
          <a:ln/>
        </p:spPr>
        <p:txBody>
          <a:bodyPr wrap="square" lIns="0" tIns="0" rIns="0" bIns="0" rtlCol="0" anchor="ctr"/>
          <a:lstStyle/>
          <a:p>
            <a:pPr indent="0" marL="0">
              <a:buNone/>
            </a:pPr>
            <a:r>
              <a:rPr lang="en-US" sz="1250" b="1" dirty="0">
                <a:solidFill>
                  <a:srgbClr val="0B5D50"/>
                </a:solidFill>
                <a:latin typeface="Courier New" pitchFamily="34" charset="0"/>
                <a:ea typeface="Courier New" pitchFamily="34" charset="-122"/>
                <a:cs typeface="Courier New" pitchFamily="34" charset="-120"/>
              </a:rPr>
              <a:t>30–42</a:t>
            </a:r>
            <a:endParaRPr lang="en-US" sz="1250" dirty="0"/>
          </a:p>
        </p:txBody>
      </p:sp>
      <p:sp>
        <p:nvSpPr>
          <p:cNvPr id="21" name="Text 19"/>
          <p:cNvSpPr txBox="1"/>
          <p:nvPr/>
        </p:nvSpPr>
        <p:spPr>
          <a:xfrm>
            <a:off x="1984248" y="3602736"/>
            <a:ext cx="4663440" cy="566928"/>
          </a:xfrm>
          <a:prstGeom prst="rect">
            <a:avLst/>
          </a:prstGeom>
          <a:noFill/>
          <a:ln/>
        </p:spPr>
        <p:txBody>
          <a:bodyPr wrap="square" lIns="0" tIns="0" rIns="0" bIns="0" rtlCol="0" anchor="ctr"/>
          <a:lstStyle/>
          <a:p>
            <a:pPr indent="0" marL="0">
              <a:buNone/>
            </a:pPr>
            <a:r>
              <a:rPr lang="en-US" sz="1350" b="1" dirty="0">
                <a:solidFill>
                  <a:srgbClr val="12211D"/>
                </a:solidFill>
                <a:latin typeface="Calibri" pitchFamily="34" charset="0"/>
                <a:ea typeface="Calibri" pitchFamily="34" charset="-122"/>
                <a:cs typeface="Calibri" pitchFamily="34" charset="-120"/>
              </a:rPr>
              <a:t>Module 3 · IA axée sur la confidentialité</a:t>
            </a:r>
            <a:endParaRPr lang="en-US" sz="1350" dirty="0"/>
          </a:p>
        </p:txBody>
      </p:sp>
      <p:sp>
        <p:nvSpPr>
          <p:cNvPr id="22" name="Text 20"/>
          <p:cNvSpPr txBox="1"/>
          <p:nvPr/>
        </p:nvSpPr>
        <p:spPr>
          <a:xfrm>
            <a:off x="6784848" y="3602736"/>
            <a:ext cx="4535424" cy="566928"/>
          </a:xfrm>
          <a:prstGeom prst="rect">
            <a:avLst/>
          </a:prstGeom>
          <a:noFill/>
          <a:ln/>
        </p:spPr>
        <p:txBody>
          <a:bodyPr wrap="square" lIns="0" tIns="0" rIns="0" bIns="0" rtlCol="0" anchor="ctr"/>
          <a:lstStyle/>
          <a:p>
            <a:pPr indent="0" marL="0">
              <a:buNone/>
            </a:pPr>
            <a:r>
              <a:rPr lang="en-US" sz="1250" dirty="0">
                <a:solidFill>
                  <a:srgbClr val="5C6D64"/>
                </a:solidFill>
                <a:latin typeface="Calibri" pitchFamily="34" charset="0"/>
                <a:ea typeface="Calibri" pitchFamily="34" charset="-122"/>
                <a:cs typeface="Calibri" pitchFamily="34" charset="-120"/>
              </a:rPr>
              <a:t>Privacy by Design et trois technologies</a:t>
            </a:r>
            <a:endParaRPr lang="en-US" sz="1250" dirty="0"/>
          </a:p>
        </p:txBody>
      </p:sp>
      <p:sp>
        <p:nvSpPr>
          <p:cNvPr id="23" name="Shape 21"/>
          <p:cNvSpPr/>
          <p:nvPr/>
        </p:nvSpPr>
        <p:spPr>
          <a:xfrm>
            <a:off x="566928" y="4261104"/>
            <a:ext cx="11027664" cy="566928"/>
          </a:xfrm>
          <a:prstGeom prst="roundRect">
            <a:avLst>
              <a:gd name="adj" fmla="val 11290"/>
            </a:avLst>
          </a:prstGeom>
          <a:solidFill>
            <a:srgbClr val="FFFFFF"/>
          </a:solidFill>
          <a:ln/>
        </p:spPr>
      </p:sp>
      <p:sp>
        <p:nvSpPr>
          <p:cNvPr id="24" name="Text 22"/>
          <p:cNvSpPr txBox="1"/>
          <p:nvPr/>
        </p:nvSpPr>
        <p:spPr>
          <a:xfrm>
            <a:off x="804672" y="4261104"/>
            <a:ext cx="1051560" cy="566928"/>
          </a:xfrm>
          <a:prstGeom prst="rect">
            <a:avLst/>
          </a:prstGeom>
          <a:noFill/>
          <a:ln/>
        </p:spPr>
        <p:txBody>
          <a:bodyPr wrap="square" lIns="0" tIns="0" rIns="0" bIns="0" rtlCol="0" anchor="ctr"/>
          <a:lstStyle/>
          <a:p>
            <a:pPr indent="0" marL="0">
              <a:buNone/>
            </a:pPr>
            <a:r>
              <a:rPr lang="en-US" sz="1250" b="1" dirty="0">
                <a:solidFill>
                  <a:srgbClr val="0B5D50"/>
                </a:solidFill>
                <a:latin typeface="Courier New" pitchFamily="34" charset="0"/>
                <a:ea typeface="Courier New" pitchFamily="34" charset="-122"/>
                <a:cs typeface="Courier New" pitchFamily="34" charset="-120"/>
              </a:rPr>
              <a:t>42–56</a:t>
            </a:r>
            <a:endParaRPr lang="en-US" sz="1250" dirty="0"/>
          </a:p>
        </p:txBody>
      </p:sp>
      <p:sp>
        <p:nvSpPr>
          <p:cNvPr id="25" name="Text 23"/>
          <p:cNvSpPr txBox="1"/>
          <p:nvPr/>
        </p:nvSpPr>
        <p:spPr>
          <a:xfrm>
            <a:off x="1984248" y="4261104"/>
            <a:ext cx="4663440" cy="566928"/>
          </a:xfrm>
          <a:prstGeom prst="rect">
            <a:avLst/>
          </a:prstGeom>
          <a:noFill/>
          <a:ln/>
        </p:spPr>
        <p:txBody>
          <a:bodyPr wrap="square" lIns="0" tIns="0" rIns="0" bIns="0" rtlCol="0" anchor="ctr"/>
          <a:lstStyle/>
          <a:p>
            <a:pPr indent="0" marL="0">
              <a:buNone/>
            </a:pPr>
            <a:r>
              <a:rPr lang="en-US" sz="1350" b="1" dirty="0">
                <a:solidFill>
                  <a:srgbClr val="12211D"/>
                </a:solidFill>
                <a:latin typeface="Calibri" pitchFamily="34" charset="0"/>
                <a:ea typeface="Calibri" pitchFamily="34" charset="-122"/>
                <a:cs typeface="Calibri" pitchFamily="34" charset="-120"/>
              </a:rPr>
              <a:t>Débat des jeunes</a:t>
            </a:r>
            <a:endParaRPr lang="en-US" sz="1350" dirty="0"/>
          </a:p>
        </p:txBody>
      </p:sp>
      <p:sp>
        <p:nvSpPr>
          <p:cNvPr id="26" name="Text 24"/>
          <p:cNvSpPr txBox="1"/>
          <p:nvPr/>
        </p:nvSpPr>
        <p:spPr>
          <a:xfrm>
            <a:off x="6784848" y="4261104"/>
            <a:ext cx="4535424" cy="566928"/>
          </a:xfrm>
          <a:prstGeom prst="rect">
            <a:avLst/>
          </a:prstGeom>
          <a:noFill/>
          <a:ln/>
        </p:spPr>
        <p:txBody>
          <a:bodyPr wrap="square" lIns="0" tIns="0" rIns="0" bIns="0" rtlCol="0" anchor="ctr"/>
          <a:lstStyle/>
          <a:p>
            <a:pPr indent="0" marL="0">
              <a:buNone/>
            </a:pPr>
            <a:r>
              <a:rPr lang="en-US" sz="1250" dirty="0">
                <a:solidFill>
                  <a:srgbClr val="5C6D64"/>
                </a:solidFill>
                <a:latin typeface="Calibri" pitchFamily="34" charset="0"/>
                <a:ea typeface="Calibri" pitchFamily="34" charset="-122"/>
                <a:cs typeface="Calibri" pitchFamily="34" charset="-120"/>
              </a:rPr>
              <a:t>Trois groupes, trois intérêts, un compromis à trouver</a:t>
            </a:r>
            <a:endParaRPr lang="en-US" sz="1250" dirty="0"/>
          </a:p>
        </p:txBody>
      </p:sp>
      <p:sp>
        <p:nvSpPr>
          <p:cNvPr id="27" name="Shape 25"/>
          <p:cNvSpPr/>
          <p:nvPr/>
        </p:nvSpPr>
        <p:spPr>
          <a:xfrm>
            <a:off x="566928" y="4919472"/>
            <a:ext cx="11027664" cy="566928"/>
          </a:xfrm>
          <a:prstGeom prst="roundRect">
            <a:avLst>
              <a:gd name="adj" fmla="val 11290"/>
            </a:avLst>
          </a:prstGeom>
          <a:solidFill>
            <a:srgbClr val="FFFFFF"/>
          </a:solidFill>
          <a:ln/>
        </p:spPr>
      </p:sp>
      <p:sp>
        <p:nvSpPr>
          <p:cNvPr id="28" name="Text 26"/>
          <p:cNvSpPr txBox="1"/>
          <p:nvPr/>
        </p:nvSpPr>
        <p:spPr>
          <a:xfrm>
            <a:off x="804672" y="4919472"/>
            <a:ext cx="1051560" cy="566928"/>
          </a:xfrm>
          <a:prstGeom prst="rect">
            <a:avLst/>
          </a:prstGeom>
          <a:noFill/>
          <a:ln/>
        </p:spPr>
        <p:txBody>
          <a:bodyPr wrap="square" lIns="0" tIns="0" rIns="0" bIns="0" rtlCol="0" anchor="ctr"/>
          <a:lstStyle/>
          <a:p>
            <a:pPr indent="0" marL="0">
              <a:buNone/>
            </a:pPr>
            <a:r>
              <a:rPr lang="en-US" sz="1250" b="1" dirty="0">
                <a:solidFill>
                  <a:srgbClr val="0B5D50"/>
                </a:solidFill>
                <a:latin typeface="Courier New" pitchFamily="34" charset="0"/>
                <a:ea typeface="Courier New" pitchFamily="34" charset="-122"/>
                <a:cs typeface="Courier New" pitchFamily="34" charset="-120"/>
              </a:rPr>
              <a:t>56–60</a:t>
            </a:r>
            <a:endParaRPr lang="en-US" sz="1250" dirty="0"/>
          </a:p>
        </p:txBody>
      </p:sp>
      <p:sp>
        <p:nvSpPr>
          <p:cNvPr id="29" name="Text 27"/>
          <p:cNvSpPr txBox="1"/>
          <p:nvPr/>
        </p:nvSpPr>
        <p:spPr>
          <a:xfrm>
            <a:off x="1984248" y="4919472"/>
            <a:ext cx="4663440" cy="566928"/>
          </a:xfrm>
          <a:prstGeom prst="rect">
            <a:avLst/>
          </a:prstGeom>
          <a:noFill/>
          <a:ln/>
        </p:spPr>
        <p:txBody>
          <a:bodyPr wrap="square" lIns="0" tIns="0" rIns="0" bIns="0" rtlCol="0" anchor="ctr"/>
          <a:lstStyle/>
          <a:p>
            <a:pPr indent="0" marL="0">
              <a:buNone/>
            </a:pPr>
            <a:r>
              <a:rPr lang="en-US" sz="1350" b="1" dirty="0">
                <a:solidFill>
                  <a:srgbClr val="12211D"/>
                </a:solidFill>
                <a:latin typeface="Calibri" pitchFamily="34" charset="0"/>
                <a:ea typeface="Calibri" pitchFamily="34" charset="-122"/>
                <a:cs typeface="Calibri" pitchFamily="34" charset="-120"/>
              </a:rPr>
              <a:t>Conclusion</a:t>
            </a:r>
            <a:endParaRPr lang="en-US" sz="1350" dirty="0"/>
          </a:p>
        </p:txBody>
      </p:sp>
      <p:sp>
        <p:nvSpPr>
          <p:cNvPr id="30" name="Text 28"/>
          <p:cNvSpPr txBox="1"/>
          <p:nvPr/>
        </p:nvSpPr>
        <p:spPr>
          <a:xfrm>
            <a:off x="6784848" y="4919472"/>
            <a:ext cx="4535424" cy="566928"/>
          </a:xfrm>
          <a:prstGeom prst="rect">
            <a:avLst/>
          </a:prstGeom>
          <a:noFill/>
          <a:ln/>
        </p:spPr>
        <p:txBody>
          <a:bodyPr wrap="square" lIns="0" tIns="0" rIns="0" bIns="0" rtlCol="0" anchor="ctr"/>
          <a:lstStyle/>
          <a:p>
            <a:pPr indent="0" marL="0">
              <a:buNone/>
            </a:pPr>
            <a:r>
              <a:rPr lang="en-US" sz="1250" dirty="0">
                <a:solidFill>
                  <a:srgbClr val="5C6D64"/>
                </a:solidFill>
                <a:latin typeface="Calibri" pitchFamily="34" charset="0"/>
                <a:ea typeface="Calibri" pitchFamily="34" charset="-122"/>
                <a:cs typeface="Calibri" pitchFamily="34" charset="-120"/>
              </a:rPr>
              <a:t>Appel à l'action et engagement individuel</a:t>
            </a:r>
            <a:endParaRPr lang="en-US" sz="1250" dirty="0"/>
          </a:p>
        </p:txBody>
      </p:sp>
      <p:sp>
        <p:nvSpPr>
          <p:cNvPr id="31" name="Shape 29"/>
          <p:cNvSpPr/>
          <p:nvPr/>
        </p:nvSpPr>
        <p:spPr>
          <a:xfrm>
            <a:off x="566928" y="5650992"/>
            <a:ext cx="11027664" cy="548640"/>
          </a:xfrm>
          <a:prstGeom prst="roundRect">
            <a:avLst>
              <a:gd name="adj" fmla="val 11667"/>
            </a:avLst>
          </a:prstGeom>
          <a:solidFill>
            <a:srgbClr val="F6EDD8"/>
          </a:solidFill>
          <a:ln/>
        </p:spPr>
      </p:sp>
      <p:sp>
        <p:nvSpPr>
          <p:cNvPr id="32" name="Text 30"/>
          <p:cNvSpPr txBox="1"/>
          <p:nvPr/>
        </p:nvSpPr>
        <p:spPr>
          <a:xfrm>
            <a:off x="804672" y="5650992"/>
            <a:ext cx="10552176" cy="548640"/>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VERSION 45 MIN   </a:t>
            </a:r>
            <a:pPr indent="0" marL="0">
              <a:buNone/>
            </a:pPr>
            <a:r>
              <a:rPr lang="en-US" sz="1200" dirty="0">
                <a:solidFill>
                  <a:srgbClr val="12211D"/>
                </a:solidFill>
                <a:latin typeface="Calibri" pitchFamily="34" charset="0"/>
                <a:ea typeface="Calibri" pitchFamily="34" charset="-122"/>
                <a:cs typeface="Calibri" pitchFamily="34" charset="-120"/>
              </a:rPr>
              <a:t>retirer le cas des États-Unis, puis l'étude de cas italienne, et ramener le débat à 8 minutes avec deux groupes.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3D35"/>
        </a:solidFill>
      </p:bgPr>
    </p:bg>
    <p:spTree>
      <p:nvGrpSpPr>
        <p:cNvPr id="1" name=""/>
        <p:cNvGrpSpPr/>
        <p:nvPr/>
      </p:nvGrpSpPr>
      <p:grpSpPr>
        <a:xfrm>
          <a:off x="0" y="0"/>
          <a:ext cx="0" cy="0"/>
          <a:chOff x="0" y="0"/>
          <a:chExt cx="0" cy="0"/>
        </a:xfrm>
      </p:grpSpPr>
      <p:sp>
        <p:nvSpPr>
          <p:cNvPr id="2" name="Shape 0"/>
          <p:cNvSpPr/>
          <p:nvPr/>
        </p:nvSpPr>
        <p:spPr>
          <a:xfrm>
            <a:off x="9509760" y="-1097280"/>
            <a:ext cx="4206240" cy="4206240"/>
          </a:xfrm>
          <a:prstGeom prst="ellipse">
            <a:avLst/>
          </a:prstGeom>
          <a:solidFill>
            <a:srgbClr val="0B5D50">
              <a:alpha val="42000"/>
            </a:srgbClr>
          </a:solidFill>
          <a:ln/>
        </p:spPr>
      </p:sp>
      <p:sp>
        <p:nvSpPr>
          <p:cNvPr id="3" name="Text 1"/>
          <p:cNvSpPr txBox="1"/>
          <p:nvPr/>
        </p:nvSpPr>
        <p:spPr>
          <a:xfrm>
            <a:off x="566928" y="1737360"/>
            <a:ext cx="2743200" cy="274320"/>
          </a:xfrm>
          <a:prstGeom prst="rect">
            <a:avLst/>
          </a:prstGeom>
          <a:noFill/>
          <a:ln/>
        </p:spPr>
        <p:txBody>
          <a:bodyPr wrap="square" lIns="0" tIns="0" rIns="0" bIns="0" rtlCol="0" anchor="ctr"/>
          <a:lstStyle/>
          <a:p>
            <a:pPr indent="0" marL="0">
              <a:buNone/>
            </a:pPr>
            <a:r>
              <a:rPr lang="en-US" sz="1100" b="1" spc="300" kern="0" dirty="0">
                <a:solidFill>
                  <a:srgbClr val="9FBFB5"/>
                </a:solidFill>
                <a:latin typeface="Courier New" pitchFamily="34" charset="0"/>
                <a:ea typeface="Courier New" pitchFamily="34" charset="-122"/>
                <a:cs typeface="Courier New" pitchFamily="34" charset="-120"/>
              </a:rPr>
              <a:t>MODULE</a:t>
            </a:r>
            <a:endParaRPr lang="en-US" sz="1100" dirty="0"/>
          </a:p>
        </p:txBody>
      </p:sp>
      <p:sp>
        <p:nvSpPr>
          <p:cNvPr id="4" name="Text 2"/>
          <p:cNvSpPr txBox="1"/>
          <p:nvPr/>
        </p:nvSpPr>
        <p:spPr>
          <a:xfrm>
            <a:off x="566928" y="1965960"/>
            <a:ext cx="2926080" cy="1371600"/>
          </a:xfrm>
          <a:prstGeom prst="rect">
            <a:avLst/>
          </a:prstGeom>
          <a:noFill/>
          <a:ln/>
        </p:spPr>
        <p:txBody>
          <a:bodyPr wrap="square" lIns="0" tIns="0" rIns="0" bIns="0" rtlCol="0" anchor="t"/>
          <a:lstStyle/>
          <a:p>
            <a:pPr indent="0" marL="0">
              <a:buNone/>
            </a:pPr>
            <a:r>
              <a:rPr lang="en-US" sz="8800" b="1" dirty="0">
                <a:solidFill>
                  <a:srgbClr val="D9A521"/>
                </a:solidFill>
                <a:latin typeface="Cambria" pitchFamily="34" charset="0"/>
                <a:ea typeface="Cambria" pitchFamily="34" charset="-122"/>
                <a:cs typeface="Cambria" pitchFamily="34" charset="-120"/>
              </a:rPr>
              <a:t>01</a:t>
            </a:r>
            <a:endParaRPr lang="en-US" sz="8800" dirty="0"/>
          </a:p>
        </p:txBody>
      </p:sp>
      <p:sp>
        <p:nvSpPr>
          <p:cNvPr id="5" name="Text 3"/>
          <p:cNvSpPr txBox="1"/>
          <p:nvPr/>
        </p:nvSpPr>
        <p:spPr>
          <a:xfrm>
            <a:off x="566928" y="3520440"/>
            <a:ext cx="9326880" cy="100584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L'aspiration massive des données</a:t>
            </a:r>
            <a:endParaRPr lang="en-US" sz="3800" dirty="0"/>
          </a:p>
        </p:txBody>
      </p:sp>
      <p:sp>
        <p:nvSpPr>
          <p:cNvPr id="6" name="Text 4"/>
          <p:cNvSpPr txBox="1"/>
          <p:nvPr/>
        </p:nvSpPr>
        <p:spPr>
          <a:xfrm>
            <a:off x="566928" y="4572000"/>
            <a:ext cx="8595360" cy="457200"/>
          </a:xfrm>
          <a:prstGeom prst="rect">
            <a:avLst/>
          </a:prstGeom>
          <a:noFill/>
          <a:ln/>
        </p:spPr>
        <p:txBody>
          <a:bodyPr wrap="square" lIns="0" tIns="0" rIns="0" bIns="0" rtlCol="0" anchor="t"/>
          <a:lstStyle/>
          <a:p>
            <a:pPr indent="0" marL="0">
              <a:buNone/>
            </a:pPr>
            <a:r>
              <a:rPr lang="en-US" sz="1550" dirty="0">
                <a:solidFill>
                  <a:srgbClr val="9FBFB5"/>
                </a:solidFill>
                <a:latin typeface="Calibri" pitchFamily="34" charset="0"/>
                <a:ea typeface="Calibri" pitchFamily="34" charset="-122"/>
                <a:cs typeface="Calibri" pitchFamily="34" charset="-120"/>
              </a:rPr>
              <a:t>Web scraping, consentement et éthique de l'IA</a:t>
            </a:r>
            <a:endParaRPr lang="en-US" sz="1550" dirty="0"/>
          </a:p>
        </p:txBody>
      </p:sp>
      <p:sp>
        <p:nvSpPr>
          <p:cNvPr id="7" name="Text 5"/>
          <p:cNvSpPr txBox="1"/>
          <p:nvPr/>
        </p:nvSpPr>
        <p:spPr>
          <a:xfrm>
            <a:off x="9582912" y="1737360"/>
            <a:ext cx="2011680" cy="274320"/>
          </a:xfrm>
          <a:prstGeom prst="rect">
            <a:avLst/>
          </a:prstGeom>
          <a:noFill/>
          <a:ln/>
        </p:spPr>
        <p:txBody>
          <a:bodyPr wrap="square" lIns="0" tIns="0" rIns="0" bIns="0" rtlCol="0" anchor="ctr"/>
          <a:lstStyle/>
          <a:p>
            <a:pPr algn="r" indent="0" marL="0">
              <a:buNone/>
            </a:pPr>
            <a:r>
              <a:rPr lang="en-US" sz="1100" b="1" dirty="0">
                <a:solidFill>
                  <a:srgbClr val="D9A521"/>
                </a:solidFill>
                <a:latin typeface="Courier New" pitchFamily="34" charset="0"/>
                <a:ea typeface="Courier New" pitchFamily="34" charset="-122"/>
                <a:cs typeface="Courier New" pitchFamily="34" charset="-120"/>
              </a:rPr>
              <a:t>12 MIN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MODULE 1 · LE CONSTAT</a:t>
            </a:r>
            <a:endParaRPr lang="en-US" sz="950" dirty="0"/>
          </a:p>
        </p:txBody>
      </p:sp>
      <p:sp>
        <p:nvSpPr>
          <p:cNvPr id="3" name="Text 1"/>
          <p:cNvSpPr txBox="1"/>
          <p:nvPr/>
        </p:nvSpPr>
        <p:spPr>
          <a:xfrm>
            <a:off x="9765792" y="402336"/>
            <a:ext cx="1828800" cy="237744"/>
          </a:xfrm>
          <a:prstGeom prst="rect">
            <a:avLst/>
          </a:prstGeom>
          <a:noFill/>
          <a:ln/>
        </p:spPr>
        <p:txBody>
          <a:bodyPr wrap="square" lIns="0" tIns="0" rIns="0" bIns="0" rtlCol="0" anchor="ctr"/>
          <a:lstStyle/>
          <a:p>
            <a:pPr algn="r" indent="0" marL="0">
              <a:buNone/>
            </a:pPr>
            <a:r>
              <a:rPr lang="en-US" sz="950" b="1" dirty="0">
                <a:solidFill>
                  <a:srgbClr val="8A9A91"/>
                </a:solidFill>
                <a:latin typeface="Courier New" pitchFamily="34" charset="0"/>
                <a:ea typeface="Courier New" pitchFamily="34" charset="-122"/>
                <a:cs typeface="Courier New" pitchFamily="34" charset="-120"/>
              </a:rPr>
              <a:t>3 MIN</a:t>
            </a:r>
            <a:endParaRPr lang="en-US" sz="950" dirty="0"/>
          </a:p>
        </p:txBody>
      </p:sp>
      <p:sp>
        <p:nvSpPr>
          <p:cNvPr id="4" name="Text 2"/>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200" b="1" dirty="0">
                <a:solidFill>
                  <a:srgbClr val="12211D"/>
                </a:solidFill>
                <a:latin typeface="Cambria" pitchFamily="34" charset="0"/>
                <a:ea typeface="Cambria" pitchFamily="34" charset="-122"/>
                <a:cs typeface="Cambria" pitchFamily="34" charset="-120"/>
              </a:rPr>
              <a:t>Nos données : le carburant de l'IA</a:t>
            </a:r>
            <a:endParaRPr lang="en-US" sz="3200" dirty="0"/>
          </a:p>
        </p:txBody>
      </p:sp>
      <p:sp>
        <p:nvSpPr>
          <p:cNvPr id="5" name="Text 3"/>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6" name="Text 4"/>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5</a:t>
            </a:r>
            <a:endParaRPr lang="en-US" sz="800" dirty="0"/>
          </a:p>
        </p:txBody>
      </p:sp>
      <p:sp>
        <p:nvSpPr>
          <p:cNvPr id="7" name="Text 5"/>
          <p:cNvSpPr txBox="1"/>
          <p:nvPr/>
        </p:nvSpPr>
        <p:spPr>
          <a:xfrm>
            <a:off x="566928" y="1600200"/>
            <a:ext cx="5486400" cy="2103120"/>
          </a:xfrm>
          <a:prstGeom prst="rect">
            <a:avLst/>
          </a:prstGeom>
          <a:noFill/>
          <a:ln/>
        </p:spPr>
        <p:txBody>
          <a:bodyPr wrap="square" lIns="0" tIns="0" rIns="0" bIns="0" rtlCol="0" anchor="t"/>
          <a:lstStyle/>
          <a:p>
            <a:pPr indent="0" marL="0">
              <a:lnSpc>
                <a:spcPts val="2200"/>
              </a:lnSpc>
              <a:buNone/>
            </a:pPr>
            <a:r>
              <a:rPr lang="en-US" sz="1500" dirty="0">
                <a:solidFill>
                  <a:srgbClr val="12211D"/>
                </a:solidFill>
                <a:latin typeface="Calibri" pitchFamily="34" charset="0"/>
                <a:ea typeface="Calibri" pitchFamily="34" charset="-122"/>
                <a:cs typeface="Calibri" pitchFamily="34" charset="-120"/>
              </a:rPr>
              <a:t>Le développement des grands modèles de langage repose sur l'ingestion de volumes gigantesques de données textuelles et multimédias collectées sur le web par aspiration massive — le web scraping.</a:t>
            </a:r>
            <a:endParaRPr lang="en-US" sz="1500" dirty="0"/>
          </a:p>
          <a:p>
            <a:pPr indent="0" marL="0">
              <a:lnSpc>
                <a:spcPts val="2200"/>
              </a:lnSpc>
              <a:buNone/>
            </a:pPr>
            <a:endParaRPr lang="en-US" sz="1500" dirty="0"/>
          </a:p>
          <a:p>
            <a:pPr indent="0" marL="0">
              <a:lnSpc>
                <a:spcPts val="2200"/>
              </a:lnSpc>
              <a:buNone/>
            </a:pPr>
            <a:r>
              <a:rPr lang="en-US" sz="1500" dirty="0">
                <a:solidFill>
                  <a:srgbClr val="12211D"/>
                </a:solidFill>
                <a:latin typeface="Calibri" pitchFamily="34" charset="0"/>
                <a:ea typeface="Calibri" pitchFamily="34" charset="-122"/>
                <a:cs typeface="Calibri" pitchFamily="34" charset="-120"/>
              </a:rPr>
              <a:t>Nos publications, nos photos de profil, nos commentaires sur les forums et jusqu'à nos travaux d'école sont quotidiennement aspirés.</a:t>
            </a:r>
            <a:endParaRPr lang="en-US" sz="1500" dirty="0"/>
          </a:p>
        </p:txBody>
      </p:sp>
      <p:sp>
        <p:nvSpPr>
          <p:cNvPr id="8" name="Shape 6"/>
          <p:cNvSpPr/>
          <p:nvPr/>
        </p:nvSpPr>
        <p:spPr>
          <a:xfrm>
            <a:off x="566928" y="3977640"/>
            <a:ext cx="5486400" cy="1371600"/>
          </a:xfrm>
          <a:prstGeom prst="roundRect">
            <a:avLst>
              <a:gd name="adj" fmla="val 4667"/>
            </a:avLst>
          </a:prstGeom>
          <a:solidFill>
            <a:srgbClr val="E3EEE9"/>
          </a:solidFill>
          <a:ln/>
        </p:spPr>
      </p:sp>
      <p:sp>
        <p:nvSpPr>
          <p:cNvPr id="9" name="Text 7"/>
          <p:cNvSpPr txBox="1"/>
          <p:nvPr/>
        </p:nvSpPr>
        <p:spPr>
          <a:xfrm>
            <a:off x="841248" y="4160520"/>
            <a:ext cx="4937760" cy="219456"/>
          </a:xfrm>
          <a:prstGeom prst="rect">
            <a:avLst/>
          </a:prstGeom>
          <a:noFill/>
          <a:ln/>
        </p:spPr>
        <p:txBody>
          <a:bodyPr wrap="square" lIns="0" tIns="0" rIns="0" bIns="0" rtlCol="0" anchor="ctr"/>
          <a:lstStyle/>
          <a:p>
            <a:pPr indent="0" marL="0">
              <a:buNone/>
            </a:pPr>
            <a:r>
              <a:rPr lang="en-US" sz="900" b="1" spc="200" kern="0" dirty="0">
                <a:solidFill>
                  <a:srgbClr val="0B5D50"/>
                </a:solidFill>
                <a:latin typeface="Courier New" pitchFamily="34" charset="0"/>
                <a:ea typeface="Courier New" pitchFamily="34" charset="-122"/>
                <a:cs typeface="Courier New" pitchFamily="34" charset="-120"/>
              </a:rPr>
              <a:t>LA PREMIÈRE QUESTION À POSER</a:t>
            </a:r>
            <a:endParaRPr lang="en-US" sz="900" dirty="0"/>
          </a:p>
        </p:txBody>
      </p:sp>
      <p:sp>
        <p:nvSpPr>
          <p:cNvPr id="10" name="Text 8"/>
          <p:cNvSpPr txBox="1"/>
          <p:nvPr/>
        </p:nvSpPr>
        <p:spPr>
          <a:xfrm>
            <a:off x="841248" y="4434840"/>
            <a:ext cx="4937760" cy="731520"/>
          </a:xfrm>
          <a:prstGeom prst="rect">
            <a:avLst/>
          </a:prstGeom>
          <a:noFill/>
          <a:ln/>
        </p:spPr>
        <p:txBody>
          <a:bodyPr wrap="square" lIns="0" tIns="0" rIns="0" bIns="0" rtlCol="0" anchor="t"/>
          <a:lstStyle/>
          <a:p>
            <a:pPr indent="0" marL="0">
              <a:buNone/>
            </a:pPr>
            <a:r>
              <a:rPr lang="en-US" sz="2400" b="1" dirty="0">
                <a:solidFill>
                  <a:srgbClr val="0B5D50"/>
                </a:solidFill>
                <a:latin typeface="Cambria" pitchFamily="34" charset="0"/>
                <a:ea typeface="Cambria" pitchFamily="34" charset="-122"/>
                <a:cs typeface="Cambria" pitchFamily="34" charset="-120"/>
              </a:rPr>
              <a:t>D'où viennent ces données ?</a:t>
            </a:r>
            <a:endParaRPr lang="en-US" sz="2400" dirty="0"/>
          </a:p>
        </p:txBody>
      </p:sp>
      <p:sp>
        <p:nvSpPr>
          <p:cNvPr id="11" name="Text 9"/>
          <p:cNvSpPr txBox="1"/>
          <p:nvPr/>
        </p:nvSpPr>
        <p:spPr>
          <a:xfrm>
            <a:off x="6446520" y="1600200"/>
            <a:ext cx="5148072" cy="237744"/>
          </a:xfrm>
          <a:prstGeom prst="rect">
            <a:avLst/>
          </a:prstGeom>
          <a:noFill/>
          <a:ln/>
        </p:spPr>
        <p:txBody>
          <a:bodyPr wrap="square" lIns="0" tIns="0" rIns="0" bIns="0" rtlCol="0" anchor="ctr"/>
          <a:lstStyle/>
          <a:p>
            <a:pPr indent="0" marL="0">
              <a:buNone/>
            </a:pPr>
            <a:r>
              <a:rPr lang="en-US" sz="950" b="1" spc="200" kern="0" dirty="0">
                <a:solidFill>
                  <a:srgbClr val="A33A1C"/>
                </a:solidFill>
                <a:latin typeface="Courier New" pitchFamily="34" charset="0"/>
                <a:ea typeface="Courier New" pitchFamily="34" charset="-122"/>
                <a:cs typeface="Courier New" pitchFamily="34" charset="-120"/>
              </a:rPr>
              <a:t>LE PROBLÈME ÉTHIQUE TIENT EN TROIS MOTS</a:t>
            </a:r>
            <a:endParaRPr lang="en-US" sz="950" dirty="0"/>
          </a:p>
        </p:txBody>
      </p:sp>
      <p:sp>
        <p:nvSpPr>
          <p:cNvPr id="12" name="Shape 10"/>
          <p:cNvSpPr/>
          <p:nvPr/>
        </p:nvSpPr>
        <p:spPr>
          <a:xfrm>
            <a:off x="6446520" y="1965960"/>
            <a:ext cx="5148072" cy="1024128"/>
          </a:xfrm>
          <a:prstGeom prst="roundRect">
            <a:avLst>
              <a:gd name="adj" fmla="val 6250"/>
            </a:avLst>
          </a:prstGeom>
          <a:solidFill>
            <a:srgbClr val="F6E5DF"/>
          </a:solidFill>
          <a:ln/>
        </p:spPr>
      </p:sp>
      <p:sp>
        <p:nvSpPr>
          <p:cNvPr id="13" name="Shape 11"/>
          <p:cNvSpPr/>
          <p:nvPr/>
        </p:nvSpPr>
        <p:spPr>
          <a:xfrm>
            <a:off x="6675120" y="2240280"/>
            <a:ext cx="457200" cy="457200"/>
          </a:xfrm>
          <a:prstGeom prst="ellipse">
            <a:avLst/>
          </a:prstGeom>
          <a:solidFill>
            <a:srgbClr val="A33A1C"/>
          </a:solidFill>
          <a:ln/>
        </p:spPr>
      </p:sp>
      <p:sp>
        <p:nvSpPr>
          <p:cNvPr id="14" name="Text 12"/>
          <p:cNvSpPr txBox="1"/>
          <p:nvPr/>
        </p:nvSpPr>
        <p:spPr>
          <a:xfrm>
            <a:off x="6675120" y="2240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15" name="Text 13"/>
          <p:cNvSpPr txBox="1"/>
          <p:nvPr/>
        </p:nvSpPr>
        <p:spPr>
          <a:xfrm>
            <a:off x="7296912" y="2148840"/>
            <a:ext cx="4114800" cy="310896"/>
          </a:xfrm>
          <a:prstGeom prst="rect">
            <a:avLst/>
          </a:prstGeom>
          <a:noFill/>
          <a:ln/>
        </p:spPr>
        <p:txBody>
          <a:bodyPr wrap="square" lIns="0" tIns="0" rIns="0" bIns="0" rtlCol="0" anchor="ctr"/>
          <a:lstStyle/>
          <a:p>
            <a:pPr indent="0" marL="0">
              <a:buNone/>
            </a:pPr>
            <a:r>
              <a:rPr lang="en-US" sz="1500" b="1" dirty="0">
                <a:solidFill>
                  <a:srgbClr val="12211D"/>
                </a:solidFill>
                <a:latin typeface="Calibri" pitchFamily="34" charset="0"/>
                <a:ea typeface="Calibri" pitchFamily="34" charset="-122"/>
                <a:cs typeface="Calibri" pitchFamily="34" charset="-120"/>
              </a:rPr>
              <a:t>Sans consentement</a:t>
            </a:r>
            <a:endParaRPr lang="en-US" sz="1500" dirty="0"/>
          </a:p>
        </p:txBody>
      </p:sp>
      <p:sp>
        <p:nvSpPr>
          <p:cNvPr id="16" name="Text 14"/>
          <p:cNvSpPr txBox="1"/>
          <p:nvPr/>
        </p:nvSpPr>
        <p:spPr>
          <a:xfrm>
            <a:off x="7296912" y="2478024"/>
            <a:ext cx="4069080" cy="420624"/>
          </a:xfrm>
          <a:prstGeom prst="rect">
            <a:avLst/>
          </a:prstGeom>
          <a:noFill/>
          <a:ln/>
        </p:spPr>
        <p:txBody>
          <a:bodyPr wrap="square" lIns="0" tIns="0" rIns="0" bIns="0" rtlCol="0" anchor="t"/>
          <a:lstStyle/>
          <a:p>
            <a:pPr indent="0" marL="0">
              <a:buNone/>
            </a:pPr>
            <a:r>
              <a:rPr lang="en-US" sz="1250" dirty="0">
                <a:solidFill>
                  <a:srgbClr val="5C6D64"/>
                </a:solidFill>
                <a:latin typeface="Calibri" pitchFamily="34" charset="0"/>
                <a:ea typeface="Calibri" pitchFamily="34" charset="-122"/>
                <a:cs typeface="Calibri" pitchFamily="34" charset="-120"/>
              </a:rPr>
              <a:t>Personne ne nous demande l'autorisation avant la collecte.</a:t>
            </a:r>
            <a:endParaRPr lang="en-US" sz="1250" dirty="0"/>
          </a:p>
        </p:txBody>
      </p:sp>
      <p:sp>
        <p:nvSpPr>
          <p:cNvPr id="17" name="Shape 15"/>
          <p:cNvSpPr/>
          <p:nvPr/>
        </p:nvSpPr>
        <p:spPr>
          <a:xfrm>
            <a:off x="6446520" y="3136392"/>
            <a:ext cx="5148072" cy="1024128"/>
          </a:xfrm>
          <a:prstGeom prst="roundRect">
            <a:avLst>
              <a:gd name="adj" fmla="val 6250"/>
            </a:avLst>
          </a:prstGeom>
          <a:solidFill>
            <a:srgbClr val="F6E5DF"/>
          </a:solidFill>
          <a:ln/>
        </p:spPr>
      </p:sp>
      <p:sp>
        <p:nvSpPr>
          <p:cNvPr id="18" name="Shape 16"/>
          <p:cNvSpPr/>
          <p:nvPr/>
        </p:nvSpPr>
        <p:spPr>
          <a:xfrm>
            <a:off x="6675120" y="3410712"/>
            <a:ext cx="457200" cy="457200"/>
          </a:xfrm>
          <a:prstGeom prst="ellipse">
            <a:avLst/>
          </a:prstGeom>
          <a:solidFill>
            <a:srgbClr val="A33A1C"/>
          </a:solidFill>
          <a:ln/>
        </p:spPr>
      </p:sp>
      <p:sp>
        <p:nvSpPr>
          <p:cNvPr id="19" name="Text 17"/>
          <p:cNvSpPr txBox="1"/>
          <p:nvPr/>
        </p:nvSpPr>
        <p:spPr>
          <a:xfrm>
            <a:off x="6675120" y="34107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20" name="Text 18"/>
          <p:cNvSpPr txBox="1"/>
          <p:nvPr/>
        </p:nvSpPr>
        <p:spPr>
          <a:xfrm>
            <a:off x="7296912" y="3319272"/>
            <a:ext cx="4114800" cy="310896"/>
          </a:xfrm>
          <a:prstGeom prst="rect">
            <a:avLst/>
          </a:prstGeom>
          <a:noFill/>
          <a:ln/>
        </p:spPr>
        <p:txBody>
          <a:bodyPr wrap="square" lIns="0" tIns="0" rIns="0" bIns="0" rtlCol="0" anchor="ctr"/>
          <a:lstStyle/>
          <a:p>
            <a:pPr indent="0" marL="0">
              <a:buNone/>
            </a:pPr>
            <a:r>
              <a:rPr lang="en-US" sz="1500" b="1" dirty="0">
                <a:solidFill>
                  <a:srgbClr val="12211D"/>
                </a:solidFill>
                <a:latin typeface="Calibri" pitchFamily="34" charset="0"/>
                <a:ea typeface="Calibri" pitchFamily="34" charset="-122"/>
                <a:cs typeface="Calibri" pitchFamily="34" charset="-120"/>
              </a:rPr>
              <a:t>Sans transparence</a:t>
            </a:r>
            <a:endParaRPr lang="en-US" sz="1500" dirty="0"/>
          </a:p>
        </p:txBody>
      </p:sp>
      <p:sp>
        <p:nvSpPr>
          <p:cNvPr id="21" name="Text 19"/>
          <p:cNvSpPr txBox="1"/>
          <p:nvPr/>
        </p:nvSpPr>
        <p:spPr>
          <a:xfrm>
            <a:off x="7296912" y="3648456"/>
            <a:ext cx="4069080" cy="420624"/>
          </a:xfrm>
          <a:prstGeom prst="rect">
            <a:avLst/>
          </a:prstGeom>
          <a:noFill/>
          <a:ln/>
        </p:spPr>
        <p:txBody>
          <a:bodyPr wrap="square" lIns="0" tIns="0" rIns="0" bIns="0" rtlCol="0" anchor="t"/>
          <a:lstStyle/>
          <a:p>
            <a:pPr indent="0" marL="0">
              <a:buNone/>
            </a:pPr>
            <a:r>
              <a:rPr lang="en-US" sz="1250" dirty="0">
                <a:solidFill>
                  <a:srgbClr val="5C6D64"/>
                </a:solidFill>
                <a:latin typeface="Calibri" pitchFamily="34" charset="0"/>
                <a:ea typeface="Calibri" pitchFamily="34" charset="-122"/>
                <a:cs typeface="Calibri" pitchFamily="34" charset="-120"/>
              </a:rPr>
              <a:t>Nous ignorons quels modèles ont été nourris par nos contenus.</a:t>
            </a:r>
            <a:endParaRPr lang="en-US" sz="1250" dirty="0"/>
          </a:p>
        </p:txBody>
      </p:sp>
      <p:sp>
        <p:nvSpPr>
          <p:cNvPr id="22" name="Shape 20"/>
          <p:cNvSpPr/>
          <p:nvPr/>
        </p:nvSpPr>
        <p:spPr>
          <a:xfrm>
            <a:off x="6446520" y="4306824"/>
            <a:ext cx="5148072" cy="1024128"/>
          </a:xfrm>
          <a:prstGeom prst="roundRect">
            <a:avLst>
              <a:gd name="adj" fmla="val 6250"/>
            </a:avLst>
          </a:prstGeom>
          <a:solidFill>
            <a:srgbClr val="F6E5DF"/>
          </a:solidFill>
          <a:ln/>
        </p:spPr>
      </p:sp>
      <p:sp>
        <p:nvSpPr>
          <p:cNvPr id="23" name="Shape 21"/>
          <p:cNvSpPr/>
          <p:nvPr/>
        </p:nvSpPr>
        <p:spPr>
          <a:xfrm>
            <a:off x="6675120" y="4581144"/>
            <a:ext cx="457200" cy="457200"/>
          </a:xfrm>
          <a:prstGeom prst="ellipse">
            <a:avLst/>
          </a:prstGeom>
          <a:solidFill>
            <a:srgbClr val="A33A1C"/>
          </a:solidFill>
          <a:ln/>
        </p:spPr>
      </p:sp>
      <p:sp>
        <p:nvSpPr>
          <p:cNvPr id="24" name="Text 22"/>
          <p:cNvSpPr txBox="1"/>
          <p:nvPr/>
        </p:nvSpPr>
        <p:spPr>
          <a:xfrm>
            <a:off x="6675120" y="45811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25" name="Text 23"/>
          <p:cNvSpPr txBox="1"/>
          <p:nvPr/>
        </p:nvSpPr>
        <p:spPr>
          <a:xfrm>
            <a:off x="7296912" y="4489704"/>
            <a:ext cx="4114800" cy="310896"/>
          </a:xfrm>
          <a:prstGeom prst="rect">
            <a:avLst/>
          </a:prstGeom>
          <a:noFill/>
          <a:ln/>
        </p:spPr>
        <p:txBody>
          <a:bodyPr wrap="square" lIns="0" tIns="0" rIns="0" bIns="0" rtlCol="0" anchor="ctr"/>
          <a:lstStyle/>
          <a:p>
            <a:pPr indent="0" marL="0">
              <a:buNone/>
            </a:pPr>
            <a:r>
              <a:rPr lang="en-US" sz="1500" b="1" dirty="0">
                <a:solidFill>
                  <a:srgbClr val="12211D"/>
                </a:solidFill>
                <a:latin typeface="Calibri" pitchFamily="34" charset="0"/>
                <a:ea typeface="Calibri" pitchFamily="34" charset="-122"/>
                <a:cs typeface="Calibri" pitchFamily="34" charset="-120"/>
              </a:rPr>
              <a:t>Sans information</a:t>
            </a:r>
            <a:endParaRPr lang="en-US" sz="1500" dirty="0"/>
          </a:p>
        </p:txBody>
      </p:sp>
      <p:sp>
        <p:nvSpPr>
          <p:cNvPr id="26" name="Text 24"/>
          <p:cNvSpPr txBox="1"/>
          <p:nvPr/>
        </p:nvSpPr>
        <p:spPr>
          <a:xfrm>
            <a:off x="7296912" y="4818888"/>
            <a:ext cx="4069080" cy="420624"/>
          </a:xfrm>
          <a:prstGeom prst="rect">
            <a:avLst/>
          </a:prstGeom>
          <a:noFill/>
          <a:ln/>
        </p:spPr>
        <p:txBody>
          <a:bodyPr wrap="square" lIns="0" tIns="0" rIns="0" bIns="0" rtlCol="0" anchor="t"/>
          <a:lstStyle/>
          <a:p>
            <a:pPr indent="0" marL="0">
              <a:buNone/>
            </a:pPr>
            <a:r>
              <a:rPr lang="en-US" sz="1250" dirty="0">
                <a:solidFill>
                  <a:srgbClr val="5C6D64"/>
                </a:solidFill>
                <a:latin typeface="Calibri" pitchFamily="34" charset="0"/>
                <a:ea typeface="Calibri" pitchFamily="34" charset="-122"/>
                <a:cs typeface="Calibri" pitchFamily="34" charset="-120"/>
              </a:rPr>
              <a:t>Rien ne nous dit à quelles fins commerciales ils servent.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MODULE 1 · ÉCHANGE</a:t>
            </a:r>
            <a:endParaRPr lang="en-US" sz="950" dirty="0"/>
          </a:p>
        </p:txBody>
      </p:sp>
      <p:sp>
        <p:nvSpPr>
          <p:cNvPr id="3" name="Text 1"/>
          <p:cNvSpPr txBox="1"/>
          <p:nvPr/>
        </p:nvSpPr>
        <p:spPr>
          <a:xfrm>
            <a:off x="9765792" y="402336"/>
            <a:ext cx="1828800" cy="237744"/>
          </a:xfrm>
          <a:prstGeom prst="rect">
            <a:avLst/>
          </a:prstGeom>
          <a:noFill/>
          <a:ln/>
        </p:spPr>
        <p:txBody>
          <a:bodyPr wrap="square" lIns="0" tIns="0" rIns="0" bIns="0" rtlCol="0" anchor="ctr"/>
          <a:lstStyle/>
          <a:p>
            <a:pPr algn="r" indent="0" marL="0">
              <a:buNone/>
            </a:pPr>
            <a:r>
              <a:rPr lang="en-US" sz="950" b="1" dirty="0">
                <a:solidFill>
                  <a:srgbClr val="8A9A91"/>
                </a:solidFill>
                <a:latin typeface="Courier New" pitchFamily="34" charset="0"/>
                <a:ea typeface="Courier New" pitchFamily="34" charset="-122"/>
                <a:cs typeface="Courier New" pitchFamily="34" charset="-120"/>
              </a:rPr>
              <a:t>4 MIN</a:t>
            </a:r>
            <a:endParaRPr lang="en-US" sz="950" dirty="0"/>
          </a:p>
        </p:txBody>
      </p:sp>
      <p:sp>
        <p:nvSpPr>
          <p:cNvPr id="4" name="Text 2"/>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200" b="1" dirty="0">
                <a:solidFill>
                  <a:srgbClr val="12211D"/>
                </a:solidFill>
                <a:latin typeface="Cambria" pitchFamily="34" charset="0"/>
                <a:ea typeface="Cambria" pitchFamily="34" charset="-122"/>
                <a:cs typeface="Cambria" pitchFamily="34" charset="-120"/>
              </a:rPr>
              <a:t>Questions posées aux participants</a:t>
            </a:r>
            <a:endParaRPr lang="en-US" sz="3200" dirty="0"/>
          </a:p>
        </p:txBody>
      </p:sp>
      <p:sp>
        <p:nvSpPr>
          <p:cNvPr id="5" name="Text 3"/>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6" name="Text 4"/>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6</a:t>
            </a:r>
            <a:endParaRPr lang="en-US" sz="800" dirty="0"/>
          </a:p>
        </p:txBody>
      </p:sp>
      <p:sp>
        <p:nvSpPr>
          <p:cNvPr id="7" name="Shape 5"/>
          <p:cNvSpPr/>
          <p:nvPr/>
        </p:nvSpPr>
        <p:spPr>
          <a:xfrm>
            <a:off x="566928" y="1691640"/>
            <a:ext cx="5367528" cy="1691640"/>
          </a:xfrm>
          <a:prstGeom prst="roundRect">
            <a:avLst>
              <a:gd name="adj" fmla="val 3784"/>
            </a:avLst>
          </a:prstGeom>
          <a:solidFill>
            <a:srgbClr val="FFFFFF"/>
          </a:solidFill>
          <a:ln/>
          <a:effectLst>
            <a:outerShdw sx="100000" sy="100000" kx="0" ky="0" algn="bl" rotWithShape="0" blurRad="114300" dist="38100" dir="5400000">
              <a:srgbClr val="0B3D35">
                <a:alpha val="9000"/>
              </a:srgbClr>
            </a:outerShdw>
          </a:effectLst>
        </p:spPr>
      </p:sp>
      <p:sp>
        <p:nvSpPr>
          <p:cNvPr id="8" name="Shape 6"/>
          <p:cNvSpPr/>
          <p:nvPr/>
        </p:nvSpPr>
        <p:spPr>
          <a:xfrm>
            <a:off x="841248" y="1984248"/>
            <a:ext cx="566928" cy="566928"/>
          </a:xfrm>
          <a:prstGeom prst="ellipse">
            <a:avLst/>
          </a:prstGeom>
          <a:solidFill>
            <a:srgbClr val="E3EEE9"/>
          </a:solidFill>
          <a:ln/>
        </p:spPr>
      </p:sp>
      <p:sp>
        <p:nvSpPr>
          <p:cNvPr id="9" name="Text 7"/>
          <p:cNvSpPr txBox="1"/>
          <p:nvPr/>
        </p:nvSpPr>
        <p:spPr>
          <a:xfrm>
            <a:off x="841248" y="1984248"/>
            <a:ext cx="566928" cy="566928"/>
          </a:xfrm>
          <a:prstGeom prst="rect">
            <a:avLst/>
          </a:prstGeom>
          <a:noFill/>
          <a:ln/>
        </p:spPr>
        <p:txBody>
          <a:bodyPr wrap="square" lIns="0" tIns="0" rIns="0" bIns="0" rtlCol="0" anchor="ctr"/>
          <a:lstStyle/>
          <a:p>
            <a:pPr algn="ctr" indent="0" marL="0">
              <a:buNone/>
            </a:pPr>
            <a:r>
              <a:rPr lang="en-US" sz="1300" b="1" dirty="0">
                <a:solidFill>
                  <a:srgbClr val="0B5D50"/>
                </a:solidFill>
                <a:latin typeface="Courier New" pitchFamily="34" charset="0"/>
                <a:ea typeface="Courier New" pitchFamily="34" charset="-122"/>
                <a:cs typeface="Courier New" pitchFamily="34" charset="-120"/>
              </a:rPr>
              <a:t>Q1</a:t>
            </a:r>
            <a:endParaRPr lang="en-US" sz="1300" dirty="0"/>
          </a:p>
        </p:txBody>
      </p:sp>
      <p:sp>
        <p:nvSpPr>
          <p:cNvPr id="10" name="Text 8"/>
          <p:cNvSpPr txBox="1"/>
          <p:nvPr/>
        </p:nvSpPr>
        <p:spPr>
          <a:xfrm>
            <a:off x="1572768" y="2002536"/>
            <a:ext cx="4041648" cy="1097280"/>
          </a:xfrm>
          <a:prstGeom prst="rect">
            <a:avLst/>
          </a:prstGeom>
          <a:noFill/>
          <a:ln/>
        </p:spPr>
        <p:txBody>
          <a:bodyPr wrap="square" lIns="0" tIns="0" rIns="0" bIns="0" rtlCol="0" anchor="t"/>
          <a:lstStyle/>
          <a:p>
            <a:pPr indent="0" marL="0">
              <a:lnSpc>
                <a:spcPts val="2100"/>
              </a:lnSpc>
              <a:buNone/>
            </a:pPr>
            <a:r>
              <a:rPr lang="en-US" sz="1550" dirty="0">
                <a:solidFill>
                  <a:srgbClr val="12211D"/>
                </a:solidFill>
                <a:latin typeface="Cambria" pitchFamily="34" charset="0"/>
                <a:ea typeface="Cambria" pitchFamily="34" charset="-122"/>
                <a:cs typeface="Cambria" pitchFamily="34" charset="-120"/>
              </a:rPr>
              <a:t>Une photo publiée sur Internet peut-elle être utilisée pour entraîner une IA sans notre accord ?</a:t>
            </a:r>
            <a:endParaRPr lang="en-US" sz="1550" dirty="0"/>
          </a:p>
        </p:txBody>
      </p:sp>
      <p:sp>
        <p:nvSpPr>
          <p:cNvPr id="11" name="Shape 9"/>
          <p:cNvSpPr/>
          <p:nvPr/>
        </p:nvSpPr>
        <p:spPr>
          <a:xfrm>
            <a:off x="6227064" y="1691640"/>
            <a:ext cx="5367528" cy="1691640"/>
          </a:xfrm>
          <a:prstGeom prst="roundRect">
            <a:avLst>
              <a:gd name="adj" fmla="val 3784"/>
            </a:avLst>
          </a:prstGeom>
          <a:solidFill>
            <a:srgbClr val="FFFFFF"/>
          </a:solidFill>
          <a:ln/>
          <a:effectLst>
            <a:outerShdw sx="100000" sy="100000" kx="0" ky="0" algn="bl" rotWithShape="0" blurRad="114300" dist="38100" dir="5400000">
              <a:srgbClr val="0B3D35">
                <a:alpha val="9000"/>
              </a:srgbClr>
            </a:outerShdw>
          </a:effectLst>
        </p:spPr>
      </p:sp>
      <p:sp>
        <p:nvSpPr>
          <p:cNvPr id="12" name="Shape 10"/>
          <p:cNvSpPr/>
          <p:nvPr/>
        </p:nvSpPr>
        <p:spPr>
          <a:xfrm>
            <a:off x="6501384" y="1984248"/>
            <a:ext cx="566928" cy="566928"/>
          </a:xfrm>
          <a:prstGeom prst="ellipse">
            <a:avLst/>
          </a:prstGeom>
          <a:solidFill>
            <a:srgbClr val="E3EEE9"/>
          </a:solidFill>
          <a:ln/>
        </p:spPr>
      </p:sp>
      <p:sp>
        <p:nvSpPr>
          <p:cNvPr id="13" name="Text 11"/>
          <p:cNvSpPr txBox="1"/>
          <p:nvPr/>
        </p:nvSpPr>
        <p:spPr>
          <a:xfrm>
            <a:off x="6501384" y="1984248"/>
            <a:ext cx="566928" cy="566928"/>
          </a:xfrm>
          <a:prstGeom prst="rect">
            <a:avLst/>
          </a:prstGeom>
          <a:noFill/>
          <a:ln/>
        </p:spPr>
        <p:txBody>
          <a:bodyPr wrap="square" lIns="0" tIns="0" rIns="0" bIns="0" rtlCol="0" anchor="ctr"/>
          <a:lstStyle/>
          <a:p>
            <a:pPr algn="ctr" indent="0" marL="0">
              <a:buNone/>
            </a:pPr>
            <a:r>
              <a:rPr lang="en-US" sz="1300" b="1" dirty="0">
                <a:solidFill>
                  <a:srgbClr val="0B5D50"/>
                </a:solidFill>
                <a:latin typeface="Courier New" pitchFamily="34" charset="0"/>
                <a:ea typeface="Courier New" pitchFamily="34" charset="-122"/>
                <a:cs typeface="Courier New" pitchFamily="34" charset="-120"/>
              </a:rPr>
              <a:t>Q2</a:t>
            </a:r>
            <a:endParaRPr lang="en-US" sz="1300" dirty="0"/>
          </a:p>
        </p:txBody>
      </p:sp>
      <p:sp>
        <p:nvSpPr>
          <p:cNvPr id="14" name="Text 12"/>
          <p:cNvSpPr txBox="1"/>
          <p:nvPr/>
        </p:nvSpPr>
        <p:spPr>
          <a:xfrm>
            <a:off x="7232904" y="2002536"/>
            <a:ext cx="4041648" cy="1097280"/>
          </a:xfrm>
          <a:prstGeom prst="rect">
            <a:avLst/>
          </a:prstGeom>
          <a:noFill/>
          <a:ln/>
        </p:spPr>
        <p:txBody>
          <a:bodyPr wrap="square" lIns="0" tIns="0" rIns="0" bIns="0" rtlCol="0" anchor="t"/>
          <a:lstStyle/>
          <a:p>
            <a:pPr indent="0" marL="0">
              <a:lnSpc>
                <a:spcPts val="2100"/>
              </a:lnSpc>
              <a:buNone/>
            </a:pPr>
            <a:r>
              <a:rPr lang="en-US" sz="1550" dirty="0">
                <a:solidFill>
                  <a:srgbClr val="12211D"/>
                </a:solidFill>
                <a:latin typeface="Cambria" pitchFamily="34" charset="0"/>
                <a:ea typeface="Cambria" pitchFamily="34" charset="-122"/>
                <a:cs typeface="Cambria" pitchFamily="34" charset="-120"/>
              </a:rPr>
              <a:t>Qui possède les données que nous publions sur les réseaux sociaux ?</a:t>
            </a:r>
            <a:endParaRPr lang="en-US" sz="1550" dirty="0"/>
          </a:p>
        </p:txBody>
      </p:sp>
      <p:sp>
        <p:nvSpPr>
          <p:cNvPr id="15" name="Shape 13"/>
          <p:cNvSpPr/>
          <p:nvPr/>
        </p:nvSpPr>
        <p:spPr>
          <a:xfrm>
            <a:off x="566928" y="3657600"/>
            <a:ext cx="5367528" cy="1691640"/>
          </a:xfrm>
          <a:prstGeom prst="roundRect">
            <a:avLst>
              <a:gd name="adj" fmla="val 3784"/>
            </a:avLst>
          </a:prstGeom>
          <a:solidFill>
            <a:srgbClr val="FFFFFF"/>
          </a:solidFill>
          <a:ln/>
          <a:effectLst>
            <a:outerShdw sx="100000" sy="100000" kx="0" ky="0" algn="bl" rotWithShape="0" blurRad="114300" dist="38100" dir="5400000">
              <a:srgbClr val="0B3D35">
                <a:alpha val="9000"/>
              </a:srgbClr>
            </a:outerShdw>
          </a:effectLst>
        </p:spPr>
      </p:sp>
      <p:sp>
        <p:nvSpPr>
          <p:cNvPr id="16" name="Shape 14"/>
          <p:cNvSpPr/>
          <p:nvPr/>
        </p:nvSpPr>
        <p:spPr>
          <a:xfrm>
            <a:off x="841248" y="3950208"/>
            <a:ext cx="566928" cy="566928"/>
          </a:xfrm>
          <a:prstGeom prst="ellipse">
            <a:avLst/>
          </a:prstGeom>
          <a:solidFill>
            <a:srgbClr val="E3EEE9"/>
          </a:solidFill>
          <a:ln/>
        </p:spPr>
      </p:sp>
      <p:sp>
        <p:nvSpPr>
          <p:cNvPr id="17" name="Text 15"/>
          <p:cNvSpPr txBox="1"/>
          <p:nvPr/>
        </p:nvSpPr>
        <p:spPr>
          <a:xfrm>
            <a:off x="841248" y="3950208"/>
            <a:ext cx="566928" cy="566928"/>
          </a:xfrm>
          <a:prstGeom prst="rect">
            <a:avLst/>
          </a:prstGeom>
          <a:noFill/>
          <a:ln/>
        </p:spPr>
        <p:txBody>
          <a:bodyPr wrap="square" lIns="0" tIns="0" rIns="0" bIns="0" rtlCol="0" anchor="ctr"/>
          <a:lstStyle/>
          <a:p>
            <a:pPr algn="ctr" indent="0" marL="0">
              <a:buNone/>
            </a:pPr>
            <a:r>
              <a:rPr lang="en-US" sz="1300" b="1" dirty="0">
                <a:solidFill>
                  <a:srgbClr val="0B5D50"/>
                </a:solidFill>
                <a:latin typeface="Courier New" pitchFamily="34" charset="0"/>
                <a:ea typeface="Courier New" pitchFamily="34" charset="-122"/>
                <a:cs typeface="Courier New" pitchFamily="34" charset="-120"/>
              </a:rPr>
              <a:t>Q3</a:t>
            </a:r>
            <a:endParaRPr lang="en-US" sz="1300" dirty="0"/>
          </a:p>
        </p:txBody>
      </p:sp>
      <p:sp>
        <p:nvSpPr>
          <p:cNvPr id="18" name="Text 16"/>
          <p:cNvSpPr txBox="1"/>
          <p:nvPr/>
        </p:nvSpPr>
        <p:spPr>
          <a:xfrm>
            <a:off x="1572768" y="3968496"/>
            <a:ext cx="4041648" cy="1097280"/>
          </a:xfrm>
          <a:prstGeom prst="rect">
            <a:avLst/>
          </a:prstGeom>
          <a:noFill/>
          <a:ln/>
        </p:spPr>
        <p:txBody>
          <a:bodyPr wrap="square" lIns="0" tIns="0" rIns="0" bIns="0" rtlCol="0" anchor="t"/>
          <a:lstStyle/>
          <a:p>
            <a:pPr indent="0" marL="0">
              <a:lnSpc>
                <a:spcPts val="2100"/>
              </a:lnSpc>
              <a:buNone/>
            </a:pPr>
            <a:r>
              <a:rPr lang="en-US" sz="1550" dirty="0">
                <a:solidFill>
                  <a:srgbClr val="12211D"/>
                </a:solidFill>
                <a:latin typeface="Cambria" pitchFamily="34" charset="0"/>
                <a:ea typeface="Cambria" pitchFamily="34" charset="-122"/>
                <a:cs typeface="Cambria" pitchFamily="34" charset="-120"/>
              </a:rPr>
              <a:t>Peut-on utiliser une conversation, une voix ou une image sans le consentement de la personne concernée ?</a:t>
            </a:r>
            <a:endParaRPr lang="en-US" sz="1550" dirty="0"/>
          </a:p>
        </p:txBody>
      </p:sp>
      <p:sp>
        <p:nvSpPr>
          <p:cNvPr id="19" name="Shape 17"/>
          <p:cNvSpPr/>
          <p:nvPr/>
        </p:nvSpPr>
        <p:spPr>
          <a:xfrm>
            <a:off x="6227064" y="3657600"/>
            <a:ext cx="5367528" cy="1691640"/>
          </a:xfrm>
          <a:prstGeom prst="roundRect">
            <a:avLst>
              <a:gd name="adj" fmla="val 3784"/>
            </a:avLst>
          </a:prstGeom>
          <a:solidFill>
            <a:srgbClr val="FFFFFF"/>
          </a:solidFill>
          <a:ln/>
          <a:effectLst>
            <a:outerShdw sx="100000" sy="100000" kx="0" ky="0" algn="bl" rotWithShape="0" blurRad="114300" dist="38100" dir="5400000">
              <a:srgbClr val="0B3D35">
                <a:alpha val="9000"/>
              </a:srgbClr>
            </a:outerShdw>
          </a:effectLst>
        </p:spPr>
      </p:sp>
      <p:sp>
        <p:nvSpPr>
          <p:cNvPr id="20" name="Shape 18"/>
          <p:cNvSpPr/>
          <p:nvPr/>
        </p:nvSpPr>
        <p:spPr>
          <a:xfrm>
            <a:off x="6501384" y="3950208"/>
            <a:ext cx="566928" cy="566928"/>
          </a:xfrm>
          <a:prstGeom prst="ellipse">
            <a:avLst/>
          </a:prstGeom>
          <a:solidFill>
            <a:srgbClr val="E3EEE9"/>
          </a:solidFill>
          <a:ln/>
        </p:spPr>
      </p:sp>
      <p:sp>
        <p:nvSpPr>
          <p:cNvPr id="21" name="Text 19"/>
          <p:cNvSpPr txBox="1"/>
          <p:nvPr/>
        </p:nvSpPr>
        <p:spPr>
          <a:xfrm>
            <a:off x="6501384" y="3950208"/>
            <a:ext cx="566928" cy="566928"/>
          </a:xfrm>
          <a:prstGeom prst="rect">
            <a:avLst/>
          </a:prstGeom>
          <a:noFill/>
          <a:ln/>
        </p:spPr>
        <p:txBody>
          <a:bodyPr wrap="square" lIns="0" tIns="0" rIns="0" bIns="0" rtlCol="0" anchor="ctr"/>
          <a:lstStyle/>
          <a:p>
            <a:pPr algn="ctr" indent="0" marL="0">
              <a:buNone/>
            </a:pPr>
            <a:r>
              <a:rPr lang="en-US" sz="1300" b="1" dirty="0">
                <a:solidFill>
                  <a:srgbClr val="0B5D50"/>
                </a:solidFill>
                <a:latin typeface="Courier New" pitchFamily="34" charset="0"/>
                <a:ea typeface="Courier New" pitchFamily="34" charset="-122"/>
                <a:cs typeface="Courier New" pitchFamily="34" charset="-120"/>
              </a:rPr>
              <a:t>Q4</a:t>
            </a:r>
            <a:endParaRPr lang="en-US" sz="1300" dirty="0"/>
          </a:p>
        </p:txBody>
      </p:sp>
      <p:sp>
        <p:nvSpPr>
          <p:cNvPr id="22" name="Text 20"/>
          <p:cNvSpPr txBox="1"/>
          <p:nvPr/>
        </p:nvSpPr>
        <p:spPr>
          <a:xfrm>
            <a:off x="7232904" y="3968496"/>
            <a:ext cx="4041648" cy="1097280"/>
          </a:xfrm>
          <a:prstGeom prst="rect">
            <a:avLst/>
          </a:prstGeom>
          <a:noFill/>
          <a:ln/>
        </p:spPr>
        <p:txBody>
          <a:bodyPr wrap="square" lIns="0" tIns="0" rIns="0" bIns="0" rtlCol="0" anchor="t"/>
          <a:lstStyle/>
          <a:p>
            <a:pPr indent="0" marL="0">
              <a:lnSpc>
                <a:spcPts val="2100"/>
              </a:lnSpc>
              <a:buNone/>
            </a:pPr>
            <a:r>
              <a:rPr lang="en-US" sz="1550" dirty="0">
                <a:solidFill>
                  <a:srgbClr val="12211D"/>
                </a:solidFill>
                <a:latin typeface="Cambria" pitchFamily="34" charset="0"/>
                <a:ea typeface="Cambria" pitchFamily="34" charset="-122"/>
                <a:cs typeface="Cambria" pitchFamily="34" charset="-120"/>
              </a:rPr>
              <a:t>Comment concilier innovation technologique et respect de la vie privée ?</a:t>
            </a:r>
            <a:endParaRPr lang="en-US" sz="1550" dirty="0"/>
          </a:p>
        </p:txBody>
      </p:sp>
      <p:sp>
        <p:nvSpPr>
          <p:cNvPr id="23" name="Shape 21"/>
          <p:cNvSpPr/>
          <p:nvPr/>
        </p:nvSpPr>
        <p:spPr>
          <a:xfrm>
            <a:off x="566928" y="5468112"/>
            <a:ext cx="11027664" cy="658368"/>
          </a:xfrm>
          <a:prstGeom prst="roundRect">
            <a:avLst>
              <a:gd name="adj" fmla="val 9722"/>
            </a:avLst>
          </a:prstGeom>
          <a:solidFill>
            <a:srgbClr val="F6EDD8"/>
          </a:solidFill>
          <a:ln/>
        </p:spPr>
      </p:sp>
      <p:sp>
        <p:nvSpPr>
          <p:cNvPr id="24" name="Text 22"/>
          <p:cNvSpPr txBox="1"/>
          <p:nvPr/>
        </p:nvSpPr>
        <p:spPr>
          <a:xfrm>
            <a:off x="841248" y="5468112"/>
            <a:ext cx="10479024" cy="658368"/>
          </a:xfrm>
          <a:prstGeom prst="rect">
            <a:avLst/>
          </a:prstGeom>
          <a:noFill/>
          <a:ln/>
        </p:spPr>
        <p:txBody>
          <a:bodyPr wrap="square" lIns="0" tIns="0" rIns="0" bIns="0" rtlCol="0" anchor="ctr"/>
          <a:lstStyle/>
          <a:p>
            <a:pPr indent="0" marL="0">
              <a:buNone/>
            </a:pPr>
            <a:r>
              <a:rPr lang="en-US" sz="1300" i="1" dirty="0">
                <a:solidFill>
                  <a:srgbClr val="12211D"/>
                </a:solidFill>
                <a:latin typeface="Calibri" pitchFamily="34" charset="0"/>
                <a:ea typeface="Calibri" pitchFamily="34" charset="-122"/>
                <a:cs typeface="Calibri" pitchFamily="34" charset="-120"/>
              </a:rPr>
              <a:t>Laisser répondre avant de trancher. Objectif : faire émerger l'idée que l'accessibilité technique n'est pas une autorisation.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5D50"/>
        </a:solidFill>
      </p:bgPr>
    </p:bg>
    <p:spTree>
      <p:nvGrpSpPr>
        <p:cNvPr id="1" name=""/>
        <p:cNvGrpSpPr/>
        <p:nvPr/>
      </p:nvGrpSpPr>
      <p:grpSpPr>
        <a:xfrm>
          <a:off x="0" y="0"/>
          <a:ext cx="0" cy="0"/>
          <a:chOff x="0" y="0"/>
          <a:chExt cx="0" cy="0"/>
        </a:xfrm>
      </p:grpSpPr>
      <p:sp>
        <p:nvSpPr>
          <p:cNvPr id="2" name="Shape 0"/>
          <p:cNvSpPr/>
          <p:nvPr/>
        </p:nvSpPr>
        <p:spPr>
          <a:xfrm>
            <a:off x="-1463040" y="3931920"/>
            <a:ext cx="4389120" cy="4389120"/>
          </a:xfrm>
          <a:prstGeom prst="ellipse">
            <a:avLst/>
          </a:prstGeom>
          <a:solidFill>
            <a:srgbClr val="0B3D35">
              <a:alpha val="55000"/>
            </a:srgbClr>
          </a:solidFill>
          <a:ln/>
        </p:spPr>
      </p:sp>
      <p:sp>
        <p:nvSpPr>
          <p:cNvPr id="3" name="Text 1"/>
          <p:cNvSpPr txBox="1"/>
          <p:nvPr/>
        </p:nvSpPr>
        <p:spPr>
          <a:xfrm>
            <a:off x="566928" y="1554480"/>
            <a:ext cx="5486400" cy="274320"/>
          </a:xfrm>
          <a:prstGeom prst="rect">
            <a:avLst/>
          </a:prstGeom>
          <a:noFill/>
          <a:ln/>
        </p:spPr>
        <p:txBody>
          <a:bodyPr wrap="square" lIns="0" tIns="0" rIns="0" bIns="0" rtlCol="0" anchor="ctr"/>
          <a:lstStyle/>
          <a:p>
            <a:pPr indent="0" marL="0">
              <a:buNone/>
            </a:pPr>
            <a:r>
              <a:rPr lang="en-US" sz="1100" b="1" spc="300" kern="0" dirty="0">
                <a:solidFill>
                  <a:srgbClr val="D9A521"/>
                </a:solidFill>
                <a:latin typeface="Courier New" pitchFamily="34" charset="0"/>
                <a:ea typeface="Courier New" pitchFamily="34" charset="-122"/>
                <a:cs typeface="Courier New" pitchFamily="34" charset="-120"/>
              </a:rPr>
              <a:t>PRINCIPE DIRECTEUR</a:t>
            </a:r>
            <a:endParaRPr lang="en-US" sz="1100" dirty="0"/>
          </a:p>
        </p:txBody>
      </p:sp>
      <p:sp>
        <p:nvSpPr>
          <p:cNvPr id="4" name="Text 2"/>
          <p:cNvSpPr txBox="1"/>
          <p:nvPr/>
        </p:nvSpPr>
        <p:spPr>
          <a:xfrm>
            <a:off x="566928" y="2194560"/>
            <a:ext cx="10424160" cy="1554480"/>
          </a:xfrm>
          <a:prstGeom prst="rect">
            <a:avLst/>
          </a:prstGeom>
          <a:noFill/>
          <a:ln/>
        </p:spPr>
        <p:txBody>
          <a:bodyPr wrap="square" lIns="0" tIns="0" rIns="0" bIns="0" rtlCol="0" anchor="t"/>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Ce qui est public sur Internet n'est pas libre de droit.</a:t>
            </a:r>
            <a:endParaRPr lang="en-US" sz="4400" dirty="0"/>
          </a:p>
        </p:txBody>
      </p:sp>
      <p:sp>
        <p:nvSpPr>
          <p:cNvPr id="5" name="Text 3"/>
          <p:cNvSpPr txBox="1"/>
          <p:nvPr/>
        </p:nvSpPr>
        <p:spPr>
          <a:xfrm>
            <a:off x="566928" y="4023360"/>
            <a:ext cx="8778240" cy="731520"/>
          </a:xfrm>
          <a:prstGeom prst="rect">
            <a:avLst/>
          </a:prstGeom>
          <a:noFill/>
          <a:ln/>
        </p:spPr>
        <p:txBody>
          <a:bodyPr wrap="square" lIns="0" tIns="0" rIns="0" bIns="0" rtlCol="0" anchor="t"/>
          <a:lstStyle/>
          <a:p>
            <a:pPr indent="0" marL="0">
              <a:buNone/>
            </a:pPr>
            <a:r>
              <a:rPr lang="en-US" sz="1600" dirty="0">
                <a:solidFill>
                  <a:srgbClr val="9FBFB5"/>
                </a:solidFill>
                <a:latin typeface="Calibri" pitchFamily="34" charset="0"/>
                <a:ea typeface="Calibri" pitchFamily="34" charset="-122"/>
                <a:cs typeface="Calibri" pitchFamily="34" charset="-120"/>
              </a:rPr>
              <a:t>Qu'une donnée soit techniquement accessible ne vaut ni autorisation juridique, ni consentement de la personne concernée.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MODULE 1 · CADRE JURIDIQUE</a:t>
            </a:r>
            <a:endParaRPr lang="en-US" sz="950" dirty="0"/>
          </a:p>
        </p:txBody>
      </p:sp>
      <p:sp>
        <p:nvSpPr>
          <p:cNvPr id="3" name="Text 1"/>
          <p:cNvSpPr txBox="1"/>
          <p:nvPr/>
        </p:nvSpPr>
        <p:spPr>
          <a:xfrm>
            <a:off x="9765792" y="402336"/>
            <a:ext cx="1828800" cy="237744"/>
          </a:xfrm>
          <a:prstGeom prst="rect">
            <a:avLst/>
          </a:prstGeom>
          <a:noFill/>
          <a:ln/>
        </p:spPr>
        <p:txBody>
          <a:bodyPr wrap="square" lIns="0" tIns="0" rIns="0" bIns="0" rtlCol="0" anchor="ctr"/>
          <a:lstStyle/>
          <a:p>
            <a:pPr algn="r" indent="0" marL="0">
              <a:buNone/>
            </a:pPr>
            <a:r>
              <a:rPr lang="en-US" sz="950" b="1" dirty="0">
                <a:solidFill>
                  <a:srgbClr val="8A9A91"/>
                </a:solidFill>
                <a:latin typeface="Courier New" pitchFamily="34" charset="0"/>
                <a:ea typeface="Courier New" pitchFamily="34" charset="-122"/>
                <a:cs typeface="Courier New" pitchFamily="34" charset="-120"/>
              </a:rPr>
              <a:t>3 MIN</a:t>
            </a:r>
            <a:endParaRPr lang="en-US" sz="950" dirty="0"/>
          </a:p>
        </p:txBody>
      </p:sp>
      <p:sp>
        <p:nvSpPr>
          <p:cNvPr id="4" name="Text 2"/>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000" b="1" dirty="0">
                <a:solidFill>
                  <a:srgbClr val="12211D"/>
                </a:solidFill>
                <a:latin typeface="Cambria" pitchFamily="34" charset="0"/>
                <a:ea typeface="Cambria" pitchFamily="34" charset="-122"/>
                <a:cs typeface="Cambria" pitchFamily="34" charset="-120"/>
              </a:rPr>
              <a:t>L'intérêt légitime : un test en trois étapes</a:t>
            </a:r>
            <a:endParaRPr lang="en-US" sz="3000" dirty="0"/>
          </a:p>
        </p:txBody>
      </p:sp>
      <p:sp>
        <p:nvSpPr>
          <p:cNvPr id="5" name="Text 3"/>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6" name="Text 4"/>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8</a:t>
            </a:r>
            <a:endParaRPr lang="en-US" sz="800" dirty="0"/>
          </a:p>
        </p:txBody>
      </p:sp>
      <p:sp>
        <p:nvSpPr>
          <p:cNvPr id="7" name="Text 5"/>
          <p:cNvSpPr txBox="1"/>
          <p:nvPr/>
        </p:nvSpPr>
        <p:spPr>
          <a:xfrm>
            <a:off x="566928" y="1481328"/>
            <a:ext cx="10241280" cy="457200"/>
          </a:xfrm>
          <a:prstGeom prst="rect">
            <a:avLst/>
          </a:prstGeom>
          <a:noFill/>
          <a:ln/>
        </p:spPr>
        <p:txBody>
          <a:bodyPr wrap="square" lIns="0" tIns="0" rIns="0" bIns="0" rtlCol="0" anchor="t"/>
          <a:lstStyle/>
          <a:p>
            <a:pPr indent="0" marL="0">
              <a:buNone/>
            </a:pPr>
            <a:r>
              <a:rPr lang="en-US" sz="1400" dirty="0">
                <a:solidFill>
                  <a:srgbClr val="5C6D64"/>
                </a:solidFill>
                <a:latin typeface="Calibri" pitchFamily="34" charset="0"/>
                <a:ea typeface="Calibri" pitchFamily="34" charset="-122"/>
                <a:cs typeface="Calibri" pitchFamily="34" charset="-120"/>
              </a:rPr>
              <a:t>En Europe, un développeur qui invoque l'intérêt légitime pour aspirer des données personnelles doit passer ce test — et le documenter.</a:t>
            </a:r>
            <a:endParaRPr lang="en-US" sz="1400" dirty="0"/>
          </a:p>
        </p:txBody>
      </p:sp>
      <p:sp>
        <p:nvSpPr>
          <p:cNvPr id="8" name="Shape 6"/>
          <p:cNvSpPr/>
          <p:nvPr/>
        </p:nvSpPr>
        <p:spPr>
          <a:xfrm>
            <a:off x="566928" y="2148840"/>
            <a:ext cx="3493008" cy="3035808"/>
          </a:xfrm>
          <a:prstGeom prst="roundRect">
            <a:avLst>
              <a:gd name="adj" fmla="val 2108"/>
            </a:avLst>
          </a:prstGeom>
          <a:solidFill>
            <a:srgbClr val="FFFFFF"/>
          </a:solidFill>
          <a:ln/>
          <a:effectLst>
            <a:outerShdw sx="100000" sy="100000" kx="0" ky="0" algn="bl" rotWithShape="0" blurRad="114300" dist="38100" dir="5400000">
              <a:srgbClr val="0B3D35">
                <a:alpha val="9000"/>
              </a:srgbClr>
            </a:outerShdw>
          </a:effectLst>
        </p:spPr>
      </p:sp>
      <p:sp>
        <p:nvSpPr>
          <p:cNvPr id="9" name="Shape 7"/>
          <p:cNvSpPr/>
          <p:nvPr/>
        </p:nvSpPr>
        <p:spPr>
          <a:xfrm>
            <a:off x="859536" y="2450592"/>
            <a:ext cx="585216" cy="585216"/>
          </a:xfrm>
          <a:prstGeom prst="ellipse">
            <a:avLst/>
          </a:prstGeom>
          <a:solidFill>
            <a:srgbClr val="F6EDD8"/>
          </a:solidFill>
          <a:ln/>
        </p:spPr>
      </p:sp>
      <p:sp>
        <p:nvSpPr>
          <p:cNvPr id="10" name="Text 8"/>
          <p:cNvSpPr txBox="1"/>
          <p:nvPr/>
        </p:nvSpPr>
        <p:spPr>
          <a:xfrm>
            <a:off x="859536" y="2450592"/>
            <a:ext cx="585216" cy="585216"/>
          </a:xfrm>
          <a:prstGeom prst="rect">
            <a:avLst/>
          </a:prstGeom>
          <a:noFill/>
          <a:ln/>
        </p:spPr>
        <p:txBody>
          <a:bodyPr wrap="square" lIns="0" tIns="0" rIns="0" bIns="0" rtlCol="0" anchor="ctr"/>
          <a:lstStyle/>
          <a:p>
            <a:pPr algn="ctr" indent="0" marL="0">
              <a:buNone/>
            </a:pPr>
            <a:r>
              <a:rPr lang="en-US" sz="1300" b="1" dirty="0">
                <a:solidFill>
                  <a:srgbClr val="B4820F"/>
                </a:solidFill>
                <a:latin typeface="Courier New" pitchFamily="34" charset="0"/>
                <a:ea typeface="Courier New" pitchFamily="34" charset="-122"/>
                <a:cs typeface="Courier New" pitchFamily="34" charset="-120"/>
              </a:rPr>
              <a:t>01</a:t>
            </a:r>
            <a:endParaRPr lang="en-US" sz="1300" dirty="0"/>
          </a:p>
        </p:txBody>
      </p:sp>
      <p:sp>
        <p:nvSpPr>
          <p:cNvPr id="11" name="Text 9"/>
          <p:cNvSpPr txBox="1"/>
          <p:nvPr/>
        </p:nvSpPr>
        <p:spPr>
          <a:xfrm>
            <a:off x="859536" y="3200400"/>
            <a:ext cx="2907792" cy="548640"/>
          </a:xfrm>
          <a:prstGeom prst="rect">
            <a:avLst/>
          </a:prstGeom>
          <a:noFill/>
          <a:ln/>
        </p:spPr>
        <p:txBody>
          <a:bodyPr wrap="square" lIns="0" tIns="0" rIns="0" bIns="0" rtlCol="0" anchor="t"/>
          <a:lstStyle/>
          <a:p>
            <a:pPr indent="0" marL="0">
              <a:buNone/>
            </a:pPr>
            <a:r>
              <a:rPr lang="en-US" sz="1800" b="1" dirty="0">
                <a:solidFill>
                  <a:srgbClr val="12211D"/>
                </a:solidFill>
                <a:latin typeface="Cambria" pitchFamily="34" charset="0"/>
                <a:ea typeface="Cambria" pitchFamily="34" charset="-122"/>
                <a:cs typeface="Cambria" pitchFamily="34" charset="-120"/>
              </a:rPr>
              <a:t>Légalité et clarté</a:t>
            </a:r>
            <a:endParaRPr lang="en-US" sz="1800" dirty="0"/>
          </a:p>
        </p:txBody>
      </p:sp>
      <p:sp>
        <p:nvSpPr>
          <p:cNvPr id="12" name="Text 10"/>
          <p:cNvSpPr txBox="1"/>
          <p:nvPr/>
        </p:nvSpPr>
        <p:spPr>
          <a:xfrm>
            <a:off x="859536" y="3794760"/>
            <a:ext cx="2907792" cy="1280160"/>
          </a:xfrm>
          <a:prstGeom prst="rect">
            <a:avLst/>
          </a:prstGeom>
          <a:noFill/>
          <a:ln/>
        </p:spPr>
        <p:txBody>
          <a:bodyPr wrap="square" lIns="0" tIns="0" rIns="0" bIns="0" rtlCol="0" anchor="t"/>
          <a:lstStyle/>
          <a:p>
            <a:pPr indent="0" marL="0">
              <a:lnSpc>
                <a:spcPts val="1800"/>
              </a:lnSpc>
              <a:buNone/>
            </a:pPr>
            <a:r>
              <a:rPr lang="en-US" sz="1250" dirty="0">
                <a:solidFill>
                  <a:srgbClr val="5C6D64"/>
                </a:solidFill>
                <a:latin typeface="Calibri" pitchFamily="34" charset="0"/>
                <a:ea typeface="Calibri" pitchFamily="34" charset="-122"/>
                <a:cs typeface="Calibri" pitchFamily="34" charset="-120"/>
              </a:rPr>
              <a:t>L'objectif poursuivi doit être réel et précisément défini, non spéculatif.</a:t>
            </a:r>
            <a:endParaRPr lang="en-US" sz="1250" dirty="0"/>
          </a:p>
        </p:txBody>
      </p:sp>
      <p:sp>
        <p:nvSpPr>
          <p:cNvPr id="13" name="Shape 11"/>
          <p:cNvSpPr/>
          <p:nvPr/>
        </p:nvSpPr>
        <p:spPr>
          <a:xfrm>
            <a:off x="4334256" y="2148840"/>
            <a:ext cx="3493008" cy="3035808"/>
          </a:xfrm>
          <a:prstGeom prst="roundRect">
            <a:avLst>
              <a:gd name="adj" fmla="val 2108"/>
            </a:avLst>
          </a:prstGeom>
          <a:solidFill>
            <a:srgbClr val="FFFFFF"/>
          </a:solidFill>
          <a:ln/>
          <a:effectLst>
            <a:outerShdw sx="100000" sy="100000" kx="0" ky="0" algn="bl" rotWithShape="0" blurRad="114300" dist="38100" dir="5400000">
              <a:srgbClr val="0B3D35">
                <a:alpha val="9000"/>
              </a:srgbClr>
            </a:outerShdw>
          </a:effectLst>
        </p:spPr>
      </p:sp>
      <p:sp>
        <p:nvSpPr>
          <p:cNvPr id="14" name="Shape 12"/>
          <p:cNvSpPr/>
          <p:nvPr/>
        </p:nvSpPr>
        <p:spPr>
          <a:xfrm>
            <a:off x="4626864" y="2450592"/>
            <a:ext cx="585216" cy="585216"/>
          </a:xfrm>
          <a:prstGeom prst="ellipse">
            <a:avLst/>
          </a:prstGeom>
          <a:solidFill>
            <a:srgbClr val="F6EDD8"/>
          </a:solidFill>
          <a:ln/>
        </p:spPr>
      </p:sp>
      <p:sp>
        <p:nvSpPr>
          <p:cNvPr id="15" name="Text 13"/>
          <p:cNvSpPr txBox="1"/>
          <p:nvPr/>
        </p:nvSpPr>
        <p:spPr>
          <a:xfrm>
            <a:off x="4626864" y="2450592"/>
            <a:ext cx="585216" cy="585216"/>
          </a:xfrm>
          <a:prstGeom prst="rect">
            <a:avLst/>
          </a:prstGeom>
          <a:noFill/>
          <a:ln/>
        </p:spPr>
        <p:txBody>
          <a:bodyPr wrap="square" lIns="0" tIns="0" rIns="0" bIns="0" rtlCol="0" anchor="ctr"/>
          <a:lstStyle/>
          <a:p>
            <a:pPr algn="ctr" indent="0" marL="0">
              <a:buNone/>
            </a:pPr>
            <a:r>
              <a:rPr lang="en-US" sz="1300" b="1" dirty="0">
                <a:solidFill>
                  <a:srgbClr val="B4820F"/>
                </a:solidFill>
                <a:latin typeface="Courier New" pitchFamily="34" charset="0"/>
                <a:ea typeface="Courier New" pitchFamily="34" charset="-122"/>
                <a:cs typeface="Courier New" pitchFamily="34" charset="-120"/>
              </a:rPr>
              <a:t>02</a:t>
            </a:r>
            <a:endParaRPr lang="en-US" sz="1300" dirty="0"/>
          </a:p>
        </p:txBody>
      </p:sp>
      <p:sp>
        <p:nvSpPr>
          <p:cNvPr id="16" name="Text 14"/>
          <p:cNvSpPr txBox="1"/>
          <p:nvPr/>
        </p:nvSpPr>
        <p:spPr>
          <a:xfrm>
            <a:off x="4626864" y="3200400"/>
            <a:ext cx="2907792" cy="548640"/>
          </a:xfrm>
          <a:prstGeom prst="rect">
            <a:avLst/>
          </a:prstGeom>
          <a:noFill/>
          <a:ln/>
        </p:spPr>
        <p:txBody>
          <a:bodyPr wrap="square" lIns="0" tIns="0" rIns="0" bIns="0" rtlCol="0" anchor="t"/>
          <a:lstStyle/>
          <a:p>
            <a:pPr indent="0" marL="0">
              <a:buNone/>
            </a:pPr>
            <a:r>
              <a:rPr lang="en-US" sz="1800" b="1" dirty="0">
                <a:solidFill>
                  <a:srgbClr val="12211D"/>
                </a:solidFill>
                <a:latin typeface="Cambria" pitchFamily="34" charset="0"/>
                <a:ea typeface="Cambria" pitchFamily="34" charset="-122"/>
                <a:cs typeface="Cambria" pitchFamily="34" charset="-120"/>
              </a:rPr>
              <a:t>Nécessité</a:t>
            </a:r>
            <a:endParaRPr lang="en-US" sz="1800" dirty="0"/>
          </a:p>
        </p:txBody>
      </p:sp>
      <p:sp>
        <p:nvSpPr>
          <p:cNvPr id="17" name="Text 15"/>
          <p:cNvSpPr txBox="1"/>
          <p:nvPr/>
        </p:nvSpPr>
        <p:spPr>
          <a:xfrm>
            <a:off x="4626864" y="3794760"/>
            <a:ext cx="2907792" cy="1280160"/>
          </a:xfrm>
          <a:prstGeom prst="rect">
            <a:avLst/>
          </a:prstGeom>
          <a:noFill/>
          <a:ln/>
        </p:spPr>
        <p:txBody>
          <a:bodyPr wrap="square" lIns="0" tIns="0" rIns="0" bIns="0" rtlCol="0" anchor="t"/>
          <a:lstStyle/>
          <a:p>
            <a:pPr indent="0" marL="0">
              <a:lnSpc>
                <a:spcPts val="1800"/>
              </a:lnSpc>
              <a:buNone/>
            </a:pPr>
            <a:r>
              <a:rPr lang="en-US" sz="1250" dirty="0">
                <a:solidFill>
                  <a:srgbClr val="5C6D64"/>
                </a:solidFill>
                <a:latin typeface="Calibri" pitchFamily="34" charset="0"/>
                <a:ea typeface="Calibri" pitchFamily="34" charset="-122"/>
                <a:cs typeface="Calibri" pitchFamily="34" charset="-120"/>
              </a:rPr>
              <a:t>L'aspiration doit être indispensable : s'il existe une alternative moins intrusive, comme des données synthétiques, elle n'est pas justifiée.</a:t>
            </a:r>
            <a:endParaRPr lang="en-US" sz="1250" dirty="0"/>
          </a:p>
        </p:txBody>
      </p:sp>
      <p:sp>
        <p:nvSpPr>
          <p:cNvPr id="18" name="Shape 16"/>
          <p:cNvSpPr/>
          <p:nvPr/>
        </p:nvSpPr>
        <p:spPr>
          <a:xfrm>
            <a:off x="8101584" y="2148840"/>
            <a:ext cx="3493008" cy="3035808"/>
          </a:xfrm>
          <a:prstGeom prst="roundRect">
            <a:avLst>
              <a:gd name="adj" fmla="val 2108"/>
            </a:avLst>
          </a:prstGeom>
          <a:solidFill>
            <a:srgbClr val="FFFFFF"/>
          </a:solidFill>
          <a:ln/>
          <a:effectLst>
            <a:outerShdw sx="100000" sy="100000" kx="0" ky="0" algn="bl" rotWithShape="0" blurRad="114300" dist="38100" dir="5400000">
              <a:srgbClr val="0B3D35">
                <a:alpha val="9000"/>
              </a:srgbClr>
            </a:outerShdw>
          </a:effectLst>
        </p:spPr>
      </p:sp>
      <p:sp>
        <p:nvSpPr>
          <p:cNvPr id="19" name="Shape 17"/>
          <p:cNvSpPr/>
          <p:nvPr/>
        </p:nvSpPr>
        <p:spPr>
          <a:xfrm>
            <a:off x="8394192" y="2450592"/>
            <a:ext cx="585216" cy="585216"/>
          </a:xfrm>
          <a:prstGeom prst="ellipse">
            <a:avLst/>
          </a:prstGeom>
          <a:solidFill>
            <a:srgbClr val="F6EDD8"/>
          </a:solidFill>
          <a:ln/>
        </p:spPr>
      </p:sp>
      <p:sp>
        <p:nvSpPr>
          <p:cNvPr id="20" name="Text 18"/>
          <p:cNvSpPr txBox="1"/>
          <p:nvPr/>
        </p:nvSpPr>
        <p:spPr>
          <a:xfrm>
            <a:off x="8394192" y="2450592"/>
            <a:ext cx="585216" cy="585216"/>
          </a:xfrm>
          <a:prstGeom prst="rect">
            <a:avLst/>
          </a:prstGeom>
          <a:noFill/>
          <a:ln/>
        </p:spPr>
        <p:txBody>
          <a:bodyPr wrap="square" lIns="0" tIns="0" rIns="0" bIns="0" rtlCol="0" anchor="ctr"/>
          <a:lstStyle/>
          <a:p>
            <a:pPr algn="ctr" indent="0" marL="0">
              <a:buNone/>
            </a:pPr>
            <a:r>
              <a:rPr lang="en-US" sz="1300" b="1" dirty="0">
                <a:solidFill>
                  <a:srgbClr val="B4820F"/>
                </a:solidFill>
                <a:latin typeface="Courier New" pitchFamily="34" charset="0"/>
                <a:ea typeface="Courier New" pitchFamily="34" charset="-122"/>
                <a:cs typeface="Courier New" pitchFamily="34" charset="-120"/>
              </a:rPr>
              <a:t>03</a:t>
            </a:r>
            <a:endParaRPr lang="en-US" sz="1300" dirty="0"/>
          </a:p>
        </p:txBody>
      </p:sp>
      <p:sp>
        <p:nvSpPr>
          <p:cNvPr id="21" name="Text 19"/>
          <p:cNvSpPr txBox="1"/>
          <p:nvPr/>
        </p:nvSpPr>
        <p:spPr>
          <a:xfrm>
            <a:off x="8394192" y="3200400"/>
            <a:ext cx="2907792" cy="548640"/>
          </a:xfrm>
          <a:prstGeom prst="rect">
            <a:avLst/>
          </a:prstGeom>
          <a:noFill/>
          <a:ln/>
        </p:spPr>
        <p:txBody>
          <a:bodyPr wrap="square" lIns="0" tIns="0" rIns="0" bIns="0" rtlCol="0" anchor="t"/>
          <a:lstStyle/>
          <a:p>
            <a:pPr indent="0" marL="0">
              <a:buNone/>
            </a:pPr>
            <a:r>
              <a:rPr lang="en-US" sz="1800" b="1" dirty="0">
                <a:solidFill>
                  <a:srgbClr val="12211D"/>
                </a:solidFill>
                <a:latin typeface="Cambria" pitchFamily="34" charset="0"/>
                <a:ea typeface="Cambria" pitchFamily="34" charset="-122"/>
                <a:cs typeface="Cambria" pitchFamily="34" charset="-120"/>
              </a:rPr>
              <a:t>Équilibre des droits</a:t>
            </a:r>
            <a:endParaRPr lang="en-US" sz="1800" dirty="0"/>
          </a:p>
        </p:txBody>
      </p:sp>
      <p:sp>
        <p:nvSpPr>
          <p:cNvPr id="22" name="Text 20"/>
          <p:cNvSpPr txBox="1"/>
          <p:nvPr/>
        </p:nvSpPr>
        <p:spPr>
          <a:xfrm>
            <a:off x="8394192" y="3794760"/>
            <a:ext cx="2907792" cy="1280160"/>
          </a:xfrm>
          <a:prstGeom prst="rect">
            <a:avLst/>
          </a:prstGeom>
          <a:noFill/>
          <a:ln/>
        </p:spPr>
        <p:txBody>
          <a:bodyPr wrap="square" lIns="0" tIns="0" rIns="0" bIns="0" rtlCol="0" anchor="t"/>
          <a:lstStyle/>
          <a:p>
            <a:pPr indent="0" marL="0">
              <a:lnSpc>
                <a:spcPts val="1800"/>
              </a:lnSpc>
              <a:buNone/>
            </a:pPr>
            <a:r>
              <a:rPr lang="en-US" sz="1250" dirty="0">
                <a:solidFill>
                  <a:srgbClr val="5C6D64"/>
                </a:solidFill>
                <a:latin typeface="Calibri" pitchFamily="34" charset="0"/>
                <a:ea typeface="Calibri" pitchFamily="34" charset="-122"/>
                <a:cs typeface="Calibri" pitchFamily="34" charset="-120"/>
              </a:rPr>
              <a:t>Les attentes raisonnables des personnes doivent être respectées : nul ne s'attend à nourrir une IA commerciale en publiant.</a:t>
            </a:r>
            <a:endParaRPr lang="en-US" sz="1250" dirty="0"/>
          </a:p>
        </p:txBody>
      </p:sp>
      <p:sp>
        <p:nvSpPr>
          <p:cNvPr id="23" name="Shape 21"/>
          <p:cNvSpPr/>
          <p:nvPr/>
        </p:nvSpPr>
        <p:spPr>
          <a:xfrm>
            <a:off x="566928" y="5468112"/>
            <a:ext cx="11027664" cy="658368"/>
          </a:xfrm>
          <a:prstGeom prst="roundRect">
            <a:avLst>
              <a:gd name="adj" fmla="val 9722"/>
            </a:avLst>
          </a:prstGeom>
          <a:solidFill>
            <a:srgbClr val="E3EEE9"/>
          </a:solidFill>
          <a:ln/>
        </p:spPr>
      </p:sp>
      <p:sp>
        <p:nvSpPr>
          <p:cNvPr id="24" name="Text 22"/>
          <p:cNvSpPr txBox="1"/>
          <p:nvPr/>
        </p:nvSpPr>
        <p:spPr>
          <a:xfrm>
            <a:off x="841248" y="5468112"/>
            <a:ext cx="10479024" cy="658368"/>
          </a:xfrm>
          <a:prstGeom prst="rect">
            <a:avLst/>
          </a:prstGeom>
          <a:noFill/>
          <a:ln/>
        </p:spPr>
        <p:txBody>
          <a:bodyPr wrap="square" lIns="0" tIns="0" rIns="0" bIns="0" rtlCol="0" anchor="ctr"/>
          <a:lstStyle/>
          <a:p>
            <a:pPr indent="0" marL="0">
              <a:buNone/>
            </a:pPr>
            <a:r>
              <a:rPr lang="en-US" sz="1350" dirty="0">
                <a:solidFill>
                  <a:srgbClr val="12211D"/>
                </a:solidFill>
                <a:latin typeface="Calibri" pitchFamily="34" charset="0"/>
                <a:ea typeface="Calibri" pitchFamily="34" charset="-122"/>
                <a:cs typeface="Calibri" pitchFamily="34" charset="-120"/>
              </a:rPr>
              <a:t>À retenir : l'existence d'une alternative moins intrusive suffit à faire tomber la justification. La charge de la preuve pèse sur celui qui collecte.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MODULE 1 · APPLICATION</a:t>
            </a:r>
            <a:endParaRPr lang="en-US" sz="950" dirty="0"/>
          </a:p>
        </p:txBody>
      </p:sp>
      <p:sp>
        <p:nvSpPr>
          <p:cNvPr id="3" name="Text 1"/>
          <p:cNvSpPr txBox="1"/>
          <p:nvPr/>
        </p:nvSpPr>
        <p:spPr>
          <a:xfrm>
            <a:off x="9765792" y="402336"/>
            <a:ext cx="1828800" cy="237744"/>
          </a:xfrm>
          <a:prstGeom prst="rect">
            <a:avLst/>
          </a:prstGeom>
          <a:noFill/>
          <a:ln/>
        </p:spPr>
        <p:txBody>
          <a:bodyPr wrap="square" lIns="0" tIns="0" rIns="0" bIns="0" rtlCol="0" anchor="ctr"/>
          <a:lstStyle/>
          <a:p>
            <a:pPr algn="r" indent="0" marL="0">
              <a:buNone/>
            </a:pPr>
            <a:r>
              <a:rPr lang="en-US" sz="950" b="1" dirty="0">
                <a:solidFill>
                  <a:srgbClr val="8A9A91"/>
                </a:solidFill>
                <a:latin typeface="Courier New" pitchFamily="34" charset="0"/>
                <a:ea typeface="Courier New" pitchFamily="34" charset="-122"/>
                <a:cs typeface="Courier New" pitchFamily="34" charset="-120"/>
              </a:rPr>
              <a:t>3 MIN</a:t>
            </a:r>
            <a:endParaRPr lang="en-US" sz="950" dirty="0"/>
          </a:p>
        </p:txBody>
      </p:sp>
      <p:sp>
        <p:nvSpPr>
          <p:cNvPr id="4" name="Text 2"/>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200" b="1" dirty="0">
                <a:solidFill>
                  <a:srgbClr val="12211D"/>
                </a:solidFill>
                <a:latin typeface="Cambria" pitchFamily="34" charset="0"/>
                <a:ea typeface="Cambria" pitchFamily="34" charset="-122"/>
                <a:cs typeface="Cambria" pitchFamily="34" charset="-120"/>
              </a:rPr>
              <a:t>Des sanctions qui font jurisprudence</a:t>
            </a:r>
            <a:endParaRPr lang="en-US" sz="3200" dirty="0"/>
          </a:p>
        </p:txBody>
      </p:sp>
      <p:sp>
        <p:nvSpPr>
          <p:cNvPr id="5" name="Text 3"/>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6" name="Text 4"/>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9</a:t>
            </a:r>
            <a:endParaRPr lang="en-US" sz="800" dirty="0"/>
          </a:p>
        </p:txBody>
      </p:sp>
      <p:sp>
        <p:nvSpPr>
          <p:cNvPr id="7" name="Text 5"/>
          <p:cNvSpPr txBox="1"/>
          <p:nvPr/>
        </p:nvSpPr>
        <p:spPr>
          <a:xfrm>
            <a:off x="566928" y="1481328"/>
            <a:ext cx="10241280" cy="365760"/>
          </a:xfrm>
          <a:prstGeom prst="rect">
            <a:avLst/>
          </a:prstGeom>
          <a:noFill/>
          <a:ln/>
        </p:spPr>
        <p:txBody>
          <a:bodyPr wrap="square" lIns="0" tIns="0" rIns="0" bIns="0" rtlCol="0" anchor="t"/>
          <a:lstStyle/>
          <a:p>
            <a:pPr indent="0" marL="0">
              <a:buNone/>
            </a:pPr>
            <a:r>
              <a:rPr lang="en-US" sz="1400" dirty="0">
                <a:solidFill>
                  <a:srgbClr val="5C6D64"/>
                </a:solidFill>
                <a:latin typeface="Calibri" pitchFamily="34" charset="0"/>
                <a:ea typeface="Calibri" pitchFamily="34" charset="-122"/>
                <a:cs typeface="Calibri" pitchFamily="34" charset="-120"/>
              </a:rPr>
              <a:t>Reconnaissance faciale constituée à partir de milliards de photos publiques aspirées sans consentement : deux régulateurs, un même dossier.</a:t>
            </a:r>
            <a:endParaRPr lang="en-US" sz="1400" dirty="0"/>
          </a:p>
        </p:txBody>
      </p:sp>
      <p:sp>
        <p:nvSpPr>
          <p:cNvPr id="8" name="Shape 6"/>
          <p:cNvSpPr/>
          <p:nvPr/>
        </p:nvSpPr>
        <p:spPr>
          <a:xfrm>
            <a:off x="566928" y="2103120"/>
            <a:ext cx="5394960" cy="1298448"/>
          </a:xfrm>
          <a:prstGeom prst="roundRect">
            <a:avLst>
              <a:gd name="adj" fmla="val 4930"/>
            </a:avLst>
          </a:prstGeom>
          <a:solidFill>
            <a:srgbClr val="FFFFFF"/>
          </a:solidFill>
          <a:ln/>
          <a:effectLst>
            <a:outerShdw sx="100000" sy="100000" kx="0" ky="0" algn="bl" rotWithShape="0" blurRad="114300" dist="38100" dir="5400000">
              <a:srgbClr val="0B3D35">
                <a:alpha val="9000"/>
              </a:srgbClr>
            </a:outerShdw>
          </a:effectLst>
        </p:spPr>
      </p:sp>
      <p:sp>
        <p:nvSpPr>
          <p:cNvPr id="9" name="Text 7"/>
          <p:cNvSpPr txBox="1"/>
          <p:nvPr/>
        </p:nvSpPr>
        <p:spPr>
          <a:xfrm>
            <a:off x="859536" y="2286000"/>
            <a:ext cx="2377440" cy="658368"/>
          </a:xfrm>
          <a:prstGeom prst="rect">
            <a:avLst/>
          </a:prstGeom>
          <a:noFill/>
          <a:ln/>
        </p:spPr>
        <p:txBody>
          <a:bodyPr wrap="square" lIns="0" tIns="0" rIns="0" bIns="0" rtlCol="0" anchor="ctr"/>
          <a:lstStyle/>
          <a:p>
            <a:pPr indent="0" marL="0">
              <a:buNone/>
            </a:pPr>
            <a:r>
              <a:rPr lang="en-US" sz="3800" b="1" dirty="0">
                <a:solidFill>
                  <a:srgbClr val="A33A1C"/>
                </a:solidFill>
                <a:latin typeface="Cambria" pitchFamily="34" charset="0"/>
                <a:ea typeface="Cambria" pitchFamily="34" charset="-122"/>
                <a:cs typeface="Cambria" pitchFamily="34" charset="-120"/>
              </a:rPr>
              <a:t>30,5 M€</a:t>
            </a:r>
            <a:endParaRPr lang="en-US" sz="3800" dirty="0"/>
          </a:p>
        </p:txBody>
      </p:sp>
      <p:sp>
        <p:nvSpPr>
          <p:cNvPr id="10" name="Text 8"/>
          <p:cNvSpPr txBox="1"/>
          <p:nvPr/>
        </p:nvSpPr>
        <p:spPr>
          <a:xfrm>
            <a:off x="859536" y="2971800"/>
            <a:ext cx="2743200" cy="256032"/>
          </a:xfrm>
          <a:prstGeom prst="rect">
            <a:avLst/>
          </a:prstGeom>
          <a:noFill/>
          <a:ln/>
        </p:spPr>
        <p:txBody>
          <a:bodyPr wrap="square" lIns="0" tIns="0" rIns="0" bIns="0" rtlCol="0" anchor="ctr"/>
          <a:lstStyle/>
          <a:p>
            <a:pPr indent="0" marL="0">
              <a:buNone/>
            </a:pPr>
            <a:r>
              <a:rPr lang="en-US" sz="1000" b="1" spc="200" kern="0" dirty="0">
                <a:solidFill>
                  <a:srgbClr val="B4820F"/>
                </a:solidFill>
                <a:latin typeface="Courier New" pitchFamily="34" charset="0"/>
                <a:ea typeface="Courier New" pitchFamily="34" charset="-122"/>
                <a:cs typeface="Courier New" pitchFamily="34" charset="-120"/>
              </a:rPr>
              <a:t>PAYS-BAS</a:t>
            </a:r>
            <a:endParaRPr lang="en-US" sz="1000" dirty="0"/>
          </a:p>
        </p:txBody>
      </p:sp>
      <p:sp>
        <p:nvSpPr>
          <p:cNvPr id="11" name="Text 9"/>
          <p:cNvSpPr txBox="1"/>
          <p:nvPr/>
        </p:nvSpPr>
        <p:spPr>
          <a:xfrm>
            <a:off x="3401568" y="2395728"/>
            <a:ext cx="2377440" cy="731520"/>
          </a:xfrm>
          <a:prstGeom prst="rect">
            <a:avLst/>
          </a:prstGeom>
          <a:noFill/>
          <a:ln/>
        </p:spPr>
        <p:txBody>
          <a:bodyPr wrap="square" lIns="0" tIns="0" rIns="0" bIns="0" rtlCol="0" anchor="t"/>
          <a:lstStyle/>
          <a:p>
            <a:pPr indent="0" marL="0">
              <a:buNone/>
            </a:pPr>
            <a:r>
              <a:rPr lang="en-US" sz="1250" dirty="0">
                <a:solidFill>
                  <a:srgbClr val="5C6D64"/>
                </a:solidFill>
                <a:latin typeface="Calibri" pitchFamily="34" charset="0"/>
                <a:ea typeface="Calibri" pitchFamily="34" charset="-122"/>
                <a:cs typeface="Calibri" pitchFamily="34" charset="-120"/>
              </a:rPr>
              <a:t>Autorité néerlandaise de protection des données</a:t>
            </a:r>
            <a:endParaRPr lang="en-US" sz="1250" dirty="0"/>
          </a:p>
        </p:txBody>
      </p:sp>
      <p:sp>
        <p:nvSpPr>
          <p:cNvPr id="12" name="Shape 10"/>
          <p:cNvSpPr/>
          <p:nvPr/>
        </p:nvSpPr>
        <p:spPr>
          <a:xfrm>
            <a:off x="566928" y="3584448"/>
            <a:ext cx="5394960" cy="1298448"/>
          </a:xfrm>
          <a:prstGeom prst="roundRect">
            <a:avLst>
              <a:gd name="adj" fmla="val 4930"/>
            </a:avLst>
          </a:prstGeom>
          <a:solidFill>
            <a:srgbClr val="FFFFFF"/>
          </a:solidFill>
          <a:ln/>
          <a:effectLst>
            <a:outerShdw sx="100000" sy="100000" kx="0" ky="0" algn="bl" rotWithShape="0" blurRad="114300" dist="38100" dir="5400000">
              <a:srgbClr val="0B3D35">
                <a:alpha val="9000"/>
              </a:srgbClr>
            </a:outerShdw>
          </a:effectLst>
        </p:spPr>
      </p:sp>
      <p:sp>
        <p:nvSpPr>
          <p:cNvPr id="13" name="Text 11"/>
          <p:cNvSpPr txBox="1"/>
          <p:nvPr/>
        </p:nvSpPr>
        <p:spPr>
          <a:xfrm>
            <a:off x="859536" y="3767328"/>
            <a:ext cx="2377440" cy="658368"/>
          </a:xfrm>
          <a:prstGeom prst="rect">
            <a:avLst/>
          </a:prstGeom>
          <a:noFill/>
          <a:ln/>
        </p:spPr>
        <p:txBody>
          <a:bodyPr wrap="square" lIns="0" tIns="0" rIns="0" bIns="0" rtlCol="0" anchor="ctr"/>
          <a:lstStyle/>
          <a:p>
            <a:pPr indent="0" marL="0">
              <a:buNone/>
            </a:pPr>
            <a:r>
              <a:rPr lang="en-US" sz="3800" b="1" dirty="0">
                <a:solidFill>
                  <a:srgbClr val="A33A1C"/>
                </a:solidFill>
                <a:latin typeface="Cambria" pitchFamily="34" charset="0"/>
                <a:ea typeface="Cambria" pitchFamily="34" charset="-122"/>
                <a:cs typeface="Cambria" pitchFamily="34" charset="-120"/>
              </a:rPr>
              <a:t>20 M€</a:t>
            </a:r>
            <a:endParaRPr lang="en-US" sz="3800" dirty="0"/>
          </a:p>
        </p:txBody>
      </p:sp>
      <p:sp>
        <p:nvSpPr>
          <p:cNvPr id="14" name="Text 12"/>
          <p:cNvSpPr txBox="1"/>
          <p:nvPr/>
        </p:nvSpPr>
        <p:spPr>
          <a:xfrm>
            <a:off x="859536" y="4453128"/>
            <a:ext cx="2743200" cy="256032"/>
          </a:xfrm>
          <a:prstGeom prst="rect">
            <a:avLst/>
          </a:prstGeom>
          <a:noFill/>
          <a:ln/>
        </p:spPr>
        <p:txBody>
          <a:bodyPr wrap="square" lIns="0" tIns="0" rIns="0" bIns="0" rtlCol="0" anchor="ctr"/>
          <a:lstStyle/>
          <a:p>
            <a:pPr indent="0" marL="0">
              <a:buNone/>
            </a:pPr>
            <a:r>
              <a:rPr lang="en-US" sz="1000" b="1" spc="200" kern="0" dirty="0">
                <a:solidFill>
                  <a:srgbClr val="B4820F"/>
                </a:solidFill>
                <a:latin typeface="Courier New" pitchFamily="34" charset="0"/>
                <a:ea typeface="Courier New" pitchFamily="34" charset="-122"/>
                <a:cs typeface="Courier New" pitchFamily="34" charset="-120"/>
              </a:rPr>
              <a:t>ITALIE</a:t>
            </a:r>
            <a:endParaRPr lang="en-US" sz="1000" dirty="0"/>
          </a:p>
        </p:txBody>
      </p:sp>
      <p:sp>
        <p:nvSpPr>
          <p:cNvPr id="15" name="Text 13"/>
          <p:cNvSpPr txBox="1"/>
          <p:nvPr/>
        </p:nvSpPr>
        <p:spPr>
          <a:xfrm>
            <a:off x="3401568" y="3877056"/>
            <a:ext cx="2377440" cy="731520"/>
          </a:xfrm>
          <a:prstGeom prst="rect">
            <a:avLst/>
          </a:prstGeom>
          <a:noFill/>
          <a:ln/>
        </p:spPr>
        <p:txBody>
          <a:bodyPr wrap="square" lIns="0" tIns="0" rIns="0" bIns="0" rtlCol="0" anchor="t"/>
          <a:lstStyle/>
          <a:p>
            <a:pPr indent="0" marL="0">
              <a:buNone/>
            </a:pPr>
            <a:r>
              <a:rPr lang="en-US" sz="1250" dirty="0">
                <a:solidFill>
                  <a:srgbClr val="5C6D64"/>
                </a:solidFill>
                <a:latin typeface="Calibri" pitchFamily="34" charset="0"/>
                <a:ea typeface="Calibri" pitchFamily="34" charset="-122"/>
                <a:cs typeface="Calibri" pitchFamily="34" charset="-120"/>
              </a:rPr>
              <a:t>Garante per la protezione dei dati personali</a:t>
            </a:r>
            <a:endParaRPr lang="en-US" sz="1250" dirty="0"/>
          </a:p>
        </p:txBody>
      </p:sp>
      <p:sp>
        <p:nvSpPr>
          <p:cNvPr id="16" name="Text 14"/>
          <p:cNvSpPr txBox="1"/>
          <p:nvPr/>
        </p:nvSpPr>
        <p:spPr>
          <a:xfrm>
            <a:off x="566928" y="5120640"/>
            <a:ext cx="5486400" cy="274320"/>
          </a:xfrm>
          <a:prstGeom prst="rect">
            <a:avLst/>
          </a:prstGeom>
          <a:noFill/>
          <a:ln/>
        </p:spPr>
        <p:txBody>
          <a:bodyPr wrap="square" lIns="0" tIns="0" rIns="0" bIns="0" rtlCol="0" anchor="ctr"/>
          <a:lstStyle/>
          <a:p>
            <a:pPr indent="0" marL="0">
              <a:buNone/>
            </a:pPr>
            <a:r>
              <a:rPr lang="en-US" sz="950" b="1" spc="150" kern="0" dirty="0">
                <a:solidFill>
                  <a:srgbClr val="8A9A91"/>
                </a:solidFill>
                <a:latin typeface="Courier New" pitchFamily="34" charset="0"/>
                <a:ea typeface="Courier New" pitchFamily="34" charset="-122"/>
                <a:cs typeface="Courier New" pitchFamily="34" charset="-120"/>
              </a:rPr>
              <a:t>CLEARVIEW AI · MÊME PRATIQUE, DEUX AMENDES</a:t>
            </a:r>
            <a:endParaRPr lang="en-US" sz="950" dirty="0"/>
          </a:p>
        </p:txBody>
      </p:sp>
      <p:sp>
        <p:nvSpPr>
          <p:cNvPr id="17" name="Text 15"/>
          <p:cNvSpPr txBox="1"/>
          <p:nvPr/>
        </p:nvSpPr>
        <p:spPr>
          <a:xfrm>
            <a:off x="6446520" y="1847088"/>
            <a:ext cx="5148072" cy="274320"/>
          </a:xfrm>
          <a:prstGeom prst="rect">
            <a:avLst/>
          </a:prstGeom>
          <a:noFill/>
          <a:ln/>
        </p:spPr>
        <p:txBody>
          <a:bodyPr wrap="square" lIns="0" tIns="0" rIns="0" bIns="0" rtlCol="0" anchor="ctr"/>
          <a:lstStyle/>
          <a:p>
            <a:pPr indent="0" marL="0">
              <a:buNone/>
            </a:pPr>
            <a:r>
              <a:rPr lang="en-US" sz="950" b="1" spc="150" kern="0" dirty="0">
                <a:solidFill>
                  <a:srgbClr val="B4820F"/>
                </a:solidFill>
                <a:latin typeface="Courier New" pitchFamily="34" charset="0"/>
                <a:ea typeface="Courier New" pitchFamily="34" charset="-122"/>
                <a:cs typeface="Courier New" pitchFamily="34" charset="-120"/>
              </a:rPr>
              <a:t>ÉTATS-UNIS · LA RESPONSABILITÉ S'ÉTEND</a:t>
            </a:r>
            <a:endParaRPr lang="en-US" sz="950" dirty="0"/>
          </a:p>
        </p:txBody>
      </p:sp>
      <p:sp>
        <p:nvSpPr>
          <p:cNvPr id="18" name="Shape 16"/>
          <p:cNvSpPr/>
          <p:nvPr/>
        </p:nvSpPr>
        <p:spPr>
          <a:xfrm>
            <a:off x="6446520" y="2212848"/>
            <a:ext cx="5148072" cy="1389888"/>
          </a:xfrm>
          <a:prstGeom prst="roundRect">
            <a:avLst>
              <a:gd name="adj" fmla="val 4605"/>
            </a:avLst>
          </a:prstGeom>
          <a:solidFill>
            <a:srgbClr val="E3EEE9"/>
          </a:solidFill>
          <a:ln/>
        </p:spPr>
      </p:sp>
      <p:sp>
        <p:nvSpPr>
          <p:cNvPr id="19" name="Text 17"/>
          <p:cNvSpPr txBox="1"/>
          <p:nvPr/>
        </p:nvSpPr>
        <p:spPr>
          <a:xfrm>
            <a:off x="6720840" y="2414016"/>
            <a:ext cx="4599432" cy="347472"/>
          </a:xfrm>
          <a:prstGeom prst="rect">
            <a:avLst/>
          </a:prstGeom>
          <a:noFill/>
          <a:ln/>
        </p:spPr>
        <p:txBody>
          <a:bodyPr wrap="square" lIns="0" tIns="0" rIns="0" bIns="0" rtlCol="0" anchor="ctr"/>
          <a:lstStyle/>
          <a:p>
            <a:pPr indent="0" marL="0">
              <a:buNone/>
            </a:pPr>
            <a:r>
              <a:rPr lang="en-US" sz="1500" b="1" dirty="0">
                <a:solidFill>
                  <a:srgbClr val="12211D"/>
                </a:solidFill>
                <a:latin typeface="Calibri" pitchFamily="34" charset="0"/>
                <a:ea typeface="Calibri" pitchFamily="34" charset="-122"/>
                <a:cs typeface="Calibri" pitchFamily="34" charset="-120"/>
              </a:rPr>
              <a:t>Entraînement sur des sources illicites</a:t>
            </a:r>
            <a:endParaRPr lang="en-US" sz="1500" dirty="0"/>
          </a:p>
        </p:txBody>
      </p:sp>
      <p:sp>
        <p:nvSpPr>
          <p:cNvPr id="20" name="Text 18"/>
          <p:cNvSpPr txBox="1"/>
          <p:nvPr/>
        </p:nvSpPr>
        <p:spPr>
          <a:xfrm>
            <a:off x="6720840" y="2798064"/>
            <a:ext cx="4599432" cy="713232"/>
          </a:xfrm>
          <a:prstGeom prst="rect">
            <a:avLst/>
          </a:prstGeom>
          <a:noFill/>
          <a:ln/>
        </p:spPr>
        <p:txBody>
          <a:bodyPr wrap="square" lIns="0" tIns="0" rIns="0" bIns="0" rtlCol="0" anchor="t"/>
          <a:lstStyle/>
          <a:p>
            <a:pPr indent="0" marL="0">
              <a:lnSpc>
                <a:spcPts val="1800"/>
              </a:lnSpc>
              <a:buNone/>
            </a:pPr>
            <a:r>
              <a:rPr lang="en-US" sz="1250" dirty="0">
                <a:solidFill>
                  <a:srgbClr val="5C6D64"/>
                </a:solidFill>
                <a:latin typeface="Calibri" pitchFamily="34" charset="0"/>
                <a:ea typeface="Calibri" pitchFamily="34" charset="-122"/>
                <a:cs typeface="Calibri" pitchFamily="34" charset="-120"/>
              </a:rPr>
              <a:t>L'usage transformatif d'une œuvre peut être admis ; l'acquisition illicite du corpus, non. Les contentieux américains distinguent nettement les deux.</a:t>
            </a:r>
            <a:endParaRPr lang="en-US" sz="1250" dirty="0"/>
          </a:p>
        </p:txBody>
      </p:sp>
      <p:sp>
        <p:nvSpPr>
          <p:cNvPr id="21" name="Shape 19"/>
          <p:cNvSpPr/>
          <p:nvPr/>
        </p:nvSpPr>
        <p:spPr>
          <a:xfrm>
            <a:off x="6446520" y="3785616"/>
            <a:ext cx="5148072" cy="1389888"/>
          </a:xfrm>
          <a:prstGeom prst="roundRect">
            <a:avLst>
              <a:gd name="adj" fmla="val 4605"/>
            </a:avLst>
          </a:prstGeom>
          <a:solidFill>
            <a:srgbClr val="E3EEE9"/>
          </a:solidFill>
          <a:ln/>
        </p:spPr>
      </p:sp>
      <p:sp>
        <p:nvSpPr>
          <p:cNvPr id="22" name="Text 20"/>
          <p:cNvSpPr txBox="1"/>
          <p:nvPr/>
        </p:nvSpPr>
        <p:spPr>
          <a:xfrm>
            <a:off x="6720840" y="3986784"/>
            <a:ext cx="4599432" cy="347472"/>
          </a:xfrm>
          <a:prstGeom prst="rect">
            <a:avLst/>
          </a:prstGeom>
          <a:noFill/>
          <a:ln/>
        </p:spPr>
        <p:txBody>
          <a:bodyPr wrap="square" lIns="0" tIns="0" rIns="0" bIns="0" rtlCol="0" anchor="ctr"/>
          <a:lstStyle/>
          <a:p>
            <a:pPr indent="0" marL="0">
              <a:buNone/>
            </a:pPr>
            <a:r>
              <a:rPr lang="en-US" sz="1500" b="1" dirty="0">
                <a:solidFill>
                  <a:srgbClr val="12211D"/>
                </a:solidFill>
                <a:latin typeface="Calibri" pitchFamily="34" charset="0"/>
                <a:ea typeface="Calibri" pitchFamily="34" charset="-122"/>
                <a:cs typeface="Calibri" pitchFamily="34" charset="-120"/>
              </a:rPr>
              <a:t>Toute la chaîne devient responsable</a:t>
            </a:r>
            <a:endParaRPr lang="en-US" sz="1500" dirty="0"/>
          </a:p>
        </p:txBody>
      </p:sp>
      <p:sp>
        <p:nvSpPr>
          <p:cNvPr id="23" name="Text 21"/>
          <p:cNvSpPr txBox="1"/>
          <p:nvPr/>
        </p:nvSpPr>
        <p:spPr>
          <a:xfrm>
            <a:off x="6720840" y="4370832"/>
            <a:ext cx="4599432" cy="713232"/>
          </a:xfrm>
          <a:prstGeom prst="rect">
            <a:avLst/>
          </a:prstGeom>
          <a:noFill/>
          <a:ln/>
        </p:spPr>
        <p:txBody>
          <a:bodyPr wrap="square" lIns="0" tIns="0" rIns="0" bIns="0" rtlCol="0" anchor="t"/>
          <a:lstStyle/>
          <a:p>
            <a:pPr indent="0" marL="0">
              <a:lnSpc>
                <a:spcPts val="1800"/>
              </a:lnSpc>
              <a:buNone/>
            </a:pPr>
            <a:r>
              <a:rPr lang="en-US" sz="1250" dirty="0">
                <a:solidFill>
                  <a:srgbClr val="5C6D64"/>
                </a:solidFill>
                <a:latin typeface="Calibri" pitchFamily="34" charset="0"/>
                <a:ea typeface="Calibri" pitchFamily="34" charset="-122"/>
                <a:cs typeface="Calibri" pitchFamily="34" charset="-120"/>
              </a:rPr>
              <a:t>Les fournisseurs d'infrastructures qui masquent les robots de collecte sont désormais attraits en justice comme co-défendeurs.</a:t>
            </a:r>
            <a:endParaRPr lang="en-US" sz="1250" dirty="0"/>
          </a:p>
        </p:txBody>
      </p:sp>
      <p:sp>
        <p:nvSpPr>
          <p:cNvPr id="24" name="Shape 22"/>
          <p:cNvSpPr/>
          <p:nvPr/>
        </p:nvSpPr>
        <p:spPr>
          <a:xfrm>
            <a:off x="566928" y="5468112"/>
            <a:ext cx="11027664" cy="658368"/>
          </a:xfrm>
          <a:prstGeom prst="roundRect">
            <a:avLst>
              <a:gd name="adj" fmla="val 9722"/>
            </a:avLst>
          </a:prstGeom>
          <a:solidFill>
            <a:srgbClr val="F6EDD8"/>
          </a:solidFill>
          <a:ln/>
        </p:spPr>
      </p:sp>
      <p:sp>
        <p:nvSpPr>
          <p:cNvPr id="25" name="Text 23"/>
          <p:cNvSpPr txBox="1"/>
          <p:nvPr/>
        </p:nvSpPr>
        <p:spPr>
          <a:xfrm>
            <a:off x="841248" y="5468112"/>
            <a:ext cx="10479024" cy="658368"/>
          </a:xfrm>
          <a:prstGeom prst="rect">
            <a:avLst/>
          </a:prstGeom>
          <a:noFill/>
          <a:ln/>
        </p:spPr>
        <p:txBody>
          <a:bodyPr wrap="square" lIns="0" tIns="0" rIns="0" bIns="0" rtlCol="0" anchor="ctr"/>
          <a:lstStyle/>
          <a:p>
            <a:pPr indent="0" marL="0">
              <a:buNone/>
            </a:pPr>
            <a:r>
              <a:rPr lang="en-US" sz="1350" dirty="0">
                <a:solidFill>
                  <a:srgbClr val="12211D"/>
                </a:solidFill>
                <a:latin typeface="Calibri" pitchFamily="34" charset="0"/>
                <a:ea typeface="Calibri" pitchFamily="34" charset="-122"/>
                <a:cs typeface="Calibri" pitchFamily="34" charset="-120"/>
              </a:rPr>
              <a:t>À retenir : le droit n'est pas resté théorique. Des amendes sont tombées, et la responsabilité s'étend désormais à toute la chaîne de collecte.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MODULE 1 · PASSER À L'ACTE</a:t>
            </a:r>
            <a:endParaRPr lang="en-US" sz="950" dirty="0"/>
          </a:p>
        </p:txBody>
      </p:sp>
      <p:sp>
        <p:nvSpPr>
          <p:cNvPr id="3" name="Text 1"/>
          <p:cNvSpPr txBox="1"/>
          <p:nvPr/>
        </p:nvSpPr>
        <p:spPr>
          <a:xfrm>
            <a:off x="9765792" y="402336"/>
            <a:ext cx="1828800" cy="237744"/>
          </a:xfrm>
          <a:prstGeom prst="rect">
            <a:avLst/>
          </a:prstGeom>
          <a:noFill/>
          <a:ln/>
        </p:spPr>
        <p:txBody>
          <a:bodyPr wrap="square" lIns="0" tIns="0" rIns="0" bIns="0" rtlCol="0" anchor="ctr"/>
          <a:lstStyle/>
          <a:p>
            <a:pPr algn="r" indent="0" marL="0">
              <a:buNone/>
            </a:pPr>
            <a:r>
              <a:rPr lang="en-US" sz="950" b="1" dirty="0">
                <a:solidFill>
                  <a:srgbClr val="8A9A91"/>
                </a:solidFill>
                <a:latin typeface="Courier New" pitchFamily="34" charset="0"/>
                <a:ea typeface="Courier New" pitchFamily="34" charset="-122"/>
                <a:cs typeface="Courier New" pitchFamily="34" charset="-120"/>
              </a:rPr>
              <a:t>2 MIN</a:t>
            </a:r>
            <a:endParaRPr lang="en-US" sz="950" dirty="0"/>
          </a:p>
        </p:txBody>
      </p:sp>
      <p:sp>
        <p:nvSpPr>
          <p:cNvPr id="4" name="Text 2"/>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200" b="1" dirty="0">
                <a:solidFill>
                  <a:srgbClr val="12211D"/>
                </a:solidFill>
                <a:latin typeface="Cambria" pitchFamily="34" charset="0"/>
                <a:ea typeface="Cambria" pitchFamily="34" charset="-122"/>
                <a:cs typeface="Cambria" pitchFamily="34" charset="-120"/>
              </a:rPr>
              <a:t>Les bons réflexes, dès aujourd'hui</a:t>
            </a:r>
            <a:endParaRPr lang="en-US" sz="3200" dirty="0"/>
          </a:p>
        </p:txBody>
      </p:sp>
      <p:sp>
        <p:nvSpPr>
          <p:cNvPr id="5" name="Text 3"/>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6" name="Text 4"/>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10</a:t>
            </a:r>
            <a:endParaRPr lang="en-US" sz="800" dirty="0"/>
          </a:p>
        </p:txBody>
      </p:sp>
      <p:sp>
        <p:nvSpPr>
          <p:cNvPr id="7" name="Shape 5"/>
          <p:cNvSpPr/>
          <p:nvPr/>
        </p:nvSpPr>
        <p:spPr>
          <a:xfrm>
            <a:off x="566928" y="1691640"/>
            <a:ext cx="11027664" cy="1298448"/>
          </a:xfrm>
          <a:prstGeom prst="roundRect">
            <a:avLst>
              <a:gd name="adj" fmla="val 4930"/>
            </a:avLst>
          </a:prstGeom>
          <a:solidFill>
            <a:srgbClr val="FFFFFF"/>
          </a:solidFill>
          <a:ln/>
          <a:effectLst>
            <a:outerShdw sx="100000" sy="100000" kx="0" ky="0" algn="bl" rotWithShape="0" blurRad="114300" dist="38100" dir="5400000">
              <a:srgbClr val="0B3D35">
                <a:alpha val="9000"/>
              </a:srgbClr>
            </a:outerShdw>
          </a:effectLst>
        </p:spPr>
      </p:sp>
      <p:sp>
        <p:nvSpPr>
          <p:cNvPr id="8" name="Shape 6"/>
          <p:cNvSpPr/>
          <p:nvPr/>
        </p:nvSpPr>
        <p:spPr>
          <a:xfrm>
            <a:off x="877824" y="2075688"/>
            <a:ext cx="548640" cy="548640"/>
          </a:xfrm>
          <a:prstGeom prst="ellipse">
            <a:avLst/>
          </a:prstGeom>
          <a:solidFill>
            <a:srgbClr val="E3EEE9"/>
          </a:solidFill>
          <a:ln/>
        </p:spPr>
      </p:sp>
      <p:sp>
        <p:nvSpPr>
          <p:cNvPr id="9" name="Text 7"/>
          <p:cNvSpPr txBox="1"/>
          <p:nvPr/>
        </p:nvSpPr>
        <p:spPr>
          <a:xfrm>
            <a:off x="877824" y="2075688"/>
            <a:ext cx="548640" cy="548640"/>
          </a:xfrm>
          <a:prstGeom prst="rect">
            <a:avLst/>
          </a:prstGeom>
          <a:noFill/>
          <a:ln/>
        </p:spPr>
        <p:txBody>
          <a:bodyPr wrap="square" lIns="0" tIns="0" rIns="0" bIns="0" rtlCol="0" anchor="ctr"/>
          <a:lstStyle/>
          <a:p>
            <a:pPr algn="ctr" indent="0" marL="0">
              <a:buNone/>
            </a:pPr>
            <a:r>
              <a:rPr lang="en-US" sz="1300" b="1" dirty="0">
                <a:solidFill>
                  <a:srgbClr val="0B5D50"/>
                </a:solidFill>
                <a:latin typeface="Courier New" pitchFamily="34" charset="0"/>
                <a:ea typeface="Courier New" pitchFamily="34" charset="-122"/>
                <a:cs typeface="Courier New" pitchFamily="34" charset="-120"/>
              </a:rPr>
              <a:t>01</a:t>
            </a:r>
            <a:endParaRPr lang="en-US" sz="1300" dirty="0"/>
          </a:p>
        </p:txBody>
      </p:sp>
      <p:sp>
        <p:nvSpPr>
          <p:cNvPr id="10" name="Text 8"/>
          <p:cNvSpPr txBox="1"/>
          <p:nvPr/>
        </p:nvSpPr>
        <p:spPr>
          <a:xfrm>
            <a:off x="1664208" y="1911096"/>
            <a:ext cx="5852160" cy="365760"/>
          </a:xfrm>
          <a:prstGeom prst="rect">
            <a:avLst/>
          </a:prstGeom>
          <a:noFill/>
          <a:ln/>
        </p:spPr>
        <p:txBody>
          <a:bodyPr wrap="square" lIns="0" tIns="0" rIns="0" bIns="0" rtlCol="0" anchor="ctr"/>
          <a:lstStyle/>
          <a:p>
            <a:pPr indent="0" marL="0">
              <a:buNone/>
            </a:pPr>
            <a:r>
              <a:rPr lang="en-US" sz="1900" b="1" dirty="0">
                <a:solidFill>
                  <a:srgbClr val="12211D"/>
                </a:solidFill>
                <a:latin typeface="Cambria" pitchFamily="34" charset="0"/>
                <a:ea typeface="Cambria" pitchFamily="34" charset="-122"/>
                <a:cs typeface="Cambria" pitchFamily="34" charset="-120"/>
              </a:rPr>
              <a:t>Respecter les signaux d'opposition</a:t>
            </a:r>
            <a:endParaRPr lang="en-US" sz="1900" dirty="0"/>
          </a:p>
        </p:txBody>
      </p:sp>
      <p:sp>
        <p:nvSpPr>
          <p:cNvPr id="11" name="Text 9"/>
          <p:cNvSpPr txBox="1"/>
          <p:nvPr/>
        </p:nvSpPr>
        <p:spPr>
          <a:xfrm>
            <a:off x="1664208" y="2313432"/>
            <a:ext cx="9509760" cy="566928"/>
          </a:xfrm>
          <a:prstGeom prst="rect">
            <a:avLst/>
          </a:prstGeom>
          <a:noFill/>
          <a:ln/>
        </p:spPr>
        <p:txBody>
          <a:bodyPr wrap="square" lIns="0" tIns="0" rIns="0" bIns="0" rtlCol="0" anchor="t"/>
          <a:lstStyle/>
          <a:p>
            <a:pPr indent="0" marL="0">
              <a:lnSpc>
                <a:spcPts val="1900"/>
              </a:lnSpc>
              <a:buNone/>
            </a:pPr>
            <a:r>
              <a:rPr lang="en-US" sz="1350" dirty="0">
                <a:solidFill>
                  <a:srgbClr val="5C6D64"/>
                </a:solidFill>
                <a:latin typeface="Calibri" pitchFamily="34" charset="0"/>
                <a:ea typeface="Calibri" pitchFamily="34" charset="-122"/>
                <a:cs typeface="Calibri" pitchFamily="34" charset="-120"/>
              </a:rPr>
              <a:t>Un site ou un créateur de contenu peut interdire l'aspiration par les robots d'IA via les fichiers robots.txt ou ai.txt. Ces signaux doivent être respectés.</a:t>
            </a:r>
            <a:endParaRPr lang="en-US" sz="1350" dirty="0"/>
          </a:p>
        </p:txBody>
      </p:sp>
      <p:sp>
        <p:nvSpPr>
          <p:cNvPr id="12" name="Shape 10"/>
          <p:cNvSpPr/>
          <p:nvPr/>
        </p:nvSpPr>
        <p:spPr>
          <a:xfrm>
            <a:off x="566928" y="3172968"/>
            <a:ext cx="11027664" cy="1298448"/>
          </a:xfrm>
          <a:prstGeom prst="roundRect">
            <a:avLst>
              <a:gd name="adj" fmla="val 4930"/>
            </a:avLst>
          </a:prstGeom>
          <a:solidFill>
            <a:srgbClr val="FFFFFF"/>
          </a:solidFill>
          <a:ln/>
          <a:effectLst>
            <a:outerShdw sx="100000" sy="100000" kx="0" ky="0" algn="bl" rotWithShape="0" blurRad="114300" dist="38100" dir="5400000">
              <a:srgbClr val="0B3D35">
                <a:alpha val="9000"/>
              </a:srgbClr>
            </a:outerShdw>
          </a:effectLst>
        </p:spPr>
      </p:sp>
      <p:sp>
        <p:nvSpPr>
          <p:cNvPr id="13" name="Shape 11"/>
          <p:cNvSpPr/>
          <p:nvPr/>
        </p:nvSpPr>
        <p:spPr>
          <a:xfrm>
            <a:off x="877824" y="3557016"/>
            <a:ext cx="548640" cy="548640"/>
          </a:xfrm>
          <a:prstGeom prst="ellipse">
            <a:avLst/>
          </a:prstGeom>
          <a:solidFill>
            <a:srgbClr val="E3EEE9"/>
          </a:solidFill>
          <a:ln/>
        </p:spPr>
      </p:sp>
      <p:sp>
        <p:nvSpPr>
          <p:cNvPr id="14" name="Text 12"/>
          <p:cNvSpPr txBox="1"/>
          <p:nvPr/>
        </p:nvSpPr>
        <p:spPr>
          <a:xfrm>
            <a:off x="877824" y="3557016"/>
            <a:ext cx="548640" cy="548640"/>
          </a:xfrm>
          <a:prstGeom prst="rect">
            <a:avLst/>
          </a:prstGeom>
          <a:noFill/>
          <a:ln/>
        </p:spPr>
        <p:txBody>
          <a:bodyPr wrap="square" lIns="0" tIns="0" rIns="0" bIns="0" rtlCol="0" anchor="ctr"/>
          <a:lstStyle/>
          <a:p>
            <a:pPr algn="ctr" indent="0" marL="0">
              <a:buNone/>
            </a:pPr>
            <a:r>
              <a:rPr lang="en-US" sz="1300" b="1" dirty="0">
                <a:solidFill>
                  <a:srgbClr val="0B5D50"/>
                </a:solidFill>
                <a:latin typeface="Courier New" pitchFamily="34" charset="0"/>
                <a:ea typeface="Courier New" pitchFamily="34" charset="-122"/>
                <a:cs typeface="Courier New" pitchFamily="34" charset="-120"/>
              </a:rPr>
              <a:t>02</a:t>
            </a:r>
            <a:endParaRPr lang="en-US" sz="1300" dirty="0"/>
          </a:p>
        </p:txBody>
      </p:sp>
      <p:sp>
        <p:nvSpPr>
          <p:cNvPr id="15" name="Text 13"/>
          <p:cNvSpPr txBox="1"/>
          <p:nvPr/>
        </p:nvSpPr>
        <p:spPr>
          <a:xfrm>
            <a:off x="1664208" y="3392424"/>
            <a:ext cx="5852160" cy="365760"/>
          </a:xfrm>
          <a:prstGeom prst="rect">
            <a:avLst/>
          </a:prstGeom>
          <a:noFill/>
          <a:ln/>
        </p:spPr>
        <p:txBody>
          <a:bodyPr wrap="square" lIns="0" tIns="0" rIns="0" bIns="0" rtlCol="0" anchor="ctr"/>
          <a:lstStyle/>
          <a:p>
            <a:pPr indent="0" marL="0">
              <a:buNone/>
            </a:pPr>
            <a:r>
              <a:rPr lang="en-US" sz="1900" b="1" dirty="0">
                <a:solidFill>
                  <a:srgbClr val="12211D"/>
                </a:solidFill>
                <a:latin typeface="Cambria" pitchFamily="34" charset="0"/>
                <a:ea typeface="Cambria" pitchFamily="34" charset="-122"/>
                <a:cs typeface="Cambria" pitchFamily="34" charset="-120"/>
              </a:rPr>
              <a:t>Minimiser les données</a:t>
            </a:r>
            <a:endParaRPr lang="en-US" sz="1900" dirty="0"/>
          </a:p>
        </p:txBody>
      </p:sp>
      <p:sp>
        <p:nvSpPr>
          <p:cNvPr id="16" name="Text 14"/>
          <p:cNvSpPr txBox="1"/>
          <p:nvPr/>
        </p:nvSpPr>
        <p:spPr>
          <a:xfrm>
            <a:off x="1664208" y="3794760"/>
            <a:ext cx="9509760" cy="566928"/>
          </a:xfrm>
          <a:prstGeom prst="rect">
            <a:avLst/>
          </a:prstGeom>
          <a:noFill/>
          <a:ln/>
        </p:spPr>
        <p:txBody>
          <a:bodyPr wrap="square" lIns="0" tIns="0" rIns="0" bIns="0" rtlCol="0" anchor="t"/>
          <a:lstStyle/>
          <a:p>
            <a:pPr indent="0" marL="0">
              <a:lnSpc>
                <a:spcPts val="1900"/>
              </a:lnSpc>
              <a:buNone/>
            </a:pPr>
            <a:r>
              <a:rPr lang="en-US" sz="1350" dirty="0">
                <a:solidFill>
                  <a:srgbClr val="5C6D64"/>
                </a:solidFill>
                <a:latin typeface="Calibri" pitchFamily="34" charset="0"/>
                <a:ea typeface="Calibri" pitchFamily="34" charset="-122"/>
                <a:cs typeface="Calibri" pitchFamily="34" charset="-120"/>
              </a:rPr>
              <a:t>Avant de constituer un jeu de données, retirer toute information identifiante — noms, adresses électroniques, géolocalisation — pour éviter les fuites.</a:t>
            </a:r>
            <a:endParaRPr lang="en-US" sz="1350" dirty="0"/>
          </a:p>
        </p:txBody>
      </p:sp>
      <p:sp>
        <p:nvSpPr>
          <p:cNvPr id="17" name="Shape 15"/>
          <p:cNvSpPr/>
          <p:nvPr/>
        </p:nvSpPr>
        <p:spPr>
          <a:xfrm>
            <a:off x="566928" y="4654296"/>
            <a:ext cx="11027664" cy="1298448"/>
          </a:xfrm>
          <a:prstGeom prst="roundRect">
            <a:avLst>
              <a:gd name="adj" fmla="val 4930"/>
            </a:avLst>
          </a:prstGeom>
          <a:solidFill>
            <a:srgbClr val="FFFFFF"/>
          </a:solidFill>
          <a:ln/>
          <a:effectLst>
            <a:outerShdw sx="100000" sy="100000" kx="0" ky="0" algn="bl" rotWithShape="0" blurRad="114300" dist="38100" dir="5400000">
              <a:srgbClr val="0B3D35">
                <a:alpha val="9000"/>
              </a:srgbClr>
            </a:outerShdw>
          </a:effectLst>
        </p:spPr>
      </p:sp>
      <p:sp>
        <p:nvSpPr>
          <p:cNvPr id="18" name="Shape 16"/>
          <p:cNvSpPr/>
          <p:nvPr/>
        </p:nvSpPr>
        <p:spPr>
          <a:xfrm>
            <a:off x="877824" y="5038344"/>
            <a:ext cx="548640" cy="548640"/>
          </a:xfrm>
          <a:prstGeom prst="ellipse">
            <a:avLst/>
          </a:prstGeom>
          <a:solidFill>
            <a:srgbClr val="E3EEE9"/>
          </a:solidFill>
          <a:ln/>
        </p:spPr>
      </p:sp>
      <p:sp>
        <p:nvSpPr>
          <p:cNvPr id="19" name="Text 17"/>
          <p:cNvSpPr txBox="1"/>
          <p:nvPr/>
        </p:nvSpPr>
        <p:spPr>
          <a:xfrm>
            <a:off x="877824" y="5038344"/>
            <a:ext cx="548640" cy="548640"/>
          </a:xfrm>
          <a:prstGeom prst="rect">
            <a:avLst/>
          </a:prstGeom>
          <a:noFill/>
          <a:ln/>
        </p:spPr>
        <p:txBody>
          <a:bodyPr wrap="square" lIns="0" tIns="0" rIns="0" bIns="0" rtlCol="0" anchor="ctr"/>
          <a:lstStyle/>
          <a:p>
            <a:pPr algn="ctr" indent="0" marL="0">
              <a:buNone/>
            </a:pPr>
            <a:r>
              <a:rPr lang="en-US" sz="1300" b="1" dirty="0">
                <a:solidFill>
                  <a:srgbClr val="0B5D50"/>
                </a:solidFill>
                <a:latin typeface="Courier New" pitchFamily="34" charset="0"/>
                <a:ea typeface="Courier New" pitchFamily="34" charset="-122"/>
                <a:cs typeface="Courier New" pitchFamily="34" charset="-120"/>
              </a:rPr>
              <a:t>03</a:t>
            </a:r>
            <a:endParaRPr lang="en-US" sz="1300" dirty="0"/>
          </a:p>
        </p:txBody>
      </p:sp>
      <p:sp>
        <p:nvSpPr>
          <p:cNvPr id="20" name="Text 18"/>
          <p:cNvSpPr txBox="1"/>
          <p:nvPr/>
        </p:nvSpPr>
        <p:spPr>
          <a:xfrm>
            <a:off x="1664208" y="4873752"/>
            <a:ext cx="5852160" cy="365760"/>
          </a:xfrm>
          <a:prstGeom prst="rect">
            <a:avLst/>
          </a:prstGeom>
          <a:noFill/>
          <a:ln/>
        </p:spPr>
        <p:txBody>
          <a:bodyPr wrap="square" lIns="0" tIns="0" rIns="0" bIns="0" rtlCol="0" anchor="ctr"/>
          <a:lstStyle/>
          <a:p>
            <a:pPr indent="0" marL="0">
              <a:buNone/>
            </a:pPr>
            <a:r>
              <a:rPr lang="en-US" sz="1900" b="1" dirty="0">
                <a:solidFill>
                  <a:srgbClr val="12211D"/>
                </a:solidFill>
                <a:latin typeface="Cambria" pitchFamily="34" charset="0"/>
                <a:ea typeface="Cambria" pitchFamily="34" charset="-122"/>
                <a:cs typeface="Cambria" pitchFamily="34" charset="-120"/>
              </a:rPr>
              <a:t>Documenter la provenance</a:t>
            </a:r>
            <a:endParaRPr lang="en-US" sz="1900" dirty="0"/>
          </a:p>
        </p:txBody>
      </p:sp>
      <p:sp>
        <p:nvSpPr>
          <p:cNvPr id="21" name="Text 19"/>
          <p:cNvSpPr txBox="1"/>
          <p:nvPr/>
        </p:nvSpPr>
        <p:spPr>
          <a:xfrm>
            <a:off x="1664208" y="5276088"/>
            <a:ext cx="9509760" cy="566928"/>
          </a:xfrm>
          <a:prstGeom prst="rect">
            <a:avLst/>
          </a:prstGeom>
          <a:noFill/>
          <a:ln/>
        </p:spPr>
        <p:txBody>
          <a:bodyPr wrap="square" lIns="0" tIns="0" rIns="0" bIns="0" rtlCol="0" anchor="t"/>
          <a:lstStyle/>
          <a:p>
            <a:pPr indent="0" marL="0">
              <a:lnSpc>
                <a:spcPts val="1900"/>
              </a:lnSpc>
              <a:buNone/>
            </a:pPr>
            <a:r>
              <a:rPr lang="en-US" sz="1350" dirty="0">
                <a:solidFill>
                  <a:srgbClr val="5C6D64"/>
                </a:solidFill>
                <a:latin typeface="Calibri" pitchFamily="34" charset="0"/>
                <a:ea typeface="Calibri" pitchFamily="34" charset="-122"/>
                <a:cs typeface="Calibri" pitchFamily="34" charset="-120"/>
              </a:rPr>
              <a:t>Savoir dire d'où vient chaque donnée est la première condition d'une IA défendable devant un régulateur comme devant un citoyen.</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D35"/>
        </a:solidFill>
      </p:bgPr>
    </p:bg>
    <p:spTree>
      <p:nvGrpSpPr>
        <p:cNvPr id="1" name=""/>
        <p:cNvGrpSpPr/>
        <p:nvPr/>
      </p:nvGrpSpPr>
      <p:grpSpPr>
        <a:xfrm>
          <a:off x="0" y="0"/>
          <a:ext cx="0" cy="0"/>
          <a:chOff x="0" y="0"/>
          <a:chExt cx="0" cy="0"/>
        </a:xfrm>
      </p:grpSpPr>
      <p:sp>
        <p:nvSpPr>
          <p:cNvPr id="2" name="Shape 0"/>
          <p:cNvSpPr/>
          <p:nvPr/>
        </p:nvSpPr>
        <p:spPr>
          <a:xfrm>
            <a:off x="9509760" y="-1097280"/>
            <a:ext cx="4206240" cy="4206240"/>
          </a:xfrm>
          <a:prstGeom prst="ellipse">
            <a:avLst/>
          </a:prstGeom>
          <a:solidFill>
            <a:srgbClr val="0B5D50">
              <a:alpha val="42000"/>
            </a:srgbClr>
          </a:solidFill>
          <a:ln/>
        </p:spPr>
      </p:sp>
      <p:sp>
        <p:nvSpPr>
          <p:cNvPr id="3" name="Text 1"/>
          <p:cNvSpPr txBox="1"/>
          <p:nvPr/>
        </p:nvSpPr>
        <p:spPr>
          <a:xfrm>
            <a:off x="566928" y="1737360"/>
            <a:ext cx="2743200" cy="274320"/>
          </a:xfrm>
          <a:prstGeom prst="rect">
            <a:avLst/>
          </a:prstGeom>
          <a:noFill/>
          <a:ln/>
        </p:spPr>
        <p:txBody>
          <a:bodyPr wrap="square" lIns="0" tIns="0" rIns="0" bIns="0" rtlCol="0" anchor="ctr"/>
          <a:lstStyle/>
          <a:p>
            <a:pPr indent="0" marL="0">
              <a:buNone/>
            </a:pPr>
            <a:r>
              <a:rPr lang="en-US" sz="1100" b="1" spc="300" kern="0" dirty="0">
                <a:solidFill>
                  <a:srgbClr val="9FBFB5"/>
                </a:solidFill>
                <a:latin typeface="Courier New" pitchFamily="34" charset="0"/>
                <a:ea typeface="Courier New" pitchFamily="34" charset="-122"/>
                <a:cs typeface="Courier New" pitchFamily="34" charset="-120"/>
              </a:rPr>
              <a:t>MODULE</a:t>
            </a:r>
            <a:endParaRPr lang="en-US" sz="1100" dirty="0"/>
          </a:p>
        </p:txBody>
      </p:sp>
      <p:sp>
        <p:nvSpPr>
          <p:cNvPr id="4" name="Text 2"/>
          <p:cNvSpPr txBox="1"/>
          <p:nvPr/>
        </p:nvSpPr>
        <p:spPr>
          <a:xfrm>
            <a:off x="566928" y="1965960"/>
            <a:ext cx="2926080" cy="1371600"/>
          </a:xfrm>
          <a:prstGeom prst="rect">
            <a:avLst/>
          </a:prstGeom>
          <a:noFill/>
          <a:ln/>
        </p:spPr>
        <p:txBody>
          <a:bodyPr wrap="square" lIns="0" tIns="0" rIns="0" bIns="0" rtlCol="0" anchor="t"/>
          <a:lstStyle/>
          <a:p>
            <a:pPr indent="0" marL="0">
              <a:buNone/>
            </a:pPr>
            <a:r>
              <a:rPr lang="en-US" sz="8800" b="1" dirty="0">
                <a:solidFill>
                  <a:srgbClr val="D9A521"/>
                </a:solidFill>
                <a:latin typeface="Cambria" pitchFamily="34" charset="0"/>
                <a:ea typeface="Cambria" pitchFamily="34" charset="-122"/>
                <a:cs typeface="Cambria" pitchFamily="34" charset="-120"/>
              </a:rPr>
              <a:t>02</a:t>
            </a:r>
            <a:endParaRPr lang="en-US" sz="8800" dirty="0"/>
          </a:p>
        </p:txBody>
      </p:sp>
      <p:sp>
        <p:nvSpPr>
          <p:cNvPr id="5" name="Text 3"/>
          <p:cNvSpPr txBox="1"/>
          <p:nvPr/>
        </p:nvSpPr>
        <p:spPr>
          <a:xfrm>
            <a:off x="566928" y="3520440"/>
            <a:ext cx="9326880" cy="100584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La surveillance algorithmique</a:t>
            </a:r>
            <a:endParaRPr lang="en-US" sz="3800" dirty="0"/>
          </a:p>
        </p:txBody>
      </p:sp>
      <p:sp>
        <p:nvSpPr>
          <p:cNvPr id="6" name="Text 4"/>
          <p:cNvSpPr txBox="1"/>
          <p:nvPr/>
        </p:nvSpPr>
        <p:spPr>
          <a:xfrm>
            <a:off x="566928" y="4572000"/>
            <a:ext cx="8595360" cy="457200"/>
          </a:xfrm>
          <a:prstGeom prst="rect">
            <a:avLst/>
          </a:prstGeom>
          <a:noFill/>
          <a:ln/>
        </p:spPr>
        <p:txBody>
          <a:bodyPr wrap="square" lIns="0" tIns="0" rIns="0" bIns="0" rtlCol="0" anchor="t"/>
          <a:lstStyle/>
          <a:p>
            <a:pPr indent="0" marL="0">
              <a:buNone/>
            </a:pPr>
            <a:r>
              <a:rPr lang="en-US" sz="1550" dirty="0">
                <a:solidFill>
                  <a:srgbClr val="9FBFB5"/>
                </a:solidFill>
                <a:latin typeface="Calibri" pitchFamily="34" charset="0"/>
                <a:ea typeface="Calibri" pitchFamily="34" charset="-122"/>
                <a:cs typeface="Calibri" pitchFamily="34" charset="-120"/>
              </a:rPr>
              <a:t>Reconnaissance faciale, profilage, notation sociale</a:t>
            </a:r>
            <a:endParaRPr lang="en-US" sz="1550" dirty="0"/>
          </a:p>
        </p:txBody>
      </p:sp>
      <p:sp>
        <p:nvSpPr>
          <p:cNvPr id="7" name="Text 5"/>
          <p:cNvSpPr txBox="1"/>
          <p:nvPr/>
        </p:nvSpPr>
        <p:spPr>
          <a:xfrm>
            <a:off x="9582912" y="1737360"/>
            <a:ext cx="2011680" cy="274320"/>
          </a:xfrm>
          <a:prstGeom prst="rect">
            <a:avLst/>
          </a:prstGeom>
          <a:noFill/>
          <a:ln/>
        </p:spPr>
        <p:txBody>
          <a:bodyPr wrap="square" lIns="0" tIns="0" rIns="0" bIns="0" rtlCol="0" anchor="ctr"/>
          <a:lstStyle/>
          <a:p>
            <a:pPr algn="r" indent="0" marL="0">
              <a:buNone/>
            </a:pPr>
            <a:r>
              <a:rPr lang="en-US" sz="1100" b="1" dirty="0">
                <a:solidFill>
                  <a:srgbClr val="D9A521"/>
                </a:solidFill>
                <a:latin typeface="Courier New" pitchFamily="34" charset="0"/>
                <a:ea typeface="Courier New" pitchFamily="34" charset="-122"/>
                <a:cs typeface="Courier New" pitchFamily="34" charset="-120"/>
              </a:rPr>
              <a:t>13 MIN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MODULE 2 · LIGNES ROUGES</a:t>
            </a:r>
            <a:endParaRPr lang="en-US" sz="950" dirty="0"/>
          </a:p>
        </p:txBody>
      </p:sp>
      <p:sp>
        <p:nvSpPr>
          <p:cNvPr id="3" name="Text 1"/>
          <p:cNvSpPr txBox="1"/>
          <p:nvPr/>
        </p:nvSpPr>
        <p:spPr>
          <a:xfrm>
            <a:off x="9765792" y="402336"/>
            <a:ext cx="1828800" cy="237744"/>
          </a:xfrm>
          <a:prstGeom prst="rect">
            <a:avLst/>
          </a:prstGeom>
          <a:noFill/>
          <a:ln/>
        </p:spPr>
        <p:txBody>
          <a:bodyPr wrap="square" lIns="0" tIns="0" rIns="0" bIns="0" rtlCol="0" anchor="ctr"/>
          <a:lstStyle/>
          <a:p>
            <a:pPr algn="r" indent="0" marL="0">
              <a:buNone/>
            </a:pPr>
            <a:r>
              <a:rPr lang="en-US" sz="950" b="1" dirty="0">
                <a:solidFill>
                  <a:srgbClr val="8A9A91"/>
                </a:solidFill>
                <a:latin typeface="Courier New" pitchFamily="34" charset="0"/>
                <a:ea typeface="Courier New" pitchFamily="34" charset="-122"/>
                <a:cs typeface="Courier New" pitchFamily="34" charset="-120"/>
              </a:rPr>
              <a:t>5 MIN</a:t>
            </a:r>
            <a:endParaRPr lang="en-US" sz="950" dirty="0"/>
          </a:p>
        </p:txBody>
      </p:sp>
      <p:sp>
        <p:nvSpPr>
          <p:cNvPr id="4" name="Text 2"/>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200" b="1" dirty="0">
                <a:solidFill>
                  <a:srgbClr val="12211D"/>
                </a:solidFill>
                <a:latin typeface="Cambria" pitchFamily="34" charset="0"/>
                <a:ea typeface="Cambria" pitchFamily="34" charset="-122"/>
                <a:cs typeface="Cambria" pitchFamily="34" charset="-120"/>
              </a:rPr>
              <a:t>Cinq pratiques interdites en Europe</a:t>
            </a:r>
            <a:endParaRPr lang="en-US" sz="3200" dirty="0"/>
          </a:p>
        </p:txBody>
      </p:sp>
      <p:sp>
        <p:nvSpPr>
          <p:cNvPr id="5" name="Text 3"/>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6" name="Text 4"/>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12</a:t>
            </a:r>
            <a:endParaRPr lang="en-US" sz="800" dirty="0"/>
          </a:p>
        </p:txBody>
      </p:sp>
      <p:sp>
        <p:nvSpPr>
          <p:cNvPr id="7" name="Text 5"/>
          <p:cNvSpPr txBox="1"/>
          <p:nvPr/>
        </p:nvSpPr>
        <p:spPr>
          <a:xfrm>
            <a:off x="566928" y="1481328"/>
            <a:ext cx="10424160" cy="457200"/>
          </a:xfrm>
          <a:prstGeom prst="rect">
            <a:avLst/>
          </a:prstGeom>
          <a:noFill/>
          <a:ln/>
        </p:spPr>
        <p:txBody>
          <a:bodyPr wrap="square" lIns="0" tIns="0" rIns="0" bIns="0" rtlCol="0" anchor="t"/>
          <a:lstStyle/>
          <a:p>
            <a:pPr indent="0" marL="0">
              <a:buNone/>
            </a:pPr>
            <a:r>
              <a:rPr lang="en-US" sz="1400" dirty="0">
                <a:solidFill>
                  <a:srgbClr val="5C6D64"/>
                </a:solidFill>
                <a:latin typeface="Calibri" pitchFamily="34" charset="0"/>
                <a:ea typeface="Calibri" pitchFamily="34" charset="-122"/>
                <a:cs typeface="Calibri" pitchFamily="34" charset="-120"/>
              </a:rPr>
              <a:t>Depuis février 2025, la législation européenne prohibe ces usages de l'IA comme contraires aux droits fondamentaux. Un catalogue utile comme grille de lecture, ici aussi.</a:t>
            </a:r>
            <a:endParaRPr lang="en-US" sz="1400" dirty="0"/>
          </a:p>
        </p:txBody>
      </p:sp>
      <p:sp>
        <p:nvSpPr>
          <p:cNvPr id="8" name="Shape 6"/>
          <p:cNvSpPr/>
          <p:nvPr/>
        </p:nvSpPr>
        <p:spPr>
          <a:xfrm>
            <a:off x="566928" y="2084832"/>
            <a:ext cx="3505200" cy="1627632"/>
          </a:xfrm>
          <a:prstGeom prst="roundRect">
            <a:avLst>
              <a:gd name="adj" fmla="val 3933"/>
            </a:avLst>
          </a:prstGeom>
          <a:solidFill>
            <a:srgbClr val="F6E5DF"/>
          </a:solidFill>
          <a:ln/>
        </p:spPr>
      </p:sp>
      <p:sp>
        <p:nvSpPr>
          <p:cNvPr id="9" name="Shape 7"/>
          <p:cNvSpPr/>
          <p:nvPr/>
        </p:nvSpPr>
        <p:spPr>
          <a:xfrm>
            <a:off x="822960" y="2322576"/>
            <a:ext cx="420624" cy="420624"/>
          </a:xfrm>
          <a:prstGeom prst="ellipse">
            <a:avLst/>
          </a:prstGeom>
          <a:solidFill>
            <a:srgbClr val="A33A1C"/>
          </a:solidFill>
          <a:ln/>
        </p:spPr>
      </p:sp>
      <p:sp>
        <p:nvSpPr>
          <p:cNvPr id="10" name="Text 8"/>
          <p:cNvSpPr txBox="1"/>
          <p:nvPr/>
        </p:nvSpPr>
        <p:spPr>
          <a:xfrm>
            <a:off x="822960" y="232257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X</a:t>
            </a:r>
            <a:endParaRPr lang="en-US" sz="1200" dirty="0"/>
          </a:p>
        </p:txBody>
      </p:sp>
      <p:sp>
        <p:nvSpPr>
          <p:cNvPr id="11" name="Text 9"/>
          <p:cNvSpPr txBox="1"/>
          <p:nvPr/>
        </p:nvSpPr>
        <p:spPr>
          <a:xfrm>
            <a:off x="822960" y="2816352"/>
            <a:ext cx="2993136" cy="402336"/>
          </a:xfrm>
          <a:prstGeom prst="rect">
            <a:avLst/>
          </a:prstGeom>
          <a:noFill/>
          <a:ln/>
        </p:spPr>
        <p:txBody>
          <a:bodyPr wrap="square" lIns="0" tIns="0" rIns="0" bIns="0" rtlCol="0" anchor="t"/>
          <a:lstStyle/>
          <a:p>
            <a:pPr indent="0" marL="0">
              <a:buNone/>
            </a:pPr>
            <a:r>
              <a:rPr lang="en-US" sz="1450" b="1" dirty="0">
                <a:solidFill>
                  <a:srgbClr val="12211D"/>
                </a:solidFill>
                <a:latin typeface="Calibri" pitchFamily="34" charset="0"/>
                <a:ea typeface="Calibri" pitchFamily="34" charset="-122"/>
                <a:cs typeface="Calibri" pitchFamily="34" charset="-120"/>
              </a:rPr>
              <a:t>Aspiration non ciblée de visages</a:t>
            </a:r>
            <a:endParaRPr lang="en-US" sz="1450" dirty="0"/>
          </a:p>
        </p:txBody>
      </p:sp>
      <p:sp>
        <p:nvSpPr>
          <p:cNvPr id="12" name="Text 10"/>
          <p:cNvSpPr txBox="1"/>
          <p:nvPr/>
        </p:nvSpPr>
        <p:spPr>
          <a:xfrm>
            <a:off x="822960" y="3218688"/>
            <a:ext cx="2993136" cy="402336"/>
          </a:xfrm>
          <a:prstGeom prst="rect">
            <a:avLst/>
          </a:prstGeom>
          <a:noFill/>
          <a:ln/>
        </p:spPr>
        <p:txBody>
          <a:bodyPr wrap="square" lIns="0" tIns="0" rIns="0" bIns="0" rtlCol="0" anchor="t"/>
          <a:lstStyle/>
          <a:p>
            <a:pPr indent="0" marL="0">
              <a:lnSpc>
                <a:spcPts val="1500"/>
              </a:lnSpc>
              <a:buNone/>
            </a:pPr>
            <a:r>
              <a:rPr lang="en-US" sz="1150" dirty="0">
                <a:solidFill>
                  <a:srgbClr val="5C6D64"/>
                </a:solidFill>
                <a:latin typeface="Calibri" pitchFamily="34" charset="0"/>
                <a:ea typeface="Calibri" pitchFamily="34" charset="-122"/>
                <a:cs typeface="Calibri" pitchFamily="34" charset="-120"/>
              </a:rPr>
              <a:t>Collecte massive d'images faciales sur le web ou depuis la vidéosurveillance.</a:t>
            </a:r>
            <a:endParaRPr lang="en-US" sz="1150" dirty="0"/>
          </a:p>
        </p:txBody>
      </p:sp>
      <p:sp>
        <p:nvSpPr>
          <p:cNvPr id="13" name="Shape 11"/>
          <p:cNvSpPr/>
          <p:nvPr/>
        </p:nvSpPr>
        <p:spPr>
          <a:xfrm>
            <a:off x="4328160" y="2084832"/>
            <a:ext cx="3505200" cy="1627632"/>
          </a:xfrm>
          <a:prstGeom prst="roundRect">
            <a:avLst>
              <a:gd name="adj" fmla="val 3933"/>
            </a:avLst>
          </a:prstGeom>
          <a:solidFill>
            <a:srgbClr val="F6E5DF"/>
          </a:solidFill>
          <a:ln/>
        </p:spPr>
      </p:sp>
      <p:sp>
        <p:nvSpPr>
          <p:cNvPr id="14" name="Shape 12"/>
          <p:cNvSpPr/>
          <p:nvPr/>
        </p:nvSpPr>
        <p:spPr>
          <a:xfrm>
            <a:off x="4584192" y="2322576"/>
            <a:ext cx="420624" cy="420624"/>
          </a:xfrm>
          <a:prstGeom prst="ellipse">
            <a:avLst/>
          </a:prstGeom>
          <a:solidFill>
            <a:srgbClr val="A33A1C"/>
          </a:solidFill>
          <a:ln/>
        </p:spPr>
      </p:sp>
      <p:sp>
        <p:nvSpPr>
          <p:cNvPr id="15" name="Text 13"/>
          <p:cNvSpPr txBox="1"/>
          <p:nvPr/>
        </p:nvSpPr>
        <p:spPr>
          <a:xfrm>
            <a:off x="4584192" y="232257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X</a:t>
            </a:r>
            <a:endParaRPr lang="en-US" sz="1200" dirty="0"/>
          </a:p>
        </p:txBody>
      </p:sp>
      <p:sp>
        <p:nvSpPr>
          <p:cNvPr id="16" name="Text 14"/>
          <p:cNvSpPr txBox="1"/>
          <p:nvPr/>
        </p:nvSpPr>
        <p:spPr>
          <a:xfrm>
            <a:off x="4584192" y="2816352"/>
            <a:ext cx="2993136" cy="402336"/>
          </a:xfrm>
          <a:prstGeom prst="rect">
            <a:avLst/>
          </a:prstGeom>
          <a:noFill/>
          <a:ln/>
        </p:spPr>
        <p:txBody>
          <a:bodyPr wrap="square" lIns="0" tIns="0" rIns="0" bIns="0" rtlCol="0" anchor="t"/>
          <a:lstStyle/>
          <a:p>
            <a:pPr indent="0" marL="0">
              <a:buNone/>
            </a:pPr>
            <a:r>
              <a:rPr lang="en-US" sz="1450" b="1" dirty="0">
                <a:solidFill>
                  <a:srgbClr val="12211D"/>
                </a:solidFill>
                <a:latin typeface="Calibri" pitchFamily="34" charset="0"/>
                <a:ea typeface="Calibri" pitchFamily="34" charset="-122"/>
                <a:cs typeface="Calibri" pitchFamily="34" charset="-120"/>
              </a:rPr>
              <a:t>Détection des émotions</a:t>
            </a:r>
            <a:endParaRPr lang="en-US" sz="1450" dirty="0"/>
          </a:p>
        </p:txBody>
      </p:sp>
      <p:sp>
        <p:nvSpPr>
          <p:cNvPr id="17" name="Text 15"/>
          <p:cNvSpPr txBox="1"/>
          <p:nvPr/>
        </p:nvSpPr>
        <p:spPr>
          <a:xfrm>
            <a:off x="4584192" y="3218688"/>
            <a:ext cx="2993136" cy="402336"/>
          </a:xfrm>
          <a:prstGeom prst="rect">
            <a:avLst/>
          </a:prstGeom>
          <a:noFill/>
          <a:ln/>
        </p:spPr>
        <p:txBody>
          <a:bodyPr wrap="square" lIns="0" tIns="0" rIns="0" bIns="0" rtlCol="0" anchor="t"/>
          <a:lstStyle/>
          <a:p>
            <a:pPr indent="0" marL="0">
              <a:lnSpc>
                <a:spcPts val="1500"/>
              </a:lnSpc>
              <a:buNone/>
            </a:pPr>
            <a:r>
              <a:rPr lang="en-US" sz="1150" dirty="0">
                <a:solidFill>
                  <a:srgbClr val="5C6D64"/>
                </a:solidFill>
                <a:latin typeface="Calibri" pitchFamily="34" charset="0"/>
                <a:ea typeface="Calibri" pitchFamily="34" charset="-122"/>
                <a:cs typeface="Calibri" pitchFamily="34" charset="-120"/>
              </a:rPr>
              <a:t>Deviner par IA si un élève suit le cours ou si un employé est stressé.</a:t>
            </a:r>
            <a:endParaRPr lang="en-US" sz="1150" dirty="0"/>
          </a:p>
        </p:txBody>
      </p:sp>
      <p:sp>
        <p:nvSpPr>
          <p:cNvPr id="18" name="Shape 16"/>
          <p:cNvSpPr/>
          <p:nvPr/>
        </p:nvSpPr>
        <p:spPr>
          <a:xfrm>
            <a:off x="8089392" y="2084832"/>
            <a:ext cx="3505200" cy="1627632"/>
          </a:xfrm>
          <a:prstGeom prst="roundRect">
            <a:avLst>
              <a:gd name="adj" fmla="val 3933"/>
            </a:avLst>
          </a:prstGeom>
          <a:solidFill>
            <a:srgbClr val="F6E5DF"/>
          </a:solidFill>
          <a:ln/>
        </p:spPr>
      </p:sp>
      <p:sp>
        <p:nvSpPr>
          <p:cNvPr id="19" name="Shape 17"/>
          <p:cNvSpPr/>
          <p:nvPr/>
        </p:nvSpPr>
        <p:spPr>
          <a:xfrm>
            <a:off x="8345424" y="2322576"/>
            <a:ext cx="420624" cy="420624"/>
          </a:xfrm>
          <a:prstGeom prst="ellipse">
            <a:avLst/>
          </a:prstGeom>
          <a:solidFill>
            <a:srgbClr val="A33A1C"/>
          </a:solidFill>
          <a:ln/>
        </p:spPr>
      </p:sp>
      <p:sp>
        <p:nvSpPr>
          <p:cNvPr id="20" name="Text 18"/>
          <p:cNvSpPr txBox="1"/>
          <p:nvPr/>
        </p:nvSpPr>
        <p:spPr>
          <a:xfrm>
            <a:off x="8345424" y="232257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X</a:t>
            </a:r>
            <a:endParaRPr lang="en-US" sz="1200" dirty="0"/>
          </a:p>
        </p:txBody>
      </p:sp>
      <p:sp>
        <p:nvSpPr>
          <p:cNvPr id="21" name="Text 19"/>
          <p:cNvSpPr txBox="1"/>
          <p:nvPr/>
        </p:nvSpPr>
        <p:spPr>
          <a:xfrm>
            <a:off x="8345424" y="2816352"/>
            <a:ext cx="2993136" cy="402336"/>
          </a:xfrm>
          <a:prstGeom prst="rect">
            <a:avLst/>
          </a:prstGeom>
          <a:noFill/>
          <a:ln/>
        </p:spPr>
        <p:txBody>
          <a:bodyPr wrap="square" lIns="0" tIns="0" rIns="0" bIns="0" rtlCol="0" anchor="t"/>
          <a:lstStyle/>
          <a:p>
            <a:pPr indent="0" marL="0">
              <a:buNone/>
            </a:pPr>
            <a:r>
              <a:rPr lang="en-US" sz="1450" b="1" dirty="0">
                <a:solidFill>
                  <a:srgbClr val="12211D"/>
                </a:solidFill>
                <a:latin typeface="Calibri" pitchFamily="34" charset="0"/>
                <a:ea typeface="Calibri" pitchFamily="34" charset="-122"/>
                <a:cs typeface="Calibri" pitchFamily="34" charset="-120"/>
              </a:rPr>
              <a:t>Notation sociale</a:t>
            </a:r>
            <a:endParaRPr lang="en-US" sz="1450" dirty="0"/>
          </a:p>
        </p:txBody>
      </p:sp>
      <p:sp>
        <p:nvSpPr>
          <p:cNvPr id="22" name="Text 20"/>
          <p:cNvSpPr txBox="1"/>
          <p:nvPr/>
        </p:nvSpPr>
        <p:spPr>
          <a:xfrm>
            <a:off x="8345424" y="3218688"/>
            <a:ext cx="2993136" cy="402336"/>
          </a:xfrm>
          <a:prstGeom prst="rect">
            <a:avLst/>
          </a:prstGeom>
          <a:noFill/>
          <a:ln/>
        </p:spPr>
        <p:txBody>
          <a:bodyPr wrap="square" lIns="0" tIns="0" rIns="0" bIns="0" rtlCol="0" anchor="t"/>
          <a:lstStyle/>
          <a:p>
            <a:pPr indent="0" marL="0">
              <a:lnSpc>
                <a:spcPts val="1500"/>
              </a:lnSpc>
              <a:buNone/>
            </a:pPr>
            <a:r>
              <a:rPr lang="en-US" sz="1150" dirty="0">
                <a:solidFill>
                  <a:srgbClr val="5C6D64"/>
                </a:solidFill>
                <a:latin typeface="Calibri" pitchFamily="34" charset="0"/>
                <a:ea typeface="Calibri" pitchFamily="34" charset="-122"/>
                <a:cs typeface="Calibri" pitchFamily="34" charset="-120"/>
              </a:rPr>
              <a:t>Classer les personnes selon leur comportement pour leur accorder ou refuser des droits.</a:t>
            </a:r>
            <a:endParaRPr lang="en-US" sz="1150" dirty="0"/>
          </a:p>
        </p:txBody>
      </p:sp>
      <p:sp>
        <p:nvSpPr>
          <p:cNvPr id="23" name="Shape 21"/>
          <p:cNvSpPr/>
          <p:nvPr/>
        </p:nvSpPr>
        <p:spPr>
          <a:xfrm>
            <a:off x="566928" y="3968496"/>
            <a:ext cx="3505200" cy="1627632"/>
          </a:xfrm>
          <a:prstGeom prst="roundRect">
            <a:avLst>
              <a:gd name="adj" fmla="val 3933"/>
            </a:avLst>
          </a:prstGeom>
          <a:solidFill>
            <a:srgbClr val="F6E5DF"/>
          </a:solidFill>
          <a:ln/>
        </p:spPr>
      </p:sp>
      <p:sp>
        <p:nvSpPr>
          <p:cNvPr id="24" name="Shape 22"/>
          <p:cNvSpPr/>
          <p:nvPr/>
        </p:nvSpPr>
        <p:spPr>
          <a:xfrm>
            <a:off x="822960" y="4206240"/>
            <a:ext cx="420624" cy="420624"/>
          </a:xfrm>
          <a:prstGeom prst="ellipse">
            <a:avLst/>
          </a:prstGeom>
          <a:solidFill>
            <a:srgbClr val="A33A1C"/>
          </a:solidFill>
          <a:ln/>
        </p:spPr>
      </p:sp>
      <p:sp>
        <p:nvSpPr>
          <p:cNvPr id="25" name="Text 23"/>
          <p:cNvSpPr txBox="1"/>
          <p:nvPr/>
        </p:nvSpPr>
        <p:spPr>
          <a:xfrm>
            <a:off x="822960" y="4206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X</a:t>
            </a:r>
            <a:endParaRPr lang="en-US" sz="1200" dirty="0"/>
          </a:p>
        </p:txBody>
      </p:sp>
      <p:sp>
        <p:nvSpPr>
          <p:cNvPr id="26" name="Text 24"/>
          <p:cNvSpPr txBox="1"/>
          <p:nvPr/>
        </p:nvSpPr>
        <p:spPr>
          <a:xfrm>
            <a:off x="822960" y="4700016"/>
            <a:ext cx="2993136" cy="402336"/>
          </a:xfrm>
          <a:prstGeom prst="rect">
            <a:avLst/>
          </a:prstGeom>
          <a:noFill/>
          <a:ln/>
        </p:spPr>
        <p:txBody>
          <a:bodyPr wrap="square" lIns="0" tIns="0" rIns="0" bIns="0" rtlCol="0" anchor="t"/>
          <a:lstStyle/>
          <a:p>
            <a:pPr indent="0" marL="0">
              <a:buNone/>
            </a:pPr>
            <a:r>
              <a:rPr lang="en-US" sz="1450" b="1" dirty="0">
                <a:solidFill>
                  <a:srgbClr val="12211D"/>
                </a:solidFill>
                <a:latin typeface="Calibri" pitchFamily="34" charset="0"/>
                <a:ea typeface="Calibri" pitchFamily="34" charset="-122"/>
                <a:cs typeface="Calibri" pitchFamily="34" charset="-120"/>
              </a:rPr>
              <a:t>Catégorisation biométrique sensible</a:t>
            </a:r>
            <a:endParaRPr lang="en-US" sz="1450" dirty="0"/>
          </a:p>
        </p:txBody>
      </p:sp>
      <p:sp>
        <p:nvSpPr>
          <p:cNvPr id="27" name="Text 25"/>
          <p:cNvSpPr txBox="1"/>
          <p:nvPr/>
        </p:nvSpPr>
        <p:spPr>
          <a:xfrm>
            <a:off x="822960" y="5102352"/>
            <a:ext cx="2993136" cy="402336"/>
          </a:xfrm>
          <a:prstGeom prst="rect">
            <a:avLst/>
          </a:prstGeom>
          <a:noFill/>
          <a:ln/>
        </p:spPr>
        <p:txBody>
          <a:bodyPr wrap="square" lIns="0" tIns="0" rIns="0" bIns="0" rtlCol="0" anchor="t"/>
          <a:lstStyle/>
          <a:p>
            <a:pPr indent="0" marL="0">
              <a:lnSpc>
                <a:spcPts val="1500"/>
              </a:lnSpc>
              <a:buNone/>
            </a:pPr>
            <a:r>
              <a:rPr lang="en-US" sz="1150" dirty="0">
                <a:solidFill>
                  <a:srgbClr val="5C6D64"/>
                </a:solidFill>
                <a:latin typeface="Calibri" pitchFamily="34" charset="0"/>
                <a:ea typeface="Calibri" pitchFamily="34" charset="-122"/>
                <a:cs typeface="Calibri" pitchFamily="34" charset="-120"/>
              </a:rPr>
              <a:t>Déduire du corps les opinions politiques ou religieuses, l'origine, l'orientation sexuelle.</a:t>
            </a:r>
            <a:endParaRPr lang="en-US" sz="1150" dirty="0"/>
          </a:p>
        </p:txBody>
      </p:sp>
      <p:sp>
        <p:nvSpPr>
          <p:cNvPr id="28" name="Shape 26"/>
          <p:cNvSpPr/>
          <p:nvPr/>
        </p:nvSpPr>
        <p:spPr>
          <a:xfrm>
            <a:off x="4328160" y="3968496"/>
            <a:ext cx="3505200" cy="1627632"/>
          </a:xfrm>
          <a:prstGeom prst="roundRect">
            <a:avLst>
              <a:gd name="adj" fmla="val 3933"/>
            </a:avLst>
          </a:prstGeom>
          <a:solidFill>
            <a:srgbClr val="F6E5DF"/>
          </a:solidFill>
          <a:ln/>
        </p:spPr>
      </p:sp>
      <p:sp>
        <p:nvSpPr>
          <p:cNvPr id="29" name="Shape 27"/>
          <p:cNvSpPr/>
          <p:nvPr/>
        </p:nvSpPr>
        <p:spPr>
          <a:xfrm>
            <a:off x="4584192" y="4206240"/>
            <a:ext cx="420624" cy="420624"/>
          </a:xfrm>
          <a:prstGeom prst="ellipse">
            <a:avLst/>
          </a:prstGeom>
          <a:solidFill>
            <a:srgbClr val="A33A1C"/>
          </a:solidFill>
          <a:ln/>
        </p:spPr>
      </p:sp>
      <p:sp>
        <p:nvSpPr>
          <p:cNvPr id="30" name="Text 28"/>
          <p:cNvSpPr txBox="1"/>
          <p:nvPr/>
        </p:nvSpPr>
        <p:spPr>
          <a:xfrm>
            <a:off x="4584192" y="4206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X</a:t>
            </a:r>
            <a:endParaRPr lang="en-US" sz="1200" dirty="0"/>
          </a:p>
        </p:txBody>
      </p:sp>
      <p:sp>
        <p:nvSpPr>
          <p:cNvPr id="31" name="Text 29"/>
          <p:cNvSpPr txBox="1"/>
          <p:nvPr/>
        </p:nvSpPr>
        <p:spPr>
          <a:xfrm>
            <a:off x="4584192" y="4700016"/>
            <a:ext cx="2993136" cy="402336"/>
          </a:xfrm>
          <a:prstGeom prst="rect">
            <a:avLst/>
          </a:prstGeom>
          <a:noFill/>
          <a:ln/>
        </p:spPr>
        <p:txBody>
          <a:bodyPr wrap="square" lIns="0" tIns="0" rIns="0" bIns="0" rtlCol="0" anchor="t"/>
          <a:lstStyle/>
          <a:p>
            <a:pPr indent="0" marL="0">
              <a:buNone/>
            </a:pPr>
            <a:r>
              <a:rPr lang="en-US" sz="1450" b="1" dirty="0">
                <a:solidFill>
                  <a:srgbClr val="12211D"/>
                </a:solidFill>
                <a:latin typeface="Calibri" pitchFamily="34" charset="0"/>
                <a:ea typeface="Calibri" pitchFamily="34" charset="-122"/>
                <a:cs typeface="Calibri" pitchFamily="34" charset="-120"/>
              </a:rPr>
              <a:t>Identification à distance en temps réel</a:t>
            </a:r>
            <a:endParaRPr lang="en-US" sz="1450" dirty="0"/>
          </a:p>
        </p:txBody>
      </p:sp>
      <p:sp>
        <p:nvSpPr>
          <p:cNvPr id="32" name="Text 30"/>
          <p:cNvSpPr txBox="1"/>
          <p:nvPr/>
        </p:nvSpPr>
        <p:spPr>
          <a:xfrm>
            <a:off x="4584192" y="5102352"/>
            <a:ext cx="2993136" cy="402336"/>
          </a:xfrm>
          <a:prstGeom prst="rect">
            <a:avLst/>
          </a:prstGeom>
          <a:noFill/>
          <a:ln/>
        </p:spPr>
        <p:txBody>
          <a:bodyPr wrap="square" lIns="0" tIns="0" rIns="0" bIns="0" rtlCol="0" anchor="t"/>
          <a:lstStyle/>
          <a:p>
            <a:pPr indent="0" marL="0">
              <a:lnSpc>
                <a:spcPts val="1500"/>
              </a:lnSpc>
              <a:buNone/>
            </a:pPr>
            <a:r>
              <a:rPr lang="en-US" sz="1150" dirty="0">
                <a:solidFill>
                  <a:srgbClr val="5C6D64"/>
                </a:solidFill>
                <a:latin typeface="Calibri" pitchFamily="34" charset="0"/>
                <a:ea typeface="Calibri" pitchFamily="34" charset="-122"/>
                <a:cs typeface="Calibri" pitchFamily="34" charset="-120"/>
              </a:rPr>
              <a:t>Interdite aux forces de l'ordre dans l'espace public, sauf exceptions strictement encadrées.</a:t>
            </a:r>
            <a:endParaRPr lang="en-US" sz="1150" dirty="0"/>
          </a:p>
        </p:txBody>
      </p:sp>
      <p:sp>
        <p:nvSpPr>
          <p:cNvPr id="33" name="Shape 31"/>
          <p:cNvSpPr/>
          <p:nvPr/>
        </p:nvSpPr>
        <p:spPr>
          <a:xfrm>
            <a:off x="8089392" y="3968496"/>
            <a:ext cx="3505200" cy="1627632"/>
          </a:xfrm>
          <a:prstGeom prst="roundRect">
            <a:avLst>
              <a:gd name="adj" fmla="val 3933"/>
            </a:avLst>
          </a:prstGeom>
          <a:solidFill>
            <a:srgbClr val="E3EEE9"/>
          </a:solidFill>
          <a:ln/>
        </p:spPr>
      </p:sp>
      <p:sp>
        <p:nvSpPr>
          <p:cNvPr id="34" name="Text 32"/>
          <p:cNvSpPr txBox="1"/>
          <p:nvPr/>
        </p:nvSpPr>
        <p:spPr>
          <a:xfrm>
            <a:off x="8345424" y="4206240"/>
            <a:ext cx="2993136" cy="237744"/>
          </a:xfrm>
          <a:prstGeom prst="rect">
            <a:avLst/>
          </a:prstGeom>
          <a:noFill/>
          <a:ln/>
        </p:spPr>
        <p:txBody>
          <a:bodyPr wrap="square" lIns="0" tIns="0" rIns="0" bIns="0" rtlCol="0" anchor="ctr"/>
          <a:lstStyle/>
          <a:p>
            <a:pPr indent="0" marL="0">
              <a:buNone/>
            </a:pPr>
            <a:r>
              <a:rPr lang="en-US" sz="950" b="1" spc="200" kern="0" dirty="0">
                <a:solidFill>
                  <a:srgbClr val="0B5D50"/>
                </a:solidFill>
                <a:latin typeface="Courier New" pitchFamily="34" charset="0"/>
                <a:ea typeface="Courier New" pitchFamily="34" charset="-122"/>
                <a:cs typeface="Courier New" pitchFamily="34" charset="-120"/>
              </a:rPr>
              <a:t>POUR LE DÉBAT</a:t>
            </a:r>
            <a:endParaRPr lang="en-US" sz="950" dirty="0"/>
          </a:p>
        </p:txBody>
      </p:sp>
      <p:sp>
        <p:nvSpPr>
          <p:cNvPr id="35" name="Text 33"/>
          <p:cNvSpPr txBox="1"/>
          <p:nvPr/>
        </p:nvSpPr>
        <p:spPr>
          <a:xfrm>
            <a:off x="8345424" y="4535424"/>
            <a:ext cx="2993136" cy="1005840"/>
          </a:xfrm>
          <a:prstGeom prst="rect">
            <a:avLst/>
          </a:prstGeom>
          <a:noFill/>
          <a:ln/>
        </p:spPr>
        <p:txBody>
          <a:bodyPr wrap="square" lIns="0" tIns="0" rIns="0" bIns="0" rtlCol="0" anchor="t"/>
          <a:lstStyle/>
          <a:p>
            <a:pPr indent="0" marL="0">
              <a:lnSpc>
                <a:spcPts val="1900"/>
              </a:lnSpc>
              <a:buNone/>
            </a:pPr>
            <a:r>
              <a:rPr lang="en-US" sz="1400" dirty="0">
                <a:solidFill>
                  <a:srgbClr val="0B5D50"/>
                </a:solidFill>
                <a:latin typeface="Cambria" pitchFamily="34" charset="0"/>
                <a:ea typeface="Cambria" pitchFamily="34" charset="-122"/>
                <a:cs typeface="Cambria" pitchFamily="34" charset="-120"/>
              </a:rPr>
              <a:t>Laquelle de ces cinq pratiques vous semble la plus tentante pour une autorité locale ? Et la plus dangereuse ?</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MODULE 2 · CAS PRATIQUE</a:t>
            </a:r>
            <a:endParaRPr lang="en-US" sz="950" dirty="0"/>
          </a:p>
        </p:txBody>
      </p:sp>
      <p:sp>
        <p:nvSpPr>
          <p:cNvPr id="3" name="Text 1"/>
          <p:cNvSpPr txBox="1"/>
          <p:nvPr/>
        </p:nvSpPr>
        <p:spPr>
          <a:xfrm>
            <a:off x="9765792" y="402336"/>
            <a:ext cx="1828800" cy="237744"/>
          </a:xfrm>
          <a:prstGeom prst="rect">
            <a:avLst/>
          </a:prstGeom>
          <a:noFill/>
          <a:ln/>
        </p:spPr>
        <p:txBody>
          <a:bodyPr wrap="square" lIns="0" tIns="0" rIns="0" bIns="0" rtlCol="0" anchor="ctr"/>
          <a:lstStyle/>
          <a:p>
            <a:pPr algn="r" indent="0" marL="0">
              <a:buNone/>
            </a:pPr>
            <a:r>
              <a:rPr lang="en-US" sz="950" b="1" dirty="0">
                <a:solidFill>
                  <a:srgbClr val="8A9A91"/>
                </a:solidFill>
                <a:latin typeface="Courier New" pitchFamily="34" charset="0"/>
                <a:ea typeface="Courier New" pitchFamily="34" charset="-122"/>
                <a:cs typeface="Courier New" pitchFamily="34" charset="-120"/>
              </a:rPr>
              <a:t>4 MIN</a:t>
            </a:r>
            <a:endParaRPr lang="en-US" sz="950" dirty="0"/>
          </a:p>
        </p:txBody>
      </p:sp>
      <p:sp>
        <p:nvSpPr>
          <p:cNvPr id="4" name="Text 2"/>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200" b="1" dirty="0">
                <a:solidFill>
                  <a:srgbClr val="12211D"/>
                </a:solidFill>
                <a:latin typeface="Cambria" pitchFamily="34" charset="0"/>
                <a:ea typeface="Cambria" pitchFamily="34" charset="-122"/>
                <a:cs typeface="Cambria" pitchFamily="34" charset="-120"/>
              </a:rPr>
              <a:t>Étude de cas : la controverse italienne</a:t>
            </a:r>
            <a:endParaRPr lang="en-US" sz="3200" dirty="0"/>
          </a:p>
        </p:txBody>
      </p:sp>
      <p:sp>
        <p:nvSpPr>
          <p:cNvPr id="5" name="Text 3"/>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6" name="Text 4"/>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13</a:t>
            </a:r>
            <a:endParaRPr lang="en-US" sz="800" dirty="0"/>
          </a:p>
        </p:txBody>
      </p:sp>
      <p:sp>
        <p:nvSpPr>
          <p:cNvPr id="7" name="Shape 5"/>
          <p:cNvSpPr/>
          <p:nvPr/>
        </p:nvSpPr>
        <p:spPr>
          <a:xfrm>
            <a:off x="566928" y="1645920"/>
            <a:ext cx="5394960" cy="2651760"/>
          </a:xfrm>
          <a:prstGeom prst="roundRect">
            <a:avLst>
              <a:gd name="adj" fmla="val 2414"/>
            </a:avLst>
          </a:prstGeom>
          <a:solidFill>
            <a:srgbClr val="F6E5DF"/>
          </a:solidFill>
          <a:ln/>
        </p:spPr>
      </p:sp>
      <p:sp>
        <p:nvSpPr>
          <p:cNvPr id="8" name="Text 6"/>
          <p:cNvSpPr txBox="1"/>
          <p:nvPr/>
        </p:nvSpPr>
        <p:spPr>
          <a:xfrm>
            <a:off x="859536" y="1847088"/>
            <a:ext cx="4809744" cy="237744"/>
          </a:xfrm>
          <a:prstGeom prst="rect">
            <a:avLst/>
          </a:prstGeom>
          <a:noFill/>
          <a:ln/>
        </p:spPr>
        <p:txBody>
          <a:bodyPr wrap="square" lIns="0" tIns="0" rIns="0" bIns="0" rtlCol="0" anchor="ctr"/>
          <a:lstStyle/>
          <a:p>
            <a:pPr indent="0" marL="0">
              <a:buNone/>
            </a:pPr>
            <a:r>
              <a:rPr lang="en-US" sz="950" b="1" spc="200" kern="0" dirty="0">
                <a:solidFill>
                  <a:srgbClr val="A33A1C"/>
                </a:solidFill>
                <a:latin typeface="Courier New" pitchFamily="34" charset="0"/>
                <a:ea typeface="Courier New" pitchFamily="34" charset="-122"/>
                <a:cs typeface="Courier New" pitchFamily="34" charset="-120"/>
              </a:rPr>
              <a:t>LE PROJET</a:t>
            </a:r>
            <a:endParaRPr lang="en-US" sz="950" dirty="0"/>
          </a:p>
        </p:txBody>
      </p:sp>
      <p:sp>
        <p:nvSpPr>
          <p:cNvPr id="9" name="Text 7"/>
          <p:cNvSpPr txBox="1"/>
          <p:nvPr/>
        </p:nvSpPr>
        <p:spPr>
          <a:xfrm>
            <a:off x="859536" y="2212848"/>
            <a:ext cx="4809744" cy="1920240"/>
          </a:xfrm>
          <a:prstGeom prst="rect">
            <a:avLst/>
          </a:prstGeom>
          <a:noFill/>
          <a:ln/>
        </p:spPr>
        <p:txBody>
          <a:bodyPr wrap="square" lIns="0" tIns="0" rIns="0" bIns="0" rtlCol="0" anchor="t"/>
          <a:lstStyle/>
          <a:p>
            <a:pPr indent="0" marL="0">
              <a:lnSpc>
                <a:spcPts val="2100"/>
              </a:lnSpc>
              <a:buNone/>
            </a:pPr>
            <a:r>
              <a:rPr lang="en-US" sz="1400" dirty="0">
                <a:solidFill>
                  <a:srgbClr val="12211D"/>
                </a:solidFill>
                <a:latin typeface="Calibri" pitchFamily="34" charset="0"/>
                <a:ea typeface="Calibri" pitchFamily="34" charset="-122"/>
                <a:cs typeface="Calibri" pitchFamily="34" charset="-120"/>
              </a:rPr>
              <a:t>Un décret d'application prévoyait de collecter et conserver pendant sept jours les données biométriques de tous les citoyens traversant certains espaces publics sensibles — places, stades, manifestations — afin de pouvoir les analyser après coup en cas d'infraction pénale.</a:t>
            </a:r>
            <a:endParaRPr lang="en-US" sz="1400" dirty="0"/>
          </a:p>
        </p:txBody>
      </p:sp>
      <p:sp>
        <p:nvSpPr>
          <p:cNvPr id="10" name="Shape 8"/>
          <p:cNvSpPr/>
          <p:nvPr/>
        </p:nvSpPr>
        <p:spPr>
          <a:xfrm>
            <a:off x="6199632" y="1645920"/>
            <a:ext cx="5394960" cy="2651760"/>
          </a:xfrm>
          <a:prstGeom prst="roundRect">
            <a:avLst>
              <a:gd name="adj" fmla="val 2414"/>
            </a:avLst>
          </a:prstGeom>
          <a:solidFill>
            <a:srgbClr val="E3EEE9"/>
          </a:solidFill>
          <a:ln/>
        </p:spPr>
      </p:sp>
      <p:sp>
        <p:nvSpPr>
          <p:cNvPr id="11" name="Text 9"/>
          <p:cNvSpPr txBox="1"/>
          <p:nvPr/>
        </p:nvSpPr>
        <p:spPr>
          <a:xfrm>
            <a:off x="6492240" y="1847088"/>
            <a:ext cx="4809744" cy="237744"/>
          </a:xfrm>
          <a:prstGeom prst="rect">
            <a:avLst/>
          </a:prstGeom>
          <a:noFill/>
          <a:ln/>
        </p:spPr>
        <p:txBody>
          <a:bodyPr wrap="square" lIns="0" tIns="0" rIns="0" bIns="0" rtlCol="0" anchor="ctr"/>
          <a:lstStyle/>
          <a:p>
            <a:pPr indent="0" marL="0">
              <a:buNone/>
            </a:pPr>
            <a:r>
              <a:rPr lang="en-US" sz="950" b="1" spc="200" kern="0" dirty="0">
                <a:solidFill>
                  <a:srgbClr val="0B5D50"/>
                </a:solidFill>
                <a:latin typeface="Courier New" pitchFamily="34" charset="0"/>
                <a:ea typeface="Courier New" pitchFamily="34" charset="-122"/>
                <a:cs typeface="Courier New" pitchFamily="34" charset="-120"/>
              </a:rPr>
              <a:t>LA RÉACTION</a:t>
            </a:r>
            <a:endParaRPr lang="en-US" sz="950" dirty="0"/>
          </a:p>
        </p:txBody>
      </p:sp>
      <p:sp>
        <p:nvSpPr>
          <p:cNvPr id="12" name="Text 10"/>
          <p:cNvSpPr txBox="1"/>
          <p:nvPr/>
        </p:nvSpPr>
        <p:spPr>
          <a:xfrm>
            <a:off x="6492240" y="2212848"/>
            <a:ext cx="4809744" cy="1920240"/>
          </a:xfrm>
          <a:prstGeom prst="rect">
            <a:avLst/>
          </a:prstGeom>
          <a:noFill/>
          <a:ln/>
        </p:spPr>
        <p:txBody>
          <a:bodyPr wrap="square" lIns="0" tIns="0" rIns="0" bIns="0" rtlCol="0" anchor="t"/>
          <a:lstStyle/>
          <a:p>
            <a:pPr indent="0" marL="0">
              <a:lnSpc>
                <a:spcPts val="2100"/>
              </a:lnSpc>
              <a:buNone/>
            </a:pPr>
            <a:r>
              <a:rPr lang="en-US" sz="1400" dirty="0">
                <a:solidFill>
                  <a:srgbClr val="12211D"/>
                </a:solidFill>
                <a:latin typeface="Calibri" pitchFamily="34" charset="0"/>
                <a:ea typeface="Calibri" pitchFamily="34" charset="-122"/>
                <a:cs typeface="Calibri" pitchFamily="34" charset="-120"/>
              </a:rPr>
              <a:t>L'autorité italienne de protection des données et des parlementaires européens ont immédiatement tiré la sonnette d'alarme, dénonçant un dispositif de surveillance de masse déguisée sous couvert de sécurité publique.</a:t>
            </a:r>
            <a:endParaRPr lang="en-US" sz="1400" dirty="0"/>
          </a:p>
        </p:txBody>
      </p:sp>
      <p:sp>
        <p:nvSpPr>
          <p:cNvPr id="13" name="Shape 11"/>
          <p:cNvSpPr/>
          <p:nvPr/>
        </p:nvSpPr>
        <p:spPr>
          <a:xfrm>
            <a:off x="566928" y="4553712"/>
            <a:ext cx="11027664" cy="1572768"/>
          </a:xfrm>
          <a:prstGeom prst="roundRect">
            <a:avLst>
              <a:gd name="adj" fmla="val 4070"/>
            </a:avLst>
          </a:prstGeom>
          <a:solidFill>
            <a:srgbClr val="FFFFFF"/>
          </a:solidFill>
          <a:ln/>
          <a:effectLst>
            <a:outerShdw sx="100000" sy="100000" kx="0" ky="0" algn="bl" rotWithShape="0" blurRad="114300" dist="38100" dir="5400000">
              <a:srgbClr val="0B3D35">
                <a:alpha val="9000"/>
              </a:srgbClr>
            </a:outerShdw>
          </a:effectLst>
        </p:spPr>
      </p:sp>
      <p:sp>
        <p:nvSpPr>
          <p:cNvPr id="14" name="Shape 12"/>
          <p:cNvSpPr/>
          <p:nvPr/>
        </p:nvSpPr>
        <p:spPr>
          <a:xfrm>
            <a:off x="877824" y="4681728"/>
            <a:ext cx="548640" cy="548640"/>
          </a:xfrm>
          <a:prstGeom prst="ellipse">
            <a:avLst/>
          </a:prstGeom>
          <a:solidFill>
            <a:srgbClr val="F6EDD8"/>
          </a:solidFill>
          <a:ln/>
        </p:spPr>
      </p:sp>
      <p:sp>
        <p:nvSpPr>
          <p:cNvPr id="15" name="Text 13"/>
          <p:cNvSpPr txBox="1"/>
          <p:nvPr/>
        </p:nvSpPr>
        <p:spPr>
          <a:xfrm>
            <a:off x="877824" y="4681728"/>
            <a:ext cx="548640" cy="548640"/>
          </a:xfrm>
          <a:prstGeom prst="rect">
            <a:avLst/>
          </a:prstGeom>
          <a:noFill/>
          <a:ln/>
        </p:spPr>
        <p:txBody>
          <a:bodyPr wrap="square" lIns="0" tIns="0" rIns="0" bIns="0" rtlCol="0" anchor="ctr"/>
          <a:lstStyle/>
          <a:p>
            <a:pPr algn="ctr" indent="0" marL="0">
              <a:buNone/>
            </a:pPr>
            <a:r>
              <a:rPr lang="en-US" sz="1500" b="1" dirty="0">
                <a:solidFill>
                  <a:srgbClr val="B4820F"/>
                </a:solidFill>
                <a:latin typeface="Courier New" pitchFamily="34" charset="0"/>
                <a:ea typeface="Courier New" pitchFamily="34" charset="-122"/>
                <a:cs typeface="Courier New" pitchFamily="34" charset="-120"/>
              </a:rPr>
              <a:t>→</a:t>
            </a:r>
            <a:endParaRPr lang="en-US" sz="1500" dirty="0"/>
          </a:p>
        </p:txBody>
      </p:sp>
      <p:sp>
        <p:nvSpPr>
          <p:cNvPr id="16" name="Text 14"/>
          <p:cNvSpPr txBox="1"/>
          <p:nvPr/>
        </p:nvSpPr>
        <p:spPr>
          <a:xfrm>
            <a:off x="1664208" y="4773168"/>
            <a:ext cx="5486400" cy="365760"/>
          </a:xfrm>
          <a:prstGeom prst="rect">
            <a:avLst/>
          </a:prstGeom>
          <a:noFill/>
          <a:ln/>
        </p:spPr>
        <p:txBody>
          <a:bodyPr wrap="square" lIns="0" tIns="0" rIns="0" bIns="0" rtlCol="0" anchor="ctr"/>
          <a:lstStyle/>
          <a:p>
            <a:pPr indent="0" marL="0">
              <a:buNone/>
            </a:pPr>
            <a:r>
              <a:rPr lang="en-US" sz="2000" b="1" dirty="0">
                <a:solidFill>
                  <a:srgbClr val="12211D"/>
                </a:solidFill>
                <a:latin typeface="Cambria" pitchFamily="34" charset="0"/>
                <a:ea typeface="Cambria" pitchFamily="34" charset="-122"/>
                <a:cs typeface="Cambria" pitchFamily="34" charset="-120"/>
              </a:rPr>
              <a:t>Ce qu'il faut retenir</a:t>
            </a:r>
            <a:endParaRPr lang="en-US" sz="2000" dirty="0"/>
          </a:p>
        </p:txBody>
      </p:sp>
      <p:sp>
        <p:nvSpPr>
          <p:cNvPr id="17" name="Text 15"/>
          <p:cNvSpPr txBox="1"/>
          <p:nvPr/>
        </p:nvSpPr>
        <p:spPr>
          <a:xfrm>
            <a:off x="1664208" y="5193792"/>
            <a:ext cx="9509760" cy="777240"/>
          </a:xfrm>
          <a:prstGeom prst="rect">
            <a:avLst/>
          </a:prstGeom>
          <a:noFill/>
          <a:ln/>
        </p:spPr>
        <p:txBody>
          <a:bodyPr wrap="square" lIns="0" tIns="0" rIns="0" bIns="0" rtlCol="0" anchor="t"/>
          <a:lstStyle/>
          <a:p>
            <a:pPr indent="0" marL="0">
              <a:lnSpc>
                <a:spcPts val="1900"/>
              </a:lnSpc>
              <a:buNone/>
            </a:pPr>
            <a:r>
              <a:rPr lang="en-US" sz="1350" dirty="0">
                <a:solidFill>
                  <a:srgbClr val="5C6D64"/>
                </a:solidFill>
                <a:latin typeface="Calibri" pitchFamily="34" charset="0"/>
                <a:ea typeface="Calibri" pitchFamily="34" charset="-122"/>
                <a:cs typeface="Calibri" pitchFamily="34" charset="-120"/>
              </a:rPr>
              <a:t>Même dans un cadre juridique protecteur, une exception peut être introduite par un simple texte d'application. Seule une vigilance citoyenne permanente empêche la sécurité de devenir le prétexte d'une restriction des libertés.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D35"/>
        </a:solidFill>
      </p:bgPr>
    </p:bg>
    <p:spTree>
      <p:nvGrpSpPr>
        <p:cNvPr id="1" name=""/>
        <p:cNvGrpSpPr/>
        <p:nvPr/>
      </p:nvGrpSpPr>
      <p:grpSpPr>
        <a:xfrm>
          <a:off x="0" y="0"/>
          <a:ext cx="0" cy="0"/>
          <a:chOff x="0" y="0"/>
          <a:chExt cx="0" cy="0"/>
        </a:xfrm>
      </p:grpSpPr>
      <p:sp>
        <p:nvSpPr>
          <p:cNvPr id="2" name="Shape 0"/>
          <p:cNvSpPr/>
          <p:nvPr/>
        </p:nvSpPr>
        <p:spPr>
          <a:xfrm>
            <a:off x="9326880" y="3566160"/>
            <a:ext cx="4572000" cy="4572000"/>
          </a:xfrm>
          <a:prstGeom prst="ellipse">
            <a:avLst/>
          </a:prstGeom>
          <a:solidFill>
            <a:srgbClr val="0B5D50">
              <a:alpha val="50000"/>
            </a:srgbClr>
          </a:solidFill>
          <a:ln/>
        </p:spPr>
      </p:sp>
      <p:sp>
        <p:nvSpPr>
          <p:cNvPr id="3" name="Text 1"/>
          <p:cNvSpPr txBox="1"/>
          <p:nvPr/>
        </p:nvSpPr>
        <p:spPr>
          <a:xfrm>
            <a:off x="566928" y="1508760"/>
            <a:ext cx="5486400" cy="274320"/>
          </a:xfrm>
          <a:prstGeom prst="rect">
            <a:avLst/>
          </a:prstGeom>
          <a:noFill/>
          <a:ln/>
        </p:spPr>
        <p:txBody>
          <a:bodyPr wrap="square" lIns="0" tIns="0" rIns="0" bIns="0" rtlCol="0" anchor="ctr"/>
          <a:lstStyle/>
          <a:p>
            <a:pPr indent="0" marL="0">
              <a:buNone/>
            </a:pPr>
            <a:r>
              <a:rPr lang="en-US" sz="1100" b="1" spc="300" kern="0" dirty="0">
                <a:solidFill>
                  <a:srgbClr val="D9A521"/>
                </a:solidFill>
                <a:latin typeface="Courier New" pitchFamily="34" charset="0"/>
                <a:ea typeface="Courier New" pitchFamily="34" charset="-122"/>
                <a:cs typeface="Courier New" pitchFamily="34" charset="-120"/>
              </a:rPr>
              <a:t>QUESTION À LA SALLE</a:t>
            </a:r>
            <a:endParaRPr lang="en-US" sz="1100" dirty="0"/>
          </a:p>
        </p:txBody>
      </p:sp>
      <p:sp>
        <p:nvSpPr>
          <p:cNvPr id="4" name="Text 2"/>
          <p:cNvSpPr txBox="1"/>
          <p:nvPr/>
        </p:nvSpPr>
        <p:spPr>
          <a:xfrm>
            <a:off x="566928" y="2011680"/>
            <a:ext cx="9692640" cy="2468880"/>
          </a:xfrm>
          <a:prstGeom prst="rect">
            <a:avLst/>
          </a:prstGeom>
          <a:noFill/>
          <a:ln/>
        </p:spPr>
        <p:txBody>
          <a:bodyPr wrap="square" lIns="0" tIns="0" rIns="0" bIns="0" rtlCol="0" anchor="t"/>
          <a:lstStyle/>
          <a:p>
            <a:pPr indent="0" marL="0">
              <a:lnSpc>
                <a:spcPts val="4400"/>
              </a:lnSpc>
              <a:buNone/>
            </a:pPr>
            <a:r>
              <a:rPr lang="en-US" sz="3600" b="1" dirty="0">
                <a:solidFill>
                  <a:srgbClr val="FFFFFF"/>
                </a:solidFill>
                <a:latin typeface="Cambria" pitchFamily="34" charset="0"/>
                <a:ea typeface="Cambria" pitchFamily="34" charset="-122"/>
                <a:cs typeface="Cambria" pitchFamily="34" charset="-120"/>
              </a:rPr>
              <a:t>Peut-on encore se sentir libre si chaque clic, chaque visage et chaque comportement peuvent être analysés ?</a:t>
            </a:r>
            <a:endParaRPr lang="en-US" sz="3600" dirty="0"/>
          </a:p>
        </p:txBody>
      </p:sp>
      <p:sp>
        <p:nvSpPr>
          <p:cNvPr id="5" name="Text 3"/>
          <p:cNvSpPr txBox="1"/>
          <p:nvPr/>
        </p:nvSpPr>
        <p:spPr>
          <a:xfrm>
            <a:off x="566928" y="4709160"/>
            <a:ext cx="8503920" cy="914400"/>
          </a:xfrm>
          <a:prstGeom prst="rect">
            <a:avLst/>
          </a:prstGeom>
          <a:noFill/>
          <a:ln/>
        </p:spPr>
        <p:txBody>
          <a:bodyPr wrap="square" lIns="0" tIns="0" rIns="0" bIns="0" rtlCol="0" anchor="t"/>
          <a:lstStyle/>
          <a:p>
            <a:pPr indent="0" marL="0">
              <a:lnSpc>
                <a:spcPts val="2200"/>
              </a:lnSpc>
              <a:buNone/>
            </a:pPr>
            <a:r>
              <a:rPr lang="en-US" sz="1500" dirty="0">
                <a:solidFill>
                  <a:srgbClr val="9FBFB5"/>
                </a:solidFill>
                <a:latin typeface="Calibri" pitchFamily="34" charset="0"/>
                <a:ea typeface="Calibri" pitchFamily="34" charset="-122"/>
                <a:cs typeface="Calibri" pitchFamily="34" charset="-120"/>
              </a:rPr>
              <a:t>La surveillance atteint la vie privée, mais aussi la liberté d'expression — on s'exprime moins librement quand on se sait observé — et l'accès à l'information, quand le profilage décide de ce que chacun voit.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3D35"/>
        </a:solidFill>
      </p:bgPr>
    </p:bg>
    <p:spTree>
      <p:nvGrpSpPr>
        <p:cNvPr id="1" name=""/>
        <p:cNvGrpSpPr/>
        <p:nvPr/>
      </p:nvGrpSpPr>
      <p:grpSpPr>
        <a:xfrm>
          <a:off x="0" y="0"/>
          <a:ext cx="0" cy="0"/>
          <a:chOff x="0" y="0"/>
          <a:chExt cx="0" cy="0"/>
        </a:xfrm>
      </p:grpSpPr>
      <p:sp>
        <p:nvSpPr>
          <p:cNvPr id="2" name="Shape 0"/>
          <p:cNvSpPr/>
          <p:nvPr/>
        </p:nvSpPr>
        <p:spPr>
          <a:xfrm>
            <a:off x="9509760" y="-1097280"/>
            <a:ext cx="4206240" cy="4206240"/>
          </a:xfrm>
          <a:prstGeom prst="ellipse">
            <a:avLst/>
          </a:prstGeom>
          <a:solidFill>
            <a:srgbClr val="0B5D50">
              <a:alpha val="42000"/>
            </a:srgbClr>
          </a:solidFill>
          <a:ln/>
        </p:spPr>
      </p:sp>
      <p:sp>
        <p:nvSpPr>
          <p:cNvPr id="3" name="Text 1"/>
          <p:cNvSpPr txBox="1"/>
          <p:nvPr/>
        </p:nvSpPr>
        <p:spPr>
          <a:xfrm>
            <a:off x="566928" y="1737360"/>
            <a:ext cx="2743200" cy="274320"/>
          </a:xfrm>
          <a:prstGeom prst="rect">
            <a:avLst/>
          </a:prstGeom>
          <a:noFill/>
          <a:ln/>
        </p:spPr>
        <p:txBody>
          <a:bodyPr wrap="square" lIns="0" tIns="0" rIns="0" bIns="0" rtlCol="0" anchor="ctr"/>
          <a:lstStyle/>
          <a:p>
            <a:pPr indent="0" marL="0">
              <a:buNone/>
            </a:pPr>
            <a:r>
              <a:rPr lang="en-US" sz="1100" b="1" spc="300" kern="0" dirty="0">
                <a:solidFill>
                  <a:srgbClr val="9FBFB5"/>
                </a:solidFill>
                <a:latin typeface="Courier New" pitchFamily="34" charset="0"/>
                <a:ea typeface="Courier New" pitchFamily="34" charset="-122"/>
                <a:cs typeface="Courier New" pitchFamily="34" charset="-120"/>
              </a:rPr>
              <a:t>MODULE</a:t>
            </a:r>
            <a:endParaRPr lang="en-US" sz="1100" dirty="0"/>
          </a:p>
        </p:txBody>
      </p:sp>
      <p:sp>
        <p:nvSpPr>
          <p:cNvPr id="4" name="Text 2"/>
          <p:cNvSpPr txBox="1"/>
          <p:nvPr/>
        </p:nvSpPr>
        <p:spPr>
          <a:xfrm>
            <a:off x="566928" y="1965960"/>
            <a:ext cx="2926080" cy="1371600"/>
          </a:xfrm>
          <a:prstGeom prst="rect">
            <a:avLst/>
          </a:prstGeom>
          <a:noFill/>
          <a:ln/>
        </p:spPr>
        <p:txBody>
          <a:bodyPr wrap="square" lIns="0" tIns="0" rIns="0" bIns="0" rtlCol="0" anchor="t"/>
          <a:lstStyle/>
          <a:p>
            <a:pPr indent="0" marL="0">
              <a:buNone/>
            </a:pPr>
            <a:r>
              <a:rPr lang="en-US" sz="8800" b="1" dirty="0">
                <a:solidFill>
                  <a:srgbClr val="D9A521"/>
                </a:solidFill>
                <a:latin typeface="Cambria" pitchFamily="34" charset="0"/>
                <a:ea typeface="Cambria" pitchFamily="34" charset="-122"/>
                <a:cs typeface="Cambria" pitchFamily="34" charset="-120"/>
              </a:rPr>
              <a:t>03</a:t>
            </a:r>
            <a:endParaRPr lang="en-US" sz="8800" dirty="0"/>
          </a:p>
        </p:txBody>
      </p:sp>
      <p:sp>
        <p:nvSpPr>
          <p:cNvPr id="5" name="Text 3"/>
          <p:cNvSpPr txBox="1"/>
          <p:nvPr/>
        </p:nvSpPr>
        <p:spPr>
          <a:xfrm>
            <a:off x="566928" y="3520440"/>
            <a:ext cx="9326880" cy="100584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L'IA axée sur la confidentialité</a:t>
            </a:r>
            <a:endParaRPr lang="en-US" sz="3800" dirty="0"/>
          </a:p>
        </p:txBody>
      </p:sp>
      <p:sp>
        <p:nvSpPr>
          <p:cNvPr id="6" name="Text 4"/>
          <p:cNvSpPr txBox="1"/>
          <p:nvPr/>
        </p:nvSpPr>
        <p:spPr>
          <a:xfrm>
            <a:off x="566928" y="4572000"/>
            <a:ext cx="8595360" cy="457200"/>
          </a:xfrm>
          <a:prstGeom prst="rect">
            <a:avLst/>
          </a:prstGeom>
          <a:noFill/>
          <a:ln/>
        </p:spPr>
        <p:txBody>
          <a:bodyPr wrap="square" lIns="0" tIns="0" rIns="0" bIns="0" rtlCol="0" anchor="t"/>
          <a:lstStyle/>
          <a:p>
            <a:pPr indent="0" marL="0">
              <a:buNone/>
            </a:pPr>
            <a:r>
              <a:rPr lang="en-US" sz="1550" dirty="0">
                <a:solidFill>
                  <a:srgbClr val="9FBFB5"/>
                </a:solidFill>
                <a:latin typeface="Calibri" pitchFamily="34" charset="0"/>
                <a:ea typeface="Calibri" pitchFamily="34" charset="-122"/>
                <a:cs typeface="Calibri" pitchFamily="34" charset="-120"/>
              </a:rPr>
              <a:t>Privacy by Design : protéger la donnée à la source</a:t>
            </a:r>
            <a:endParaRPr lang="en-US" sz="1550" dirty="0"/>
          </a:p>
        </p:txBody>
      </p:sp>
      <p:sp>
        <p:nvSpPr>
          <p:cNvPr id="7" name="Text 5"/>
          <p:cNvSpPr txBox="1"/>
          <p:nvPr/>
        </p:nvSpPr>
        <p:spPr>
          <a:xfrm>
            <a:off x="9582912" y="1737360"/>
            <a:ext cx="2011680" cy="274320"/>
          </a:xfrm>
          <a:prstGeom prst="rect">
            <a:avLst/>
          </a:prstGeom>
          <a:noFill/>
          <a:ln/>
        </p:spPr>
        <p:txBody>
          <a:bodyPr wrap="square" lIns="0" tIns="0" rIns="0" bIns="0" rtlCol="0" anchor="ctr"/>
          <a:lstStyle/>
          <a:p>
            <a:pPr algn="r" indent="0" marL="0">
              <a:buNone/>
            </a:pPr>
            <a:r>
              <a:rPr lang="en-US" sz="1100" b="1" dirty="0">
                <a:solidFill>
                  <a:srgbClr val="D9A521"/>
                </a:solidFill>
                <a:latin typeface="Courier New" pitchFamily="34" charset="0"/>
                <a:ea typeface="Courier New" pitchFamily="34" charset="-122"/>
                <a:cs typeface="Courier New" pitchFamily="34" charset="-120"/>
              </a:rPr>
              <a:t>12 MIN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MODULE 3 · PRIVACY BY DESIGN</a:t>
            </a:r>
            <a:endParaRPr lang="en-US" sz="950" dirty="0"/>
          </a:p>
        </p:txBody>
      </p:sp>
      <p:sp>
        <p:nvSpPr>
          <p:cNvPr id="3" name="Text 1"/>
          <p:cNvSpPr txBox="1"/>
          <p:nvPr/>
        </p:nvSpPr>
        <p:spPr>
          <a:xfrm>
            <a:off x="9765792" y="402336"/>
            <a:ext cx="1828800" cy="237744"/>
          </a:xfrm>
          <a:prstGeom prst="rect">
            <a:avLst/>
          </a:prstGeom>
          <a:noFill/>
          <a:ln/>
        </p:spPr>
        <p:txBody>
          <a:bodyPr wrap="square" lIns="0" tIns="0" rIns="0" bIns="0" rtlCol="0" anchor="ctr"/>
          <a:lstStyle/>
          <a:p>
            <a:pPr algn="r" indent="0" marL="0">
              <a:buNone/>
            </a:pPr>
            <a:r>
              <a:rPr lang="en-US" sz="950" b="1" dirty="0">
                <a:solidFill>
                  <a:srgbClr val="8A9A91"/>
                </a:solidFill>
                <a:latin typeface="Courier New" pitchFamily="34" charset="0"/>
                <a:ea typeface="Courier New" pitchFamily="34" charset="-122"/>
                <a:cs typeface="Courier New" pitchFamily="34" charset="-120"/>
              </a:rPr>
              <a:t>3 MIN</a:t>
            </a:r>
            <a:endParaRPr lang="en-US" sz="950" dirty="0"/>
          </a:p>
        </p:txBody>
      </p:sp>
      <p:sp>
        <p:nvSpPr>
          <p:cNvPr id="4" name="Text 2"/>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200" b="1" dirty="0">
                <a:solidFill>
                  <a:srgbClr val="12211D"/>
                </a:solidFill>
                <a:latin typeface="Cambria" pitchFamily="34" charset="0"/>
                <a:ea typeface="Cambria" pitchFamily="34" charset="-122"/>
                <a:cs typeface="Cambria" pitchFamily="34" charset="-120"/>
              </a:rPr>
              <a:t>Trois technologies qui protègent la donnée</a:t>
            </a:r>
            <a:endParaRPr lang="en-US" sz="3200" dirty="0"/>
          </a:p>
        </p:txBody>
      </p:sp>
      <p:sp>
        <p:nvSpPr>
          <p:cNvPr id="5" name="Text 3"/>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6" name="Text 4"/>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16</a:t>
            </a:r>
            <a:endParaRPr lang="en-US" sz="800" dirty="0"/>
          </a:p>
        </p:txBody>
      </p:sp>
      <p:sp>
        <p:nvSpPr>
          <p:cNvPr id="7" name="Text 5"/>
          <p:cNvSpPr txBox="1"/>
          <p:nvPr/>
        </p:nvSpPr>
        <p:spPr>
          <a:xfrm>
            <a:off x="566928" y="1481328"/>
            <a:ext cx="10424160" cy="365760"/>
          </a:xfrm>
          <a:prstGeom prst="rect">
            <a:avLst/>
          </a:prstGeom>
          <a:noFill/>
          <a:ln/>
        </p:spPr>
        <p:txBody>
          <a:bodyPr wrap="square" lIns="0" tIns="0" rIns="0" bIns="0" rtlCol="0" anchor="t"/>
          <a:lstStyle/>
          <a:p>
            <a:pPr indent="0" marL="0">
              <a:buNone/>
            </a:pPr>
            <a:r>
              <a:rPr lang="en-US" sz="1400" dirty="0">
                <a:solidFill>
                  <a:srgbClr val="5C6D64"/>
                </a:solidFill>
                <a:latin typeface="Calibri" pitchFamily="34" charset="0"/>
                <a:ea typeface="Calibri" pitchFamily="34" charset="-122"/>
                <a:cs typeface="Calibri" pitchFamily="34" charset="-120"/>
              </a:rPr>
              <a:t>La vie privée devient un paramètre de conception, non une option à cocher après coup.</a:t>
            </a:r>
            <a:endParaRPr lang="en-US" sz="1400" dirty="0"/>
          </a:p>
        </p:txBody>
      </p:sp>
      <p:sp>
        <p:nvSpPr>
          <p:cNvPr id="8" name="Shape 6"/>
          <p:cNvSpPr/>
          <p:nvPr/>
        </p:nvSpPr>
        <p:spPr>
          <a:xfrm>
            <a:off x="566928" y="2084832"/>
            <a:ext cx="3493008" cy="3611880"/>
          </a:xfrm>
          <a:prstGeom prst="roundRect">
            <a:avLst>
              <a:gd name="adj" fmla="val 1832"/>
            </a:avLst>
          </a:prstGeom>
          <a:solidFill>
            <a:srgbClr val="FFFFFF"/>
          </a:solidFill>
          <a:ln/>
          <a:effectLst>
            <a:outerShdw sx="100000" sy="100000" kx="0" ky="0" algn="bl" rotWithShape="0" blurRad="114300" dist="38100" dir="5400000">
              <a:srgbClr val="0B3D35">
                <a:alpha val="9000"/>
              </a:srgbClr>
            </a:outerShdw>
          </a:effectLst>
        </p:spPr>
      </p:sp>
      <p:sp>
        <p:nvSpPr>
          <p:cNvPr id="9" name="Text 7"/>
          <p:cNvSpPr txBox="1"/>
          <p:nvPr/>
        </p:nvSpPr>
        <p:spPr>
          <a:xfrm>
            <a:off x="841248" y="2304288"/>
            <a:ext cx="2944368" cy="274320"/>
          </a:xfrm>
          <a:prstGeom prst="rect">
            <a:avLst/>
          </a:prstGeom>
          <a:noFill/>
          <a:ln/>
        </p:spPr>
        <p:txBody>
          <a:bodyPr wrap="square" lIns="0" tIns="0" rIns="0" bIns="0" rtlCol="0" anchor="ctr"/>
          <a:lstStyle/>
          <a:p>
            <a:pPr indent="0" marL="0">
              <a:buNone/>
            </a:pPr>
            <a:r>
              <a:rPr lang="en-US" sz="1100" b="1" dirty="0">
                <a:solidFill>
                  <a:srgbClr val="0B5D50"/>
                </a:solidFill>
                <a:latin typeface="Courier New" pitchFamily="34" charset="0"/>
                <a:ea typeface="Courier New" pitchFamily="34" charset="-122"/>
                <a:cs typeface="Courier New" pitchFamily="34" charset="-120"/>
              </a:rPr>
              <a:t>Federated Learning</a:t>
            </a:r>
            <a:endParaRPr lang="en-US" sz="1100" dirty="0"/>
          </a:p>
        </p:txBody>
      </p:sp>
      <p:sp>
        <p:nvSpPr>
          <p:cNvPr id="10" name="Text 8"/>
          <p:cNvSpPr txBox="1"/>
          <p:nvPr/>
        </p:nvSpPr>
        <p:spPr>
          <a:xfrm>
            <a:off x="841248" y="2615184"/>
            <a:ext cx="2944368" cy="603504"/>
          </a:xfrm>
          <a:prstGeom prst="rect">
            <a:avLst/>
          </a:prstGeom>
          <a:noFill/>
          <a:ln/>
        </p:spPr>
        <p:txBody>
          <a:bodyPr wrap="square" lIns="0" tIns="0" rIns="0" bIns="0" rtlCol="0" anchor="t"/>
          <a:lstStyle/>
          <a:p>
            <a:pPr indent="0" marL="0">
              <a:buNone/>
            </a:pPr>
            <a:r>
              <a:rPr lang="en-US" sz="2000" b="1" dirty="0">
                <a:solidFill>
                  <a:srgbClr val="12211D"/>
                </a:solidFill>
                <a:latin typeface="Cambria" pitchFamily="34" charset="0"/>
                <a:ea typeface="Cambria" pitchFamily="34" charset="-122"/>
                <a:cs typeface="Cambria" pitchFamily="34" charset="-120"/>
              </a:rPr>
              <a:t>Apprentissage fédéré</a:t>
            </a:r>
            <a:endParaRPr lang="en-US" sz="2000" dirty="0"/>
          </a:p>
        </p:txBody>
      </p:sp>
      <p:sp>
        <p:nvSpPr>
          <p:cNvPr id="11" name="Text 9"/>
          <p:cNvSpPr txBox="1"/>
          <p:nvPr/>
        </p:nvSpPr>
        <p:spPr>
          <a:xfrm>
            <a:off x="841248" y="3291840"/>
            <a:ext cx="2944368" cy="1417320"/>
          </a:xfrm>
          <a:prstGeom prst="rect">
            <a:avLst/>
          </a:prstGeom>
          <a:noFill/>
          <a:ln/>
        </p:spPr>
        <p:txBody>
          <a:bodyPr wrap="square" lIns="0" tIns="0" rIns="0" bIns="0" rtlCol="0" anchor="t"/>
          <a:lstStyle/>
          <a:p>
            <a:pPr indent="0" marL="0">
              <a:lnSpc>
                <a:spcPts val="1900"/>
              </a:lnSpc>
              <a:buNone/>
            </a:pPr>
            <a:r>
              <a:rPr lang="en-US" sz="1300" dirty="0">
                <a:solidFill>
                  <a:srgbClr val="5C6D64"/>
                </a:solidFill>
                <a:latin typeface="Calibri" pitchFamily="34" charset="0"/>
                <a:ea typeface="Calibri" pitchFamily="34" charset="-122"/>
                <a:cs typeface="Calibri" pitchFamily="34" charset="-120"/>
              </a:rPr>
              <a:t>Les données brutes restent sur chaque appareil ; seules des mises à jour de calcul remontent vers le serveur, qui améliore le modèle sans jamais voir les données.</a:t>
            </a:r>
            <a:endParaRPr lang="en-US" sz="1300" dirty="0"/>
          </a:p>
        </p:txBody>
      </p:sp>
      <p:sp>
        <p:nvSpPr>
          <p:cNvPr id="12" name="Shape 10"/>
          <p:cNvSpPr/>
          <p:nvPr/>
        </p:nvSpPr>
        <p:spPr>
          <a:xfrm>
            <a:off x="841248" y="4828032"/>
            <a:ext cx="2944368" cy="685800"/>
          </a:xfrm>
          <a:prstGeom prst="roundRect">
            <a:avLst>
              <a:gd name="adj" fmla="val 9333"/>
            </a:avLst>
          </a:prstGeom>
          <a:solidFill>
            <a:srgbClr val="F6EDD8"/>
          </a:solidFill>
          <a:ln/>
        </p:spPr>
      </p:sp>
      <p:sp>
        <p:nvSpPr>
          <p:cNvPr id="13" name="Text 11"/>
          <p:cNvSpPr txBox="1"/>
          <p:nvPr/>
        </p:nvSpPr>
        <p:spPr>
          <a:xfrm>
            <a:off x="1005840" y="4828032"/>
            <a:ext cx="2615184" cy="685800"/>
          </a:xfrm>
          <a:prstGeom prst="rect">
            <a:avLst/>
          </a:prstGeom>
          <a:noFill/>
          <a:ln/>
        </p:spPr>
        <p:txBody>
          <a:bodyPr wrap="square" lIns="0" tIns="0" rIns="0" bIns="0" rtlCol="0" anchor="ctr"/>
          <a:lstStyle/>
          <a:p>
            <a:pPr indent="0" marL="0">
              <a:buNone/>
            </a:pPr>
            <a:r>
              <a:rPr lang="en-US" sz="1350" i="1" dirty="0">
                <a:solidFill>
                  <a:srgbClr val="12211D"/>
                </a:solidFill>
                <a:latin typeface="Cambria" pitchFamily="34" charset="0"/>
                <a:ea typeface="Cambria" pitchFamily="34" charset="-122"/>
                <a:cs typeface="Cambria" pitchFamily="34" charset="-120"/>
              </a:rPr>
              <a:t>Le professeur corrige sans ramasser les cahiers.</a:t>
            </a:r>
            <a:endParaRPr lang="en-US" sz="1350" dirty="0"/>
          </a:p>
        </p:txBody>
      </p:sp>
      <p:sp>
        <p:nvSpPr>
          <p:cNvPr id="14" name="Shape 12"/>
          <p:cNvSpPr/>
          <p:nvPr/>
        </p:nvSpPr>
        <p:spPr>
          <a:xfrm>
            <a:off x="4334256" y="2084832"/>
            <a:ext cx="3493008" cy="3611880"/>
          </a:xfrm>
          <a:prstGeom prst="roundRect">
            <a:avLst>
              <a:gd name="adj" fmla="val 1832"/>
            </a:avLst>
          </a:prstGeom>
          <a:solidFill>
            <a:srgbClr val="FFFFFF"/>
          </a:solidFill>
          <a:ln/>
          <a:effectLst>
            <a:outerShdw sx="100000" sy="100000" kx="0" ky="0" algn="bl" rotWithShape="0" blurRad="114300" dist="38100" dir="5400000">
              <a:srgbClr val="0B3D35">
                <a:alpha val="9000"/>
              </a:srgbClr>
            </a:outerShdw>
          </a:effectLst>
        </p:spPr>
      </p:sp>
      <p:sp>
        <p:nvSpPr>
          <p:cNvPr id="15" name="Text 13"/>
          <p:cNvSpPr txBox="1"/>
          <p:nvPr/>
        </p:nvSpPr>
        <p:spPr>
          <a:xfrm>
            <a:off x="4608576" y="2304288"/>
            <a:ext cx="2944368" cy="274320"/>
          </a:xfrm>
          <a:prstGeom prst="rect">
            <a:avLst/>
          </a:prstGeom>
          <a:noFill/>
          <a:ln/>
        </p:spPr>
        <p:txBody>
          <a:bodyPr wrap="square" lIns="0" tIns="0" rIns="0" bIns="0" rtlCol="0" anchor="ctr"/>
          <a:lstStyle/>
          <a:p>
            <a:pPr indent="0" marL="0">
              <a:buNone/>
            </a:pPr>
            <a:r>
              <a:rPr lang="en-US" sz="1100" b="1" dirty="0">
                <a:solidFill>
                  <a:srgbClr val="0B5D50"/>
                </a:solidFill>
                <a:latin typeface="Courier New" pitchFamily="34" charset="0"/>
                <a:ea typeface="Courier New" pitchFamily="34" charset="-122"/>
                <a:cs typeface="Courier New" pitchFamily="34" charset="-120"/>
              </a:rPr>
              <a:t>Differential Privacy</a:t>
            </a:r>
            <a:endParaRPr lang="en-US" sz="1100" dirty="0"/>
          </a:p>
        </p:txBody>
      </p:sp>
      <p:sp>
        <p:nvSpPr>
          <p:cNvPr id="16" name="Text 14"/>
          <p:cNvSpPr txBox="1"/>
          <p:nvPr/>
        </p:nvSpPr>
        <p:spPr>
          <a:xfrm>
            <a:off x="4608576" y="2615184"/>
            <a:ext cx="2944368" cy="603504"/>
          </a:xfrm>
          <a:prstGeom prst="rect">
            <a:avLst/>
          </a:prstGeom>
          <a:noFill/>
          <a:ln/>
        </p:spPr>
        <p:txBody>
          <a:bodyPr wrap="square" lIns="0" tIns="0" rIns="0" bIns="0" rtlCol="0" anchor="t"/>
          <a:lstStyle/>
          <a:p>
            <a:pPr indent="0" marL="0">
              <a:buNone/>
            </a:pPr>
            <a:r>
              <a:rPr lang="en-US" sz="2000" b="1" dirty="0">
                <a:solidFill>
                  <a:srgbClr val="12211D"/>
                </a:solidFill>
                <a:latin typeface="Cambria" pitchFamily="34" charset="0"/>
                <a:ea typeface="Cambria" pitchFamily="34" charset="-122"/>
                <a:cs typeface="Cambria" pitchFamily="34" charset="-120"/>
              </a:rPr>
              <a:t>Confidentialité différentielle</a:t>
            </a:r>
            <a:endParaRPr lang="en-US" sz="2000" dirty="0"/>
          </a:p>
        </p:txBody>
      </p:sp>
      <p:sp>
        <p:nvSpPr>
          <p:cNvPr id="17" name="Text 15"/>
          <p:cNvSpPr txBox="1"/>
          <p:nvPr/>
        </p:nvSpPr>
        <p:spPr>
          <a:xfrm>
            <a:off x="4608576" y="3291840"/>
            <a:ext cx="2944368" cy="1417320"/>
          </a:xfrm>
          <a:prstGeom prst="rect">
            <a:avLst/>
          </a:prstGeom>
          <a:noFill/>
          <a:ln/>
        </p:spPr>
        <p:txBody>
          <a:bodyPr wrap="square" lIns="0" tIns="0" rIns="0" bIns="0" rtlCol="0" anchor="t"/>
          <a:lstStyle/>
          <a:p>
            <a:pPr indent="0" marL="0">
              <a:lnSpc>
                <a:spcPts val="1900"/>
              </a:lnSpc>
              <a:buNone/>
            </a:pPr>
            <a:r>
              <a:rPr lang="en-US" sz="1300" dirty="0">
                <a:solidFill>
                  <a:srgbClr val="5C6D64"/>
                </a:solidFill>
                <a:latin typeface="Calibri" pitchFamily="34" charset="0"/>
                <a:ea typeface="Calibri" pitchFamily="34" charset="-122"/>
                <a:cs typeface="Calibri" pitchFamily="34" charset="-120"/>
              </a:rPr>
              <a:t>Un bruit mathématique calibré est injecté avant le partage : la tendance du groupe reste lisible, l'individu redevient non identifiable.</a:t>
            </a:r>
            <a:endParaRPr lang="en-US" sz="1300" dirty="0"/>
          </a:p>
        </p:txBody>
      </p:sp>
      <p:sp>
        <p:nvSpPr>
          <p:cNvPr id="18" name="Shape 16"/>
          <p:cNvSpPr/>
          <p:nvPr/>
        </p:nvSpPr>
        <p:spPr>
          <a:xfrm>
            <a:off x="4608576" y="4828032"/>
            <a:ext cx="2944368" cy="685800"/>
          </a:xfrm>
          <a:prstGeom prst="roundRect">
            <a:avLst>
              <a:gd name="adj" fmla="val 9333"/>
            </a:avLst>
          </a:prstGeom>
          <a:solidFill>
            <a:srgbClr val="F6EDD8"/>
          </a:solidFill>
          <a:ln/>
        </p:spPr>
      </p:sp>
      <p:sp>
        <p:nvSpPr>
          <p:cNvPr id="19" name="Text 17"/>
          <p:cNvSpPr txBox="1"/>
          <p:nvPr/>
        </p:nvSpPr>
        <p:spPr>
          <a:xfrm>
            <a:off x="4773168" y="4828032"/>
            <a:ext cx="2615184" cy="685800"/>
          </a:xfrm>
          <a:prstGeom prst="rect">
            <a:avLst/>
          </a:prstGeom>
          <a:noFill/>
          <a:ln/>
        </p:spPr>
        <p:txBody>
          <a:bodyPr wrap="square" lIns="0" tIns="0" rIns="0" bIns="0" rtlCol="0" anchor="ctr"/>
          <a:lstStyle/>
          <a:p>
            <a:pPr indent="0" marL="0">
              <a:buNone/>
            </a:pPr>
            <a:r>
              <a:rPr lang="en-US" sz="1350" i="1" dirty="0">
                <a:solidFill>
                  <a:srgbClr val="12211D"/>
                </a:solidFill>
                <a:latin typeface="Cambria" pitchFamily="34" charset="0"/>
                <a:ea typeface="Cambria" pitchFamily="34" charset="-122"/>
                <a:cs typeface="Cambria" pitchFamily="34" charset="-120"/>
              </a:rPr>
              <a:t>On voit la foule, pas les visages.</a:t>
            </a:r>
            <a:endParaRPr lang="en-US" sz="1350" dirty="0"/>
          </a:p>
        </p:txBody>
      </p:sp>
      <p:sp>
        <p:nvSpPr>
          <p:cNvPr id="20" name="Shape 18"/>
          <p:cNvSpPr/>
          <p:nvPr/>
        </p:nvSpPr>
        <p:spPr>
          <a:xfrm>
            <a:off x="8101584" y="2084832"/>
            <a:ext cx="3493008" cy="3611880"/>
          </a:xfrm>
          <a:prstGeom prst="roundRect">
            <a:avLst>
              <a:gd name="adj" fmla="val 1832"/>
            </a:avLst>
          </a:prstGeom>
          <a:solidFill>
            <a:srgbClr val="FFFFFF"/>
          </a:solidFill>
          <a:ln/>
          <a:effectLst>
            <a:outerShdw sx="100000" sy="100000" kx="0" ky="0" algn="bl" rotWithShape="0" blurRad="114300" dist="38100" dir="5400000">
              <a:srgbClr val="0B3D35">
                <a:alpha val="9000"/>
              </a:srgbClr>
            </a:outerShdw>
          </a:effectLst>
        </p:spPr>
      </p:sp>
      <p:sp>
        <p:nvSpPr>
          <p:cNvPr id="21" name="Text 19"/>
          <p:cNvSpPr txBox="1"/>
          <p:nvPr/>
        </p:nvSpPr>
        <p:spPr>
          <a:xfrm>
            <a:off x="8375904" y="2304288"/>
            <a:ext cx="2944368" cy="274320"/>
          </a:xfrm>
          <a:prstGeom prst="rect">
            <a:avLst/>
          </a:prstGeom>
          <a:noFill/>
          <a:ln/>
        </p:spPr>
        <p:txBody>
          <a:bodyPr wrap="square" lIns="0" tIns="0" rIns="0" bIns="0" rtlCol="0" anchor="ctr"/>
          <a:lstStyle/>
          <a:p>
            <a:pPr indent="0" marL="0">
              <a:buNone/>
            </a:pPr>
            <a:r>
              <a:rPr lang="en-US" sz="1100" b="1" dirty="0">
                <a:solidFill>
                  <a:srgbClr val="0B5D50"/>
                </a:solidFill>
                <a:latin typeface="Courier New" pitchFamily="34" charset="0"/>
                <a:ea typeface="Courier New" pitchFamily="34" charset="-122"/>
                <a:cs typeface="Courier New" pitchFamily="34" charset="-120"/>
              </a:rPr>
              <a:t>Edge AI</a:t>
            </a:r>
            <a:endParaRPr lang="en-US" sz="1100" dirty="0"/>
          </a:p>
        </p:txBody>
      </p:sp>
      <p:sp>
        <p:nvSpPr>
          <p:cNvPr id="22" name="Text 20"/>
          <p:cNvSpPr txBox="1"/>
          <p:nvPr/>
        </p:nvSpPr>
        <p:spPr>
          <a:xfrm>
            <a:off x="8375904" y="2615184"/>
            <a:ext cx="2944368" cy="603504"/>
          </a:xfrm>
          <a:prstGeom prst="rect">
            <a:avLst/>
          </a:prstGeom>
          <a:noFill/>
          <a:ln/>
        </p:spPr>
        <p:txBody>
          <a:bodyPr wrap="square" lIns="0" tIns="0" rIns="0" bIns="0" rtlCol="0" anchor="t"/>
          <a:lstStyle/>
          <a:p>
            <a:pPr indent="0" marL="0">
              <a:buNone/>
            </a:pPr>
            <a:r>
              <a:rPr lang="en-US" sz="2000" b="1" dirty="0">
                <a:solidFill>
                  <a:srgbClr val="12211D"/>
                </a:solidFill>
                <a:latin typeface="Cambria" pitchFamily="34" charset="0"/>
                <a:ea typeface="Cambria" pitchFamily="34" charset="-122"/>
                <a:cs typeface="Cambria" pitchFamily="34" charset="-120"/>
              </a:rPr>
              <a:t>Traitement local</a:t>
            </a:r>
            <a:endParaRPr lang="en-US" sz="2000" dirty="0"/>
          </a:p>
        </p:txBody>
      </p:sp>
      <p:sp>
        <p:nvSpPr>
          <p:cNvPr id="23" name="Text 21"/>
          <p:cNvSpPr txBox="1"/>
          <p:nvPr/>
        </p:nvSpPr>
        <p:spPr>
          <a:xfrm>
            <a:off x="8375904" y="3291840"/>
            <a:ext cx="2944368" cy="1417320"/>
          </a:xfrm>
          <a:prstGeom prst="rect">
            <a:avLst/>
          </a:prstGeom>
          <a:noFill/>
          <a:ln/>
        </p:spPr>
        <p:txBody>
          <a:bodyPr wrap="square" lIns="0" tIns="0" rIns="0" bIns="0" rtlCol="0" anchor="t"/>
          <a:lstStyle/>
          <a:p>
            <a:pPr indent="0" marL="0">
              <a:lnSpc>
                <a:spcPts val="1900"/>
              </a:lnSpc>
              <a:buNone/>
            </a:pPr>
            <a:r>
              <a:rPr lang="en-US" sz="1300" dirty="0">
                <a:solidFill>
                  <a:srgbClr val="5C6D64"/>
                </a:solidFill>
                <a:latin typeface="Calibri" pitchFamily="34" charset="0"/>
                <a:ea typeface="Calibri" pitchFamily="34" charset="-122"/>
                <a:cs typeface="Calibri" pitchFamily="34" charset="-120"/>
              </a:rPr>
              <a:t>Le calcul s'exécute sur le téléphone ou la caméra locale : la donnée sensible ne voyage plus vers des serveurs situés à l'étranger.</a:t>
            </a:r>
            <a:endParaRPr lang="en-US" sz="1300" dirty="0"/>
          </a:p>
        </p:txBody>
      </p:sp>
      <p:sp>
        <p:nvSpPr>
          <p:cNvPr id="24" name="Shape 22"/>
          <p:cNvSpPr/>
          <p:nvPr/>
        </p:nvSpPr>
        <p:spPr>
          <a:xfrm>
            <a:off x="8375904" y="4828032"/>
            <a:ext cx="2944368" cy="685800"/>
          </a:xfrm>
          <a:prstGeom prst="roundRect">
            <a:avLst>
              <a:gd name="adj" fmla="val 9333"/>
            </a:avLst>
          </a:prstGeom>
          <a:solidFill>
            <a:srgbClr val="F6EDD8"/>
          </a:solidFill>
          <a:ln/>
        </p:spPr>
      </p:sp>
      <p:sp>
        <p:nvSpPr>
          <p:cNvPr id="25" name="Text 23"/>
          <p:cNvSpPr txBox="1"/>
          <p:nvPr/>
        </p:nvSpPr>
        <p:spPr>
          <a:xfrm>
            <a:off x="8540496" y="4828032"/>
            <a:ext cx="2615184" cy="685800"/>
          </a:xfrm>
          <a:prstGeom prst="rect">
            <a:avLst/>
          </a:prstGeom>
          <a:noFill/>
          <a:ln/>
        </p:spPr>
        <p:txBody>
          <a:bodyPr wrap="square" lIns="0" tIns="0" rIns="0" bIns="0" rtlCol="0" anchor="ctr"/>
          <a:lstStyle/>
          <a:p>
            <a:pPr indent="0" marL="0">
              <a:buNone/>
            </a:pPr>
            <a:r>
              <a:rPr lang="en-US" sz="1350" i="1" dirty="0">
                <a:solidFill>
                  <a:srgbClr val="12211D"/>
                </a:solidFill>
                <a:latin typeface="Cambria" pitchFamily="34" charset="0"/>
                <a:ea typeface="Cambria" pitchFamily="34" charset="-122"/>
                <a:cs typeface="Cambria" pitchFamily="34" charset="-120"/>
              </a:rPr>
              <a:t>La donnée reste à la maison.</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MODULE 3 · MÉCANISME</a:t>
            </a:r>
            <a:endParaRPr lang="en-US" sz="950" dirty="0"/>
          </a:p>
        </p:txBody>
      </p:sp>
      <p:sp>
        <p:nvSpPr>
          <p:cNvPr id="3" name="Text 1"/>
          <p:cNvSpPr txBox="1"/>
          <p:nvPr/>
        </p:nvSpPr>
        <p:spPr>
          <a:xfrm>
            <a:off x="9765792" y="402336"/>
            <a:ext cx="1828800" cy="237744"/>
          </a:xfrm>
          <a:prstGeom prst="rect">
            <a:avLst/>
          </a:prstGeom>
          <a:noFill/>
          <a:ln/>
        </p:spPr>
        <p:txBody>
          <a:bodyPr wrap="square" lIns="0" tIns="0" rIns="0" bIns="0" rtlCol="0" anchor="ctr"/>
          <a:lstStyle/>
          <a:p>
            <a:pPr algn="r" indent="0" marL="0">
              <a:buNone/>
            </a:pPr>
            <a:r>
              <a:rPr lang="en-US" sz="950" b="1" dirty="0">
                <a:solidFill>
                  <a:srgbClr val="8A9A91"/>
                </a:solidFill>
                <a:latin typeface="Courier New" pitchFamily="34" charset="0"/>
                <a:ea typeface="Courier New" pitchFamily="34" charset="-122"/>
                <a:cs typeface="Courier New" pitchFamily="34" charset="-120"/>
              </a:rPr>
              <a:t>4 MIN</a:t>
            </a:r>
            <a:endParaRPr lang="en-US" sz="950" dirty="0"/>
          </a:p>
        </p:txBody>
      </p:sp>
      <p:sp>
        <p:nvSpPr>
          <p:cNvPr id="4" name="Text 2"/>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200" b="1" dirty="0">
                <a:solidFill>
                  <a:srgbClr val="12211D"/>
                </a:solidFill>
                <a:latin typeface="Cambria" pitchFamily="34" charset="0"/>
                <a:ea typeface="Cambria" pitchFamily="34" charset="-122"/>
                <a:cs typeface="Cambria" pitchFamily="34" charset="-120"/>
              </a:rPr>
              <a:t>Apprentissage fédéré : comment ça marche</a:t>
            </a:r>
            <a:endParaRPr lang="en-US" sz="3200" dirty="0"/>
          </a:p>
        </p:txBody>
      </p:sp>
      <p:sp>
        <p:nvSpPr>
          <p:cNvPr id="5" name="Text 3"/>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6" name="Text 4"/>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17</a:t>
            </a:r>
            <a:endParaRPr lang="en-US" sz="800" dirty="0"/>
          </a:p>
        </p:txBody>
      </p:sp>
      <p:sp>
        <p:nvSpPr>
          <p:cNvPr id="7" name="Text 5"/>
          <p:cNvSpPr txBox="1"/>
          <p:nvPr/>
        </p:nvSpPr>
        <p:spPr>
          <a:xfrm>
            <a:off x="566928" y="1481328"/>
            <a:ext cx="10424160" cy="365760"/>
          </a:xfrm>
          <a:prstGeom prst="rect">
            <a:avLst/>
          </a:prstGeom>
          <a:noFill/>
          <a:ln/>
        </p:spPr>
        <p:txBody>
          <a:bodyPr wrap="square" lIns="0" tIns="0" rIns="0" bIns="0" rtlCol="0" anchor="t"/>
          <a:lstStyle/>
          <a:p>
            <a:pPr indent="0" marL="0">
              <a:buNone/>
            </a:pPr>
            <a:r>
              <a:rPr lang="en-US" sz="1400" dirty="0">
                <a:solidFill>
                  <a:srgbClr val="5C6D64"/>
                </a:solidFill>
                <a:latin typeface="Calibri" pitchFamily="34" charset="0"/>
                <a:ea typeface="Calibri" pitchFamily="34" charset="-122"/>
                <a:cs typeface="Calibri" pitchFamily="34" charset="-120"/>
              </a:rPr>
              <a:t>Dans l'apprentissage classique, toutes les données doivent être envoyées vers un serveur central. L'apprentissage fédéré renverse ce schéma.</a:t>
            </a:r>
            <a:endParaRPr lang="en-US" sz="1400" dirty="0"/>
          </a:p>
        </p:txBody>
      </p:sp>
      <p:sp>
        <p:nvSpPr>
          <p:cNvPr id="8" name="Shape 6"/>
          <p:cNvSpPr/>
          <p:nvPr/>
        </p:nvSpPr>
        <p:spPr>
          <a:xfrm>
            <a:off x="566928" y="2084832"/>
            <a:ext cx="3310128" cy="2578608"/>
          </a:xfrm>
          <a:prstGeom prst="roundRect">
            <a:avLst>
              <a:gd name="adj" fmla="val 2482"/>
            </a:avLst>
          </a:prstGeom>
          <a:solidFill>
            <a:srgbClr val="FFFFFF"/>
          </a:solidFill>
          <a:ln/>
          <a:effectLst>
            <a:outerShdw sx="100000" sy="100000" kx="0" ky="0" algn="bl" rotWithShape="0" blurRad="114300" dist="38100" dir="5400000">
              <a:srgbClr val="0B3D35">
                <a:alpha val="9000"/>
              </a:srgbClr>
            </a:outerShdw>
          </a:effectLst>
        </p:spPr>
      </p:sp>
      <p:sp>
        <p:nvSpPr>
          <p:cNvPr id="9" name="Shape 7"/>
          <p:cNvSpPr/>
          <p:nvPr/>
        </p:nvSpPr>
        <p:spPr>
          <a:xfrm>
            <a:off x="841248" y="2340864"/>
            <a:ext cx="548640" cy="548640"/>
          </a:xfrm>
          <a:prstGeom prst="ellipse">
            <a:avLst/>
          </a:prstGeom>
          <a:solidFill>
            <a:srgbClr val="E3EEE9"/>
          </a:solidFill>
          <a:ln/>
        </p:spPr>
      </p:sp>
      <p:sp>
        <p:nvSpPr>
          <p:cNvPr id="10" name="Text 8"/>
          <p:cNvSpPr txBox="1"/>
          <p:nvPr/>
        </p:nvSpPr>
        <p:spPr>
          <a:xfrm>
            <a:off x="841248" y="2340864"/>
            <a:ext cx="548640" cy="548640"/>
          </a:xfrm>
          <a:prstGeom prst="rect">
            <a:avLst/>
          </a:prstGeom>
          <a:noFill/>
          <a:ln/>
        </p:spPr>
        <p:txBody>
          <a:bodyPr wrap="square" lIns="0" tIns="0" rIns="0" bIns="0" rtlCol="0" anchor="ctr"/>
          <a:lstStyle/>
          <a:p>
            <a:pPr algn="ctr" indent="0" marL="0">
              <a:buNone/>
            </a:pPr>
            <a:r>
              <a:rPr lang="en-US" sz="1300" b="1" dirty="0">
                <a:solidFill>
                  <a:srgbClr val="0B5D50"/>
                </a:solidFill>
                <a:latin typeface="Courier New" pitchFamily="34" charset="0"/>
                <a:ea typeface="Courier New" pitchFamily="34" charset="-122"/>
                <a:cs typeface="Courier New" pitchFamily="34" charset="-120"/>
              </a:rPr>
              <a:t>01</a:t>
            </a:r>
            <a:endParaRPr lang="en-US" sz="1300" dirty="0"/>
          </a:p>
        </p:txBody>
      </p:sp>
      <p:sp>
        <p:nvSpPr>
          <p:cNvPr id="11" name="Text 9"/>
          <p:cNvSpPr txBox="1"/>
          <p:nvPr/>
        </p:nvSpPr>
        <p:spPr>
          <a:xfrm>
            <a:off x="841248" y="2999232"/>
            <a:ext cx="2761488" cy="585216"/>
          </a:xfrm>
          <a:prstGeom prst="rect">
            <a:avLst/>
          </a:prstGeom>
          <a:noFill/>
          <a:ln/>
        </p:spPr>
        <p:txBody>
          <a:bodyPr wrap="square" lIns="0" tIns="0" rIns="0" bIns="0" rtlCol="0" anchor="t"/>
          <a:lstStyle/>
          <a:p>
            <a:pPr indent="0" marL="0">
              <a:buNone/>
            </a:pPr>
            <a:r>
              <a:rPr lang="en-US" sz="1700" b="1" dirty="0">
                <a:solidFill>
                  <a:srgbClr val="12211D"/>
                </a:solidFill>
                <a:latin typeface="Cambria" pitchFamily="34" charset="0"/>
                <a:ea typeface="Cambria" pitchFamily="34" charset="-122"/>
                <a:cs typeface="Cambria" pitchFamily="34" charset="-120"/>
              </a:rPr>
              <a:t>Les données restent sur place</a:t>
            </a:r>
            <a:endParaRPr lang="en-US" sz="1700" dirty="0"/>
          </a:p>
        </p:txBody>
      </p:sp>
      <p:sp>
        <p:nvSpPr>
          <p:cNvPr id="12" name="Text 10"/>
          <p:cNvSpPr txBox="1"/>
          <p:nvPr/>
        </p:nvSpPr>
        <p:spPr>
          <a:xfrm>
            <a:off x="841248" y="3593592"/>
            <a:ext cx="2761488" cy="969264"/>
          </a:xfrm>
          <a:prstGeom prst="rect">
            <a:avLst/>
          </a:prstGeom>
          <a:noFill/>
          <a:ln/>
        </p:spPr>
        <p:txBody>
          <a:bodyPr wrap="square" lIns="0" tIns="0" rIns="0" bIns="0" rtlCol="0" anchor="t"/>
          <a:lstStyle/>
          <a:p>
            <a:pPr indent="0" marL="0">
              <a:lnSpc>
                <a:spcPts val="1700"/>
              </a:lnSpc>
              <a:buNone/>
            </a:pPr>
            <a:r>
              <a:rPr lang="en-US" sz="1200" dirty="0">
                <a:solidFill>
                  <a:srgbClr val="5C6D64"/>
                </a:solidFill>
                <a:latin typeface="Calibri" pitchFamily="34" charset="0"/>
                <a:ea typeface="Calibri" pitchFamily="34" charset="-122"/>
                <a:cs typeface="Calibri" pitchFamily="34" charset="-120"/>
              </a:rPr>
              <a:t>Téléphones des utilisateurs, postes d'une entreprise, serveurs d'un hôpital local : chaque appareil garde ses données brutes à l'abri.</a:t>
            </a:r>
            <a:endParaRPr lang="en-US" sz="1200" dirty="0"/>
          </a:p>
        </p:txBody>
      </p:sp>
      <p:sp>
        <p:nvSpPr>
          <p:cNvPr id="13" name="Text 11"/>
          <p:cNvSpPr txBox="1"/>
          <p:nvPr/>
        </p:nvSpPr>
        <p:spPr>
          <a:xfrm>
            <a:off x="3895344" y="3044952"/>
            <a:ext cx="329184" cy="365760"/>
          </a:xfrm>
          <a:prstGeom prst="rect">
            <a:avLst/>
          </a:prstGeom>
          <a:noFill/>
          <a:ln/>
        </p:spPr>
        <p:txBody>
          <a:bodyPr wrap="square" lIns="0" tIns="0" rIns="0" bIns="0" rtlCol="0" anchor="ctr"/>
          <a:lstStyle/>
          <a:p>
            <a:pPr algn="ctr" indent="0" marL="0">
              <a:buNone/>
            </a:pPr>
            <a:r>
              <a:rPr lang="en-US" sz="2200" b="1" dirty="0">
                <a:solidFill>
                  <a:srgbClr val="B4820F"/>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4242816" y="2084832"/>
            <a:ext cx="3310128" cy="2578608"/>
          </a:xfrm>
          <a:prstGeom prst="roundRect">
            <a:avLst>
              <a:gd name="adj" fmla="val 2482"/>
            </a:avLst>
          </a:prstGeom>
          <a:solidFill>
            <a:srgbClr val="FFFFFF"/>
          </a:solidFill>
          <a:ln/>
          <a:effectLst>
            <a:outerShdw sx="100000" sy="100000" kx="0" ky="0" algn="bl" rotWithShape="0" blurRad="114300" dist="38100" dir="5400000">
              <a:srgbClr val="0B3D35">
                <a:alpha val="9000"/>
              </a:srgbClr>
            </a:outerShdw>
          </a:effectLst>
        </p:spPr>
      </p:sp>
      <p:sp>
        <p:nvSpPr>
          <p:cNvPr id="15" name="Shape 13"/>
          <p:cNvSpPr/>
          <p:nvPr/>
        </p:nvSpPr>
        <p:spPr>
          <a:xfrm>
            <a:off x="4517136" y="2340864"/>
            <a:ext cx="548640" cy="548640"/>
          </a:xfrm>
          <a:prstGeom prst="ellipse">
            <a:avLst/>
          </a:prstGeom>
          <a:solidFill>
            <a:srgbClr val="E3EEE9"/>
          </a:solidFill>
          <a:ln/>
        </p:spPr>
      </p:sp>
      <p:sp>
        <p:nvSpPr>
          <p:cNvPr id="16" name="Text 14"/>
          <p:cNvSpPr txBox="1"/>
          <p:nvPr/>
        </p:nvSpPr>
        <p:spPr>
          <a:xfrm>
            <a:off x="4517136" y="2340864"/>
            <a:ext cx="548640" cy="548640"/>
          </a:xfrm>
          <a:prstGeom prst="rect">
            <a:avLst/>
          </a:prstGeom>
          <a:noFill/>
          <a:ln/>
        </p:spPr>
        <p:txBody>
          <a:bodyPr wrap="square" lIns="0" tIns="0" rIns="0" bIns="0" rtlCol="0" anchor="ctr"/>
          <a:lstStyle/>
          <a:p>
            <a:pPr algn="ctr" indent="0" marL="0">
              <a:buNone/>
            </a:pPr>
            <a:r>
              <a:rPr lang="en-US" sz="1300" b="1" dirty="0">
                <a:solidFill>
                  <a:srgbClr val="0B5D50"/>
                </a:solidFill>
                <a:latin typeface="Courier New" pitchFamily="34" charset="0"/>
                <a:ea typeface="Courier New" pitchFamily="34" charset="-122"/>
                <a:cs typeface="Courier New" pitchFamily="34" charset="-120"/>
              </a:rPr>
              <a:t>02</a:t>
            </a:r>
            <a:endParaRPr lang="en-US" sz="1300" dirty="0"/>
          </a:p>
        </p:txBody>
      </p:sp>
      <p:sp>
        <p:nvSpPr>
          <p:cNvPr id="17" name="Text 15"/>
          <p:cNvSpPr txBox="1"/>
          <p:nvPr/>
        </p:nvSpPr>
        <p:spPr>
          <a:xfrm>
            <a:off x="4517136" y="2999232"/>
            <a:ext cx="2761488" cy="585216"/>
          </a:xfrm>
          <a:prstGeom prst="rect">
            <a:avLst/>
          </a:prstGeom>
          <a:noFill/>
          <a:ln/>
        </p:spPr>
        <p:txBody>
          <a:bodyPr wrap="square" lIns="0" tIns="0" rIns="0" bIns="0" rtlCol="0" anchor="t"/>
          <a:lstStyle/>
          <a:p>
            <a:pPr indent="0" marL="0">
              <a:buNone/>
            </a:pPr>
            <a:r>
              <a:rPr lang="en-US" sz="1700" b="1" dirty="0">
                <a:solidFill>
                  <a:srgbClr val="12211D"/>
                </a:solidFill>
                <a:latin typeface="Cambria" pitchFamily="34" charset="0"/>
                <a:ea typeface="Cambria" pitchFamily="34" charset="-122"/>
                <a:cs typeface="Cambria" pitchFamily="34" charset="-120"/>
              </a:rPr>
              <a:t>Chaque appareil apprend seul</a:t>
            </a:r>
            <a:endParaRPr lang="en-US" sz="1700" dirty="0"/>
          </a:p>
        </p:txBody>
      </p:sp>
      <p:sp>
        <p:nvSpPr>
          <p:cNvPr id="18" name="Text 16"/>
          <p:cNvSpPr txBox="1"/>
          <p:nvPr/>
        </p:nvSpPr>
        <p:spPr>
          <a:xfrm>
            <a:off x="4517136" y="3593592"/>
            <a:ext cx="2761488" cy="969264"/>
          </a:xfrm>
          <a:prstGeom prst="rect">
            <a:avLst/>
          </a:prstGeom>
          <a:noFill/>
          <a:ln/>
        </p:spPr>
        <p:txBody>
          <a:bodyPr wrap="square" lIns="0" tIns="0" rIns="0" bIns="0" rtlCol="0" anchor="t"/>
          <a:lstStyle/>
          <a:p>
            <a:pPr indent="0" marL="0">
              <a:lnSpc>
                <a:spcPts val="1700"/>
              </a:lnSpc>
              <a:buNone/>
            </a:pPr>
            <a:r>
              <a:rPr lang="en-US" sz="1200" dirty="0">
                <a:solidFill>
                  <a:srgbClr val="5C6D64"/>
                </a:solidFill>
                <a:latin typeface="Calibri" pitchFamily="34" charset="0"/>
                <a:ea typeface="Calibri" pitchFamily="34" charset="-122"/>
                <a:cs typeface="Calibri" pitchFamily="34" charset="-120"/>
              </a:rPr>
              <a:t>Il entraîne sa part du modèle sur ses propres données, puis n'envoie que des mises à jour de calcul — les poids.</a:t>
            </a:r>
            <a:endParaRPr lang="en-US" sz="1200" dirty="0"/>
          </a:p>
        </p:txBody>
      </p:sp>
      <p:sp>
        <p:nvSpPr>
          <p:cNvPr id="19" name="Text 17"/>
          <p:cNvSpPr txBox="1"/>
          <p:nvPr/>
        </p:nvSpPr>
        <p:spPr>
          <a:xfrm>
            <a:off x="7571232" y="3044952"/>
            <a:ext cx="329184" cy="365760"/>
          </a:xfrm>
          <a:prstGeom prst="rect">
            <a:avLst/>
          </a:prstGeom>
          <a:noFill/>
          <a:ln/>
        </p:spPr>
        <p:txBody>
          <a:bodyPr wrap="square" lIns="0" tIns="0" rIns="0" bIns="0" rtlCol="0" anchor="ctr"/>
          <a:lstStyle/>
          <a:p>
            <a:pPr algn="ctr" indent="0" marL="0">
              <a:buNone/>
            </a:pPr>
            <a:r>
              <a:rPr lang="en-US" sz="2200" b="1" dirty="0">
                <a:solidFill>
                  <a:srgbClr val="B4820F"/>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7918704" y="2084832"/>
            <a:ext cx="3310128" cy="2578608"/>
          </a:xfrm>
          <a:prstGeom prst="roundRect">
            <a:avLst>
              <a:gd name="adj" fmla="val 2482"/>
            </a:avLst>
          </a:prstGeom>
          <a:solidFill>
            <a:srgbClr val="FFFFFF"/>
          </a:solidFill>
          <a:ln/>
          <a:effectLst>
            <a:outerShdw sx="100000" sy="100000" kx="0" ky="0" algn="bl" rotWithShape="0" blurRad="114300" dist="38100" dir="5400000">
              <a:srgbClr val="0B3D35">
                <a:alpha val="9000"/>
              </a:srgbClr>
            </a:outerShdw>
          </a:effectLst>
        </p:spPr>
      </p:sp>
      <p:sp>
        <p:nvSpPr>
          <p:cNvPr id="21" name="Shape 19"/>
          <p:cNvSpPr/>
          <p:nvPr/>
        </p:nvSpPr>
        <p:spPr>
          <a:xfrm>
            <a:off x="8193024" y="2340864"/>
            <a:ext cx="548640" cy="548640"/>
          </a:xfrm>
          <a:prstGeom prst="ellipse">
            <a:avLst/>
          </a:prstGeom>
          <a:solidFill>
            <a:srgbClr val="E3EEE9"/>
          </a:solidFill>
          <a:ln/>
        </p:spPr>
      </p:sp>
      <p:sp>
        <p:nvSpPr>
          <p:cNvPr id="22" name="Text 20"/>
          <p:cNvSpPr txBox="1"/>
          <p:nvPr/>
        </p:nvSpPr>
        <p:spPr>
          <a:xfrm>
            <a:off x="8193024" y="2340864"/>
            <a:ext cx="548640" cy="548640"/>
          </a:xfrm>
          <a:prstGeom prst="rect">
            <a:avLst/>
          </a:prstGeom>
          <a:noFill/>
          <a:ln/>
        </p:spPr>
        <p:txBody>
          <a:bodyPr wrap="square" lIns="0" tIns="0" rIns="0" bIns="0" rtlCol="0" anchor="ctr"/>
          <a:lstStyle/>
          <a:p>
            <a:pPr algn="ctr" indent="0" marL="0">
              <a:buNone/>
            </a:pPr>
            <a:r>
              <a:rPr lang="en-US" sz="1300" b="1" dirty="0">
                <a:solidFill>
                  <a:srgbClr val="0B5D50"/>
                </a:solidFill>
                <a:latin typeface="Courier New" pitchFamily="34" charset="0"/>
                <a:ea typeface="Courier New" pitchFamily="34" charset="-122"/>
                <a:cs typeface="Courier New" pitchFamily="34" charset="-120"/>
              </a:rPr>
              <a:t>03</a:t>
            </a:r>
            <a:endParaRPr lang="en-US" sz="1300" dirty="0"/>
          </a:p>
        </p:txBody>
      </p:sp>
      <p:sp>
        <p:nvSpPr>
          <p:cNvPr id="23" name="Text 21"/>
          <p:cNvSpPr txBox="1"/>
          <p:nvPr/>
        </p:nvSpPr>
        <p:spPr>
          <a:xfrm>
            <a:off x="8193024" y="2999232"/>
            <a:ext cx="2761488" cy="585216"/>
          </a:xfrm>
          <a:prstGeom prst="rect">
            <a:avLst/>
          </a:prstGeom>
          <a:noFill/>
          <a:ln/>
        </p:spPr>
        <p:txBody>
          <a:bodyPr wrap="square" lIns="0" tIns="0" rIns="0" bIns="0" rtlCol="0" anchor="t"/>
          <a:lstStyle/>
          <a:p>
            <a:pPr indent="0" marL="0">
              <a:buNone/>
            </a:pPr>
            <a:r>
              <a:rPr lang="en-US" sz="1700" b="1" dirty="0">
                <a:solidFill>
                  <a:srgbClr val="12211D"/>
                </a:solidFill>
                <a:latin typeface="Cambria" pitchFamily="34" charset="0"/>
                <a:ea typeface="Cambria" pitchFamily="34" charset="-122"/>
                <a:cs typeface="Cambria" pitchFamily="34" charset="-120"/>
              </a:rPr>
              <a:t>Le serveur assemble</a:t>
            </a:r>
            <a:endParaRPr lang="en-US" sz="1700" dirty="0"/>
          </a:p>
        </p:txBody>
      </p:sp>
      <p:sp>
        <p:nvSpPr>
          <p:cNvPr id="24" name="Text 22"/>
          <p:cNvSpPr txBox="1"/>
          <p:nvPr/>
        </p:nvSpPr>
        <p:spPr>
          <a:xfrm>
            <a:off x="8193024" y="3593592"/>
            <a:ext cx="2761488" cy="969264"/>
          </a:xfrm>
          <a:prstGeom prst="rect">
            <a:avLst/>
          </a:prstGeom>
          <a:noFill/>
          <a:ln/>
        </p:spPr>
        <p:txBody>
          <a:bodyPr wrap="square" lIns="0" tIns="0" rIns="0" bIns="0" rtlCol="0" anchor="t"/>
          <a:lstStyle/>
          <a:p>
            <a:pPr indent="0" marL="0">
              <a:lnSpc>
                <a:spcPts val="1700"/>
              </a:lnSpc>
              <a:buNone/>
            </a:pPr>
            <a:r>
              <a:rPr lang="en-US" sz="1200" dirty="0">
                <a:solidFill>
                  <a:srgbClr val="5C6D64"/>
                </a:solidFill>
                <a:latin typeface="Calibri" pitchFamily="34" charset="0"/>
                <a:ea typeface="Calibri" pitchFamily="34" charset="-122"/>
                <a:cs typeface="Calibri" pitchFamily="34" charset="-120"/>
              </a:rPr>
              <a:t>Il agrège ces mises à jour pour améliorer le modèle global, sans avoir jamais accédé à une seule donnée personnelle.</a:t>
            </a:r>
            <a:endParaRPr lang="en-US" sz="1200" dirty="0"/>
          </a:p>
        </p:txBody>
      </p:sp>
      <p:sp>
        <p:nvSpPr>
          <p:cNvPr id="25" name="Shape 23"/>
          <p:cNvSpPr/>
          <p:nvPr/>
        </p:nvSpPr>
        <p:spPr>
          <a:xfrm>
            <a:off x="566928" y="4864608"/>
            <a:ext cx="11027664" cy="1170432"/>
          </a:xfrm>
          <a:prstGeom prst="roundRect">
            <a:avLst>
              <a:gd name="adj" fmla="val 5469"/>
            </a:avLst>
          </a:prstGeom>
          <a:solidFill>
            <a:srgbClr val="E3EEE9"/>
          </a:solidFill>
          <a:ln/>
        </p:spPr>
      </p:sp>
      <p:sp>
        <p:nvSpPr>
          <p:cNvPr id="26" name="Text 24"/>
          <p:cNvSpPr txBox="1"/>
          <p:nvPr/>
        </p:nvSpPr>
        <p:spPr>
          <a:xfrm>
            <a:off x="859536" y="5010912"/>
            <a:ext cx="5486400" cy="237744"/>
          </a:xfrm>
          <a:prstGeom prst="rect">
            <a:avLst/>
          </a:prstGeom>
          <a:noFill/>
          <a:ln/>
        </p:spPr>
        <p:txBody>
          <a:bodyPr wrap="square" lIns="0" tIns="0" rIns="0" bIns="0" rtlCol="0" anchor="ctr"/>
          <a:lstStyle/>
          <a:p>
            <a:pPr indent="0" marL="0">
              <a:buNone/>
            </a:pPr>
            <a:r>
              <a:rPr lang="en-US" sz="950" b="1" spc="200" kern="0" dirty="0">
                <a:solidFill>
                  <a:srgbClr val="0B5D50"/>
                </a:solidFill>
                <a:latin typeface="Courier New" pitchFamily="34" charset="0"/>
                <a:ea typeface="Courier New" pitchFamily="34" charset="-122"/>
                <a:cs typeface="Courier New" pitchFamily="34" charset="-120"/>
              </a:rPr>
              <a:t>EXEMPLE À DONNER EN SALLE</a:t>
            </a:r>
            <a:endParaRPr lang="en-US" sz="950" dirty="0"/>
          </a:p>
        </p:txBody>
      </p:sp>
      <p:sp>
        <p:nvSpPr>
          <p:cNvPr id="27" name="Text 25"/>
          <p:cNvSpPr txBox="1"/>
          <p:nvPr/>
        </p:nvSpPr>
        <p:spPr>
          <a:xfrm>
            <a:off x="859536" y="5285232"/>
            <a:ext cx="10442448" cy="658368"/>
          </a:xfrm>
          <a:prstGeom prst="rect">
            <a:avLst/>
          </a:prstGeom>
          <a:noFill/>
          <a:ln/>
        </p:spPr>
        <p:txBody>
          <a:bodyPr wrap="square" lIns="0" tIns="0" rIns="0" bIns="0" rtlCol="0" anchor="t"/>
          <a:lstStyle/>
          <a:p>
            <a:pPr indent="0" marL="0">
              <a:lnSpc>
                <a:spcPts val="2200"/>
              </a:lnSpc>
              <a:buNone/>
            </a:pPr>
            <a:r>
              <a:rPr lang="en-US" sz="1600" dirty="0">
                <a:solidFill>
                  <a:srgbClr val="12211D"/>
                </a:solidFill>
                <a:latin typeface="Cambria" pitchFamily="34" charset="0"/>
                <a:ea typeface="Cambria" pitchFamily="34" charset="-122"/>
                <a:cs typeface="Cambria" pitchFamily="34" charset="-120"/>
              </a:rPr>
              <a:t>Le dictionnaire prédictif du clavier de votre téléphone s'améliore grâce aux saisies de milliers d'utilisateurs, sans que vos messages personnels ne quittent jamais l'appareil.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MODULE 3 · CONFIDENTIALITÉ DIFFÉRENTIELLE</a:t>
            </a:r>
            <a:endParaRPr lang="en-US" sz="950" dirty="0"/>
          </a:p>
        </p:txBody>
      </p:sp>
      <p:sp>
        <p:nvSpPr>
          <p:cNvPr id="3" name="Text 1"/>
          <p:cNvSpPr txBox="1"/>
          <p:nvPr/>
        </p:nvSpPr>
        <p:spPr>
          <a:xfrm>
            <a:off x="9765792" y="402336"/>
            <a:ext cx="1828800" cy="237744"/>
          </a:xfrm>
          <a:prstGeom prst="rect">
            <a:avLst/>
          </a:prstGeom>
          <a:noFill/>
          <a:ln/>
        </p:spPr>
        <p:txBody>
          <a:bodyPr wrap="square" lIns="0" tIns="0" rIns="0" bIns="0" rtlCol="0" anchor="ctr"/>
          <a:lstStyle/>
          <a:p>
            <a:pPr algn="r" indent="0" marL="0">
              <a:buNone/>
            </a:pPr>
            <a:r>
              <a:rPr lang="en-US" sz="950" b="1" dirty="0">
                <a:solidFill>
                  <a:srgbClr val="8A9A91"/>
                </a:solidFill>
                <a:latin typeface="Courier New" pitchFamily="34" charset="0"/>
                <a:ea typeface="Courier New" pitchFamily="34" charset="-122"/>
                <a:cs typeface="Courier New" pitchFamily="34" charset="-120"/>
              </a:rPr>
              <a:t>3 MIN</a:t>
            </a:r>
            <a:endParaRPr lang="en-US" sz="950" dirty="0"/>
          </a:p>
        </p:txBody>
      </p:sp>
      <p:sp>
        <p:nvSpPr>
          <p:cNvPr id="4" name="Text 2"/>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200" b="1" dirty="0">
                <a:solidFill>
                  <a:srgbClr val="12211D"/>
                </a:solidFill>
                <a:latin typeface="Cambria" pitchFamily="34" charset="0"/>
                <a:ea typeface="Cambria" pitchFamily="34" charset="-122"/>
                <a:cs typeface="Cambria" pitchFamily="34" charset="-120"/>
              </a:rPr>
              <a:t>Le bouclier mathématique</a:t>
            </a:r>
            <a:endParaRPr lang="en-US" sz="3200" dirty="0"/>
          </a:p>
        </p:txBody>
      </p:sp>
      <p:sp>
        <p:nvSpPr>
          <p:cNvPr id="5" name="Text 3"/>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6" name="Text 4"/>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18</a:t>
            </a:r>
            <a:endParaRPr lang="en-US" sz="800" dirty="0"/>
          </a:p>
        </p:txBody>
      </p:sp>
      <p:sp>
        <p:nvSpPr>
          <p:cNvPr id="7" name="Shape 5"/>
          <p:cNvSpPr/>
          <p:nvPr/>
        </p:nvSpPr>
        <p:spPr>
          <a:xfrm>
            <a:off x="566928" y="1645920"/>
            <a:ext cx="5394960" cy="2788920"/>
          </a:xfrm>
          <a:prstGeom prst="roundRect">
            <a:avLst>
              <a:gd name="adj" fmla="val 2295"/>
            </a:avLst>
          </a:prstGeom>
          <a:solidFill>
            <a:srgbClr val="F6E5DF"/>
          </a:solidFill>
          <a:ln/>
        </p:spPr>
      </p:sp>
      <p:sp>
        <p:nvSpPr>
          <p:cNvPr id="8" name="Text 6"/>
          <p:cNvSpPr txBox="1"/>
          <p:nvPr/>
        </p:nvSpPr>
        <p:spPr>
          <a:xfrm>
            <a:off x="859536" y="1847088"/>
            <a:ext cx="4809744" cy="237744"/>
          </a:xfrm>
          <a:prstGeom prst="rect">
            <a:avLst/>
          </a:prstGeom>
          <a:noFill/>
          <a:ln/>
        </p:spPr>
        <p:txBody>
          <a:bodyPr wrap="square" lIns="0" tIns="0" rIns="0" bIns="0" rtlCol="0" anchor="ctr"/>
          <a:lstStyle/>
          <a:p>
            <a:pPr indent="0" marL="0">
              <a:buNone/>
            </a:pPr>
            <a:r>
              <a:rPr lang="en-US" sz="950" b="1" spc="200" kern="0" dirty="0">
                <a:solidFill>
                  <a:srgbClr val="A33A1C"/>
                </a:solidFill>
                <a:latin typeface="Courier New" pitchFamily="34" charset="0"/>
                <a:ea typeface="Courier New" pitchFamily="34" charset="-122"/>
                <a:cs typeface="Courier New" pitchFamily="34" charset="-120"/>
              </a:rPr>
              <a:t>LA MENACE</a:t>
            </a:r>
            <a:endParaRPr lang="en-US" sz="950" dirty="0"/>
          </a:p>
        </p:txBody>
      </p:sp>
      <p:sp>
        <p:nvSpPr>
          <p:cNvPr id="9" name="Text 7"/>
          <p:cNvSpPr txBox="1"/>
          <p:nvPr/>
        </p:nvSpPr>
        <p:spPr>
          <a:xfrm>
            <a:off x="859536" y="2176272"/>
            <a:ext cx="4809744" cy="548640"/>
          </a:xfrm>
          <a:prstGeom prst="rect">
            <a:avLst/>
          </a:prstGeom>
          <a:noFill/>
          <a:ln/>
        </p:spPr>
        <p:txBody>
          <a:bodyPr wrap="square" lIns="0" tIns="0" rIns="0" bIns="0" rtlCol="0" anchor="t"/>
          <a:lstStyle/>
          <a:p>
            <a:pPr indent="0" marL="0">
              <a:buNone/>
            </a:pPr>
            <a:r>
              <a:rPr lang="en-US" sz="2100" b="1" dirty="0">
                <a:solidFill>
                  <a:srgbClr val="12211D"/>
                </a:solidFill>
                <a:latin typeface="Cambria" pitchFamily="34" charset="0"/>
                <a:ea typeface="Cambria" pitchFamily="34" charset="-122"/>
                <a:cs typeface="Cambria" pitchFamily="34" charset="-120"/>
              </a:rPr>
              <a:t>Attaque par inversion de gradient</a:t>
            </a:r>
            <a:endParaRPr lang="en-US" sz="2100" dirty="0"/>
          </a:p>
        </p:txBody>
      </p:sp>
      <p:sp>
        <p:nvSpPr>
          <p:cNvPr id="10" name="Text 8"/>
          <p:cNvSpPr txBox="1"/>
          <p:nvPr/>
        </p:nvSpPr>
        <p:spPr>
          <a:xfrm>
            <a:off x="859536" y="2834640"/>
            <a:ext cx="4809744" cy="1463040"/>
          </a:xfrm>
          <a:prstGeom prst="rect">
            <a:avLst/>
          </a:prstGeom>
          <a:noFill/>
          <a:ln/>
        </p:spPr>
        <p:txBody>
          <a:bodyPr wrap="square" lIns="0" tIns="0" rIns="0" bIns="0" rtlCol="0" anchor="t"/>
          <a:lstStyle/>
          <a:p>
            <a:pPr indent="0" marL="0">
              <a:lnSpc>
                <a:spcPts val="2100"/>
              </a:lnSpc>
              <a:buNone/>
            </a:pPr>
            <a:r>
              <a:rPr lang="en-US" sz="1400" dirty="0">
                <a:solidFill>
                  <a:srgbClr val="5C6D64"/>
                </a:solidFill>
                <a:latin typeface="Calibri" pitchFamily="34" charset="0"/>
                <a:ea typeface="Calibri" pitchFamily="34" charset="-122"/>
                <a:cs typeface="Calibri" pitchFamily="34" charset="-120"/>
              </a:rPr>
              <a:t>Même en ne partageant que des mises à jour de modèle, des attaquants expérimentés peuvent tenter de reconstruire les données d'origine.</a:t>
            </a:r>
            <a:endParaRPr lang="en-US" sz="1400" dirty="0"/>
          </a:p>
        </p:txBody>
      </p:sp>
      <p:sp>
        <p:nvSpPr>
          <p:cNvPr id="11" name="Shape 9"/>
          <p:cNvSpPr/>
          <p:nvPr/>
        </p:nvSpPr>
        <p:spPr>
          <a:xfrm>
            <a:off x="6199632" y="1645920"/>
            <a:ext cx="5394960" cy="2788920"/>
          </a:xfrm>
          <a:prstGeom prst="roundRect">
            <a:avLst>
              <a:gd name="adj" fmla="val 2295"/>
            </a:avLst>
          </a:prstGeom>
          <a:solidFill>
            <a:srgbClr val="E3EEE9"/>
          </a:solidFill>
          <a:ln/>
        </p:spPr>
      </p:sp>
      <p:sp>
        <p:nvSpPr>
          <p:cNvPr id="12" name="Text 10"/>
          <p:cNvSpPr txBox="1"/>
          <p:nvPr/>
        </p:nvSpPr>
        <p:spPr>
          <a:xfrm>
            <a:off x="6492240" y="1847088"/>
            <a:ext cx="4809744" cy="237744"/>
          </a:xfrm>
          <a:prstGeom prst="rect">
            <a:avLst/>
          </a:prstGeom>
          <a:noFill/>
          <a:ln/>
        </p:spPr>
        <p:txBody>
          <a:bodyPr wrap="square" lIns="0" tIns="0" rIns="0" bIns="0" rtlCol="0" anchor="ctr"/>
          <a:lstStyle/>
          <a:p>
            <a:pPr indent="0" marL="0">
              <a:buNone/>
            </a:pPr>
            <a:r>
              <a:rPr lang="en-US" sz="950" b="1" spc="200" kern="0" dirty="0">
                <a:solidFill>
                  <a:srgbClr val="0B5D50"/>
                </a:solidFill>
                <a:latin typeface="Courier New" pitchFamily="34" charset="0"/>
                <a:ea typeface="Courier New" pitchFamily="34" charset="-122"/>
                <a:cs typeface="Courier New" pitchFamily="34" charset="-120"/>
              </a:rPr>
              <a:t>LE BOUCLIER</a:t>
            </a:r>
            <a:endParaRPr lang="en-US" sz="950" dirty="0"/>
          </a:p>
        </p:txBody>
      </p:sp>
      <p:sp>
        <p:nvSpPr>
          <p:cNvPr id="13" name="Text 11"/>
          <p:cNvSpPr txBox="1"/>
          <p:nvPr/>
        </p:nvSpPr>
        <p:spPr>
          <a:xfrm>
            <a:off x="6492240" y="2176272"/>
            <a:ext cx="4809744" cy="548640"/>
          </a:xfrm>
          <a:prstGeom prst="rect">
            <a:avLst/>
          </a:prstGeom>
          <a:noFill/>
          <a:ln/>
        </p:spPr>
        <p:txBody>
          <a:bodyPr wrap="square" lIns="0" tIns="0" rIns="0" bIns="0" rtlCol="0" anchor="t"/>
          <a:lstStyle/>
          <a:p>
            <a:pPr indent="0" marL="0">
              <a:buNone/>
            </a:pPr>
            <a:r>
              <a:rPr lang="en-US" sz="2100" b="1" dirty="0">
                <a:solidFill>
                  <a:srgbClr val="12211D"/>
                </a:solidFill>
                <a:latin typeface="Cambria" pitchFamily="34" charset="0"/>
                <a:ea typeface="Cambria" pitchFamily="34" charset="-122"/>
                <a:cs typeface="Cambria" pitchFamily="34" charset="-120"/>
              </a:rPr>
              <a:t>Confidentialité différentielle</a:t>
            </a:r>
            <a:endParaRPr lang="en-US" sz="2100" dirty="0"/>
          </a:p>
        </p:txBody>
      </p:sp>
      <p:sp>
        <p:nvSpPr>
          <p:cNvPr id="14" name="Text 12"/>
          <p:cNvSpPr txBox="1"/>
          <p:nvPr/>
        </p:nvSpPr>
        <p:spPr>
          <a:xfrm>
            <a:off x="6492240" y="2834640"/>
            <a:ext cx="4809744" cy="1463040"/>
          </a:xfrm>
          <a:prstGeom prst="rect">
            <a:avLst/>
          </a:prstGeom>
          <a:noFill/>
          <a:ln/>
        </p:spPr>
        <p:txBody>
          <a:bodyPr wrap="square" lIns="0" tIns="0" rIns="0" bIns="0" rtlCol="0" anchor="t"/>
          <a:lstStyle/>
          <a:p>
            <a:pPr indent="0" marL="0">
              <a:lnSpc>
                <a:spcPts val="2100"/>
              </a:lnSpc>
              <a:buNone/>
            </a:pPr>
            <a:r>
              <a:rPr lang="en-US" sz="1400" dirty="0">
                <a:solidFill>
                  <a:srgbClr val="5C6D64"/>
                </a:solidFill>
                <a:latin typeface="Calibri" pitchFamily="34" charset="0"/>
                <a:ea typeface="Calibri" pitchFamily="34" charset="-122"/>
                <a:cs typeface="Calibri" pitchFamily="34" charset="-120"/>
              </a:rPr>
              <a:t>Un bruit calculé est injecté dans les données ou les mises à jour avant leur partage : les pistes individuelles sont brouillées, l'IA continue d'apprendre les tendances du groupe.</a:t>
            </a:r>
            <a:endParaRPr lang="en-US" sz="1400" dirty="0"/>
          </a:p>
        </p:txBody>
      </p:sp>
      <p:sp>
        <p:nvSpPr>
          <p:cNvPr id="15" name="Shape 13"/>
          <p:cNvSpPr/>
          <p:nvPr/>
        </p:nvSpPr>
        <p:spPr>
          <a:xfrm>
            <a:off x="566928" y="4681728"/>
            <a:ext cx="11027664" cy="1234440"/>
          </a:xfrm>
          <a:prstGeom prst="roundRect">
            <a:avLst>
              <a:gd name="adj" fmla="val 5185"/>
            </a:avLst>
          </a:prstGeom>
          <a:solidFill>
            <a:srgbClr val="FFFFFF"/>
          </a:solidFill>
          <a:ln/>
          <a:effectLst>
            <a:outerShdw sx="100000" sy="100000" kx="0" ky="0" algn="bl" rotWithShape="0" blurRad="114300" dist="38100" dir="5400000">
              <a:srgbClr val="0B3D35">
                <a:alpha val="9000"/>
              </a:srgbClr>
            </a:outerShdw>
          </a:effectLst>
        </p:spPr>
      </p:sp>
      <p:sp>
        <p:nvSpPr>
          <p:cNvPr id="16" name="Text 14"/>
          <p:cNvSpPr txBox="1"/>
          <p:nvPr/>
        </p:nvSpPr>
        <p:spPr>
          <a:xfrm>
            <a:off x="877824" y="4882896"/>
            <a:ext cx="1280160" cy="292608"/>
          </a:xfrm>
          <a:prstGeom prst="rect">
            <a:avLst/>
          </a:prstGeom>
          <a:noFill/>
          <a:ln/>
        </p:spPr>
        <p:txBody>
          <a:bodyPr wrap="square" lIns="0" tIns="0" rIns="0" bIns="0" rtlCol="0" anchor="ctr"/>
          <a:lstStyle/>
          <a:p>
            <a:pPr indent="0" marL="0">
              <a:buNone/>
            </a:pPr>
            <a:r>
              <a:rPr lang="en-US" sz="1400" b="1" dirty="0">
                <a:solidFill>
                  <a:srgbClr val="B4820F"/>
                </a:solidFill>
                <a:latin typeface="Courier New" pitchFamily="34" charset="0"/>
                <a:ea typeface="Courier New" pitchFamily="34" charset="-122"/>
                <a:cs typeface="Courier New" pitchFamily="34" charset="-120"/>
              </a:rPr>
              <a:t>LoRA</a:t>
            </a:r>
            <a:endParaRPr lang="en-US" sz="1400" dirty="0"/>
          </a:p>
        </p:txBody>
      </p:sp>
      <p:sp>
        <p:nvSpPr>
          <p:cNvPr id="17" name="Text 15"/>
          <p:cNvSpPr txBox="1"/>
          <p:nvPr/>
        </p:nvSpPr>
        <p:spPr>
          <a:xfrm>
            <a:off x="2304288" y="4882896"/>
            <a:ext cx="4572000" cy="292608"/>
          </a:xfrm>
          <a:prstGeom prst="rect">
            <a:avLst/>
          </a:prstGeom>
          <a:noFill/>
          <a:ln/>
        </p:spPr>
        <p:txBody>
          <a:bodyPr wrap="square" lIns="0" tIns="0" rIns="0" bIns="0" rtlCol="0" anchor="ctr"/>
          <a:lstStyle/>
          <a:p>
            <a:pPr indent="0" marL="0">
              <a:buNone/>
            </a:pPr>
            <a:r>
              <a:rPr lang="en-US" sz="1450" b="1" dirty="0">
                <a:solidFill>
                  <a:srgbClr val="12211D"/>
                </a:solidFill>
                <a:latin typeface="Calibri" pitchFamily="34" charset="0"/>
                <a:ea typeface="Calibri" pitchFamily="34" charset="-122"/>
                <a:cs typeface="Calibri" pitchFamily="34" charset="-120"/>
              </a:rPr>
              <a:t>Une piste complémentaire à citer</a:t>
            </a:r>
            <a:endParaRPr lang="en-US" sz="1450" dirty="0"/>
          </a:p>
        </p:txBody>
      </p:sp>
      <p:sp>
        <p:nvSpPr>
          <p:cNvPr id="18" name="Text 16"/>
          <p:cNvSpPr txBox="1"/>
          <p:nvPr/>
        </p:nvSpPr>
        <p:spPr>
          <a:xfrm>
            <a:off x="877824" y="5266944"/>
            <a:ext cx="10405872" cy="548640"/>
          </a:xfrm>
          <a:prstGeom prst="rect">
            <a:avLst/>
          </a:prstGeom>
          <a:noFill/>
          <a:ln/>
        </p:spPr>
        <p:txBody>
          <a:bodyPr wrap="square" lIns="0" tIns="0" rIns="0" bIns="0" rtlCol="0" anchor="t"/>
          <a:lstStyle/>
          <a:p>
            <a:pPr indent="0" marL="0">
              <a:lnSpc>
                <a:spcPts val="1800"/>
              </a:lnSpc>
              <a:buNone/>
            </a:pPr>
            <a:r>
              <a:rPr lang="en-US" sz="1300" dirty="0">
                <a:solidFill>
                  <a:srgbClr val="5C6D64"/>
                </a:solidFill>
                <a:latin typeface="Calibri" pitchFamily="34" charset="0"/>
                <a:ea typeface="Calibri" pitchFamily="34" charset="-122"/>
                <a:cs typeface="Calibri" pitchFamily="34" charset="-120"/>
              </a:rPr>
              <a:t>L'adaptation à bas rang fige les paramètres d'origine du modèle et n'entraîne que de petites matrices additionnelles : elle limite naturellement la mémorisation d'informations sensibles, à moindre coût de calcul.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MODULE 3 · SOUVERAINETÉ</a:t>
            </a:r>
            <a:endParaRPr lang="en-US" sz="950" dirty="0"/>
          </a:p>
        </p:txBody>
      </p:sp>
      <p:sp>
        <p:nvSpPr>
          <p:cNvPr id="3" name="Text 1"/>
          <p:cNvSpPr txBox="1"/>
          <p:nvPr/>
        </p:nvSpPr>
        <p:spPr>
          <a:xfrm>
            <a:off x="9765792" y="402336"/>
            <a:ext cx="1828800" cy="237744"/>
          </a:xfrm>
          <a:prstGeom prst="rect">
            <a:avLst/>
          </a:prstGeom>
          <a:noFill/>
          <a:ln/>
        </p:spPr>
        <p:txBody>
          <a:bodyPr wrap="square" lIns="0" tIns="0" rIns="0" bIns="0" rtlCol="0" anchor="ctr"/>
          <a:lstStyle/>
          <a:p>
            <a:pPr algn="r" indent="0" marL="0">
              <a:buNone/>
            </a:pPr>
            <a:r>
              <a:rPr lang="en-US" sz="950" b="1" dirty="0">
                <a:solidFill>
                  <a:srgbClr val="8A9A91"/>
                </a:solidFill>
                <a:latin typeface="Courier New" pitchFamily="34" charset="0"/>
                <a:ea typeface="Courier New" pitchFamily="34" charset="-122"/>
                <a:cs typeface="Courier New" pitchFamily="34" charset="-120"/>
              </a:rPr>
              <a:t>2 MIN</a:t>
            </a:r>
            <a:endParaRPr lang="en-US" sz="950" dirty="0"/>
          </a:p>
        </p:txBody>
      </p:sp>
      <p:sp>
        <p:nvSpPr>
          <p:cNvPr id="4" name="Text 2"/>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200" b="1" dirty="0">
                <a:solidFill>
                  <a:srgbClr val="12211D"/>
                </a:solidFill>
                <a:latin typeface="Cambria" pitchFamily="34" charset="0"/>
                <a:ea typeface="Cambria" pitchFamily="34" charset="-122"/>
                <a:cs typeface="Cambria" pitchFamily="34" charset="-120"/>
              </a:rPr>
              <a:t>Edge AI et souveraineté numérique</a:t>
            </a:r>
            <a:endParaRPr lang="en-US" sz="3200" dirty="0"/>
          </a:p>
        </p:txBody>
      </p:sp>
      <p:sp>
        <p:nvSpPr>
          <p:cNvPr id="5" name="Text 3"/>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6" name="Text 4"/>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19</a:t>
            </a:r>
            <a:endParaRPr lang="en-US" sz="800" dirty="0"/>
          </a:p>
        </p:txBody>
      </p:sp>
      <p:sp>
        <p:nvSpPr>
          <p:cNvPr id="7" name="Text 5"/>
          <p:cNvSpPr txBox="1"/>
          <p:nvPr/>
        </p:nvSpPr>
        <p:spPr>
          <a:xfrm>
            <a:off x="566928" y="1627632"/>
            <a:ext cx="5577840" cy="2011680"/>
          </a:xfrm>
          <a:prstGeom prst="rect">
            <a:avLst/>
          </a:prstGeom>
          <a:noFill/>
          <a:ln/>
        </p:spPr>
        <p:txBody>
          <a:bodyPr wrap="square" lIns="0" tIns="0" rIns="0" bIns="0" rtlCol="0" anchor="t"/>
          <a:lstStyle/>
          <a:p>
            <a:pPr indent="0" marL="0">
              <a:lnSpc>
                <a:spcPts val="2200"/>
              </a:lnSpc>
              <a:buNone/>
            </a:pPr>
            <a:r>
              <a:rPr lang="en-US" sz="1500" dirty="0">
                <a:solidFill>
                  <a:srgbClr val="12211D"/>
                </a:solidFill>
                <a:latin typeface="Calibri" pitchFamily="34" charset="0"/>
                <a:ea typeface="Calibri" pitchFamily="34" charset="-122"/>
                <a:cs typeface="Calibri" pitchFamily="34" charset="-120"/>
              </a:rPr>
              <a:t>Exécuter les calculs sur de petites puces embarquées — dans un téléphone, une caméra, un capteur — évite que les données ne traversent Internet vers des serveurs situés dans d'autres pays.</a:t>
            </a:r>
            <a:endParaRPr lang="en-US" sz="1500" dirty="0"/>
          </a:p>
          <a:p>
            <a:pPr indent="0" marL="0">
              <a:lnSpc>
                <a:spcPts val="2200"/>
              </a:lnSpc>
              <a:buNone/>
            </a:pPr>
            <a:endParaRPr lang="en-US" sz="1500" dirty="0"/>
          </a:p>
          <a:p>
            <a:pPr indent="0" marL="0">
              <a:lnSpc>
                <a:spcPts val="2200"/>
              </a:lnSpc>
              <a:buNone/>
            </a:pPr>
            <a:r>
              <a:rPr lang="en-US" sz="1500" dirty="0">
                <a:solidFill>
                  <a:srgbClr val="12211D"/>
                </a:solidFill>
                <a:latin typeface="Calibri" pitchFamily="34" charset="0"/>
                <a:ea typeface="Calibri" pitchFamily="34" charset="-122"/>
                <a:cs typeface="Calibri" pitchFamily="34" charset="-120"/>
              </a:rPr>
              <a:t>C'est un levier direct de souveraineté numérique.</a:t>
            </a:r>
            <a:endParaRPr lang="en-US" sz="1500" dirty="0"/>
          </a:p>
        </p:txBody>
      </p:sp>
      <p:sp>
        <p:nvSpPr>
          <p:cNvPr id="8" name="Shape 6"/>
          <p:cNvSpPr/>
          <p:nvPr/>
        </p:nvSpPr>
        <p:spPr>
          <a:xfrm>
            <a:off x="566928" y="3547872"/>
            <a:ext cx="5577840" cy="1600200"/>
          </a:xfrm>
          <a:prstGeom prst="roundRect">
            <a:avLst>
              <a:gd name="adj" fmla="val 4000"/>
            </a:avLst>
          </a:prstGeom>
          <a:solidFill>
            <a:srgbClr val="F6EDD8"/>
          </a:solidFill>
          <a:ln/>
        </p:spPr>
      </p:sp>
      <p:sp>
        <p:nvSpPr>
          <p:cNvPr id="9" name="Text 7"/>
          <p:cNvSpPr txBox="1"/>
          <p:nvPr/>
        </p:nvSpPr>
        <p:spPr>
          <a:xfrm>
            <a:off x="841248" y="3730752"/>
            <a:ext cx="5029200"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LE REVERS TECHNIQUE</a:t>
            </a:r>
            <a:endParaRPr lang="en-US" sz="950" dirty="0"/>
          </a:p>
        </p:txBody>
      </p:sp>
      <p:sp>
        <p:nvSpPr>
          <p:cNvPr id="10" name="Text 8"/>
          <p:cNvSpPr txBox="1"/>
          <p:nvPr/>
        </p:nvSpPr>
        <p:spPr>
          <a:xfrm>
            <a:off x="841248" y="4023360"/>
            <a:ext cx="5029200" cy="960120"/>
          </a:xfrm>
          <a:prstGeom prst="rect">
            <a:avLst/>
          </a:prstGeom>
          <a:noFill/>
          <a:ln/>
        </p:spPr>
        <p:txBody>
          <a:bodyPr wrap="square" lIns="0" tIns="0" rIns="0" bIns="0" rtlCol="0" anchor="t"/>
          <a:lstStyle/>
          <a:p>
            <a:pPr indent="0" marL="0">
              <a:lnSpc>
                <a:spcPts val="1900"/>
              </a:lnSpc>
              <a:buNone/>
            </a:pPr>
            <a:r>
              <a:rPr lang="en-US" sz="1300" dirty="0">
                <a:solidFill>
                  <a:srgbClr val="12211D"/>
                </a:solidFill>
                <a:latin typeface="Calibri" pitchFamily="34" charset="0"/>
                <a:ea typeface="Calibri" pitchFamily="34" charset="-122"/>
                <a:cs typeface="Calibri" pitchFamily="34" charset="-120"/>
              </a:rPr>
              <a:t>Pour tenir sur de petits appareils, ces modèles subissent des compressions — quantification, élagage. Les ingénieurs doivent rester attentifs aux vulnérabilités matérielles que cela peut ouvrir.</a:t>
            </a:r>
            <a:endParaRPr lang="en-US" sz="1300" dirty="0"/>
          </a:p>
        </p:txBody>
      </p:sp>
      <p:sp>
        <p:nvSpPr>
          <p:cNvPr id="11" name="Text 9"/>
          <p:cNvSpPr txBox="1"/>
          <p:nvPr/>
        </p:nvSpPr>
        <p:spPr>
          <a:xfrm>
            <a:off x="6537960" y="1627632"/>
            <a:ext cx="5056632" cy="256032"/>
          </a:xfrm>
          <a:prstGeom prst="rect">
            <a:avLst/>
          </a:prstGeom>
          <a:noFill/>
          <a:ln/>
        </p:spPr>
        <p:txBody>
          <a:bodyPr wrap="square" lIns="0" tIns="0" rIns="0" bIns="0" rtlCol="0" anchor="ctr"/>
          <a:lstStyle/>
          <a:p>
            <a:pPr indent="0" marL="0">
              <a:buNone/>
            </a:pPr>
            <a:r>
              <a:rPr lang="en-US" sz="950" b="1" spc="200" kern="0" dirty="0">
                <a:solidFill>
                  <a:srgbClr val="0B5D50"/>
                </a:solidFill>
                <a:latin typeface="Courier New" pitchFamily="34" charset="0"/>
                <a:ea typeface="Courier New" pitchFamily="34" charset="-122"/>
                <a:cs typeface="Courier New" pitchFamily="34" charset="-120"/>
              </a:rPr>
              <a:t>LES TROIS QUESTIONS DE SOUVERAINETÉ</a:t>
            </a:r>
            <a:endParaRPr lang="en-US" sz="950" dirty="0"/>
          </a:p>
        </p:txBody>
      </p:sp>
      <p:sp>
        <p:nvSpPr>
          <p:cNvPr id="12" name="Shape 10"/>
          <p:cNvSpPr/>
          <p:nvPr/>
        </p:nvSpPr>
        <p:spPr>
          <a:xfrm>
            <a:off x="6537960" y="2029968"/>
            <a:ext cx="5056632" cy="1042416"/>
          </a:xfrm>
          <a:prstGeom prst="roundRect">
            <a:avLst>
              <a:gd name="adj" fmla="val 6140"/>
            </a:avLst>
          </a:prstGeom>
          <a:solidFill>
            <a:srgbClr val="FFFFFF"/>
          </a:solidFill>
          <a:ln/>
          <a:effectLst>
            <a:outerShdw sx="100000" sy="100000" kx="0" ky="0" algn="bl" rotWithShape="0" blurRad="114300" dist="38100" dir="5400000">
              <a:srgbClr val="0B3D35">
                <a:alpha val="9000"/>
              </a:srgbClr>
            </a:outerShdw>
          </a:effectLst>
        </p:spPr>
      </p:sp>
      <p:sp>
        <p:nvSpPr>
          <p:cNvPr id="13" name="Shape 11"/>
          <p:cNvSpPr/>
          <p:nvPr/>
        </p:nvSpPr>
        <p:spPr>
          <a:xfrm>
            <a:off x="6812280" y="2304288"/>
            <a:ext cx="493776" cy="493776"/>
          </a:xfrm>
          <a:prstGeom prst="ellipse">
            <a:avLst/>
          </a:prstGeom>
          <a:solidFill>
            <a:srgbClr val="E3EEE9"/>
          </a:solidFill>
          <a:ln/>
        </p:spPr>
      </p:sp>
      <p:sp>
        <p:nvSpPr>
          <p:cNvPr id="14" name="Text 12"/>
          <p:cNvSpPr txBox="1"/>
          <p:nvPr/>
        </p:nvSpPr>
        <p:spPr>
          <a:xfrm>
            <a:off x="6812280" y="2304288"/>
            <a:ext cx="493776" cy="493776"/>
          </a:xfrm>
          <a:prstGeom prst="rect">
            <a:avLst/>
          </a:prstGeom>
          <a:noFill/>
          <a:ln/>
        </p:spPr>
        <p:txBody>
          <a:bodyPr wrap="square" lIns="0" tIns="0" rIns="0" bIns="0" rtlCol="0" anchor="ctr"/>
          <a:lstStyle/>
          <a:p>
            <a:pPr algn="ctr" indent="0" marL="0">
              <a:buNone/>
            </a:pPr>
            <a:r>
              <a:rPr lang="en-US" sz="1200" b="1" dirty="0">
                <a:solidFill>
                  <a:srgbClr val="0B5D50"/>
                </a:solidFill>
                <a:latin typeface="Courier New" pitchFamily="34" charset="0"/>
                <a:ea typeface="Courier New" pitchFamily="34" charset="-122"/>
                <a:cs typeface="Courier New" pitchFamily="34" charset="-120"/>
              </a:rPr>
              <a:t>01</a:t>
            </a:r>
            <a:endParaRPr lang="en-US" sz="1200" dirty="0"/>
          </a:p>
        </p:txBody>
      </p:sp>
      <p:sp>
        <p:nvSpPr>
          <p:cNvPr id="15" name="Text 13"/>
          <p:cNvSpPr txBox="1"/>
          <p:nvPr/>
        </p:nvSpPr>
        <p:spPr>
          <a:xfrm>
            <a:off x="7498080" y="2029968"/>
            <a:ext cx="3840480" cy="1042416"/>
          </a:xfrm>
          <a:prstGeom prst="rect">
            <a:avLst/>
          </a:prstGeom>
          <a:noFill/>
          <a:ln/>
        </p:spPr>
        <p:txBody>
          <a:bodyPr wrap="square" lIns="0" tIns="0" rIns="0" bIns="0" rtlCol="0" anchor="ctr"/>
          <a:lstStyle/>
          <a:p>
            <a:pPr indent="0" marL="0">
              <a:buNone/>
            </a:pPr>
            <a:r>
              <a:rPr lang="en-US" sz="1600" b="1" dirty="0">
                <a:solidFill>
                  <a:srgbClr val="12211D"/>
                </a:solidFill>
                <a:latin typeface="Cambria" pitchFamily="34" charset="0"/>
                <a:ea typeface="Cambria" pitchFamily="34" charset="-122"/>
                <a:cs typeface="Cambria" pitchFamily="34" charset="-120"/>
              </a:rPr>
              <a:t>Où sont hébergées les données des Béninois ?</a:t>
            </a:r>
            <a:endParaRPr lang="en-US" sz="1600" dirty="0"/>
          </a:p>
        </p:txBody>
      </p:sp>
      <p:sp>
        <p:nvSpPr>
          <p:cNvPr id="16" name="Shape 14"/>
          <p:cNvSpPr/>
          <p:nvPr/>
        </p:nvSpPr>
        <p:spPr>
          <a:xfrm>
            <a:off x="6537960" y="3236976"/>
            <a:ext cx="5056632" cy="1042416"/>
          </a:xfrm>
          <a:prstGeom prst="roundRect">
            <a:avLst>
              <a:gd name="adj" fmla="val 6140"/>
            </a:avLst>
          </a:prstGeom>
          <a:solidFill>
            <a:srgbClr val="FFFFFF"/>
          </a:solidFill>
          <a:ln/>
          <a:effectLst>
            <a:outerShdw sx="100000" sy="100000" kx="0" ky="0" algn="bl" rotWithShape="0" blurRad="114300" dist="38100" dir="5400000">
              <a:srgbClr val="0B3D35">
                <a:alpha val="9000"/>
              </a:srgbClr>
            </a:outerShdw>
          </a:effectLst>
        </p:spPr>
      </p:sp>
      <p:sp>
        <p:nvSpPr>
          <p:cNvPr id="17" name="Shape 15"/>
          <p:cNvSpPr/>
          <p:nvPr/>
        </p:nvSpPr>
        <p:spPr>
          <a:xfrm>
            <a:off x="6812280" y="3511296"/>
            <a:ext cx="493776" cy="493776"/>
          </a:xfrm>
          <a:prstGeom prst="ellipse">
            <a:avLst/>
          </a:prstGeom>
          <a:solidFill>
            <a:srgbClr val="E3EEE9"/>
          </a:solidFill>
          <a:ln/>
        </p:spPr>
      </p:sp>
      <p:sp>
        <p:nvSpPr>
          <p:cNvPr id="18" name="Text 16"/>
          <p:cNvSpPr txBox="1"/>
          <p:nvPr/>
        </p:nvSpPr>
        <p:spPr>
          <a:xfrm>
            <a:off x="6812280" y="3511296"/>
            <a:ext cx="493776" cy="493776"/>
          </a:xfrm>
          <a:prstGeom prst="rect">
            <a:avLst/>
          </a:prstGeom>
          <a:noFill/>
          <a:ln/>
        </p:spPr>
        <p:txBody>
          <a:bodyPr wrap="square" lIns="0" tIns="0" rIns="0" bIns="0" rtlCol="0" anchor="ctr"/>
          <a:lstStyle/>
          <a:p>
            <a:pPr algn="ctr" indent="0" marL="0">
              <a:buNone/>
            </a:pPr>
            <a:r>
              <a:rPr lang="en-US" sz="1200" b="1" dirty="0">
                <a:solidFill>
                  <a:srgbClr val="0B5D50"/>
                </a:solidFill>
                <a:latin typeface="Courier New" pitchFamily="34" charset="0"/>
                <a:ea typeface="Courier New" pitchFamily="34" charset="-122"/>
                <a:cs typeface="Courier New" pitchFamily="34" charset="-120"/>
              </a:rPr>
              <a:t>02</a:t>
            </a:r>
            <a:endParaRPr lang="en-US" sz="1200" dirty="0"/>
          </a:p>
        </p:txBody>
      </p:sp>
      <p:sp>
        <p:nvSpPr>
          <p:cNvPr id="19" name="Text 17"/>
          <p:cNvSpPr txBox="1"/>
          <p:nvPr/>
        </p:nvSpPr>
        <p:spPr>
          <a:xfrm>
            <a:off x="7498080" y="3236976"/>
            <a:ext cx="3840480" cy="1042416"/>
          </a:xfrm>
          <a:prstGeom prst="rect">
            <a:avLst/>
          </a:prstGeom>
          <a:noFill/>
          <a:ln/>
        </p:spPr>
        <p:txBody>
          <a:bodyPr wrap="square" lIns="0" tIns="0" rIns="0" bIns="0" rtlCol="0" anchor="ctr"/>
          <a:lstStyle/>
          <a:p>
            <a:pPr indent="0" marL="0">
              <a:buNone/>
            </a:pPr>
            <a:r>
              <a:rPr lang="en-US" sz="1600" b="1" dirty="0">
                <a:solidFill>
                  <a:srgbClr val="12211D"/>
                </a:solidFill>
                <a:latin typeface="Cambria" pitchFamily="34" charset="0"/>
                <a:ea typeface="Cambria" pitchFamily="34" charset="-122"/>
                <a:cs typeface="Cambria" pitchFamily="34" charset="-120"/>
              </a:rPr>
              <a:t>Qui les traite, et avec quelles compétences locales ?</a:t>
            </a:r>
            <a:endParaRPr lang="en-US" sz="1600" dirty="0"/>
          </a:p>
        </p:txBody>
      </p:sp>
      <p:sp>
        <p:nvSpPr>
          <p:cNvPr id="20" name="Shape 18"/>
          <p:cNvSpPr/>
          <p:nvPr/>
        </p:nvSpPr>
        <p:spPr>
          <a:xfrm>
            <a:off x="6537960" y="4443984"/>
            <a:ext cx="5056632" cy="1042416"/>
          </a:xfrm>
          <a:prstGeom prst="roundRect">
            <a:avLst>
              <a:gd name="adj" fmla="val 6140"/>
            </a:avLst>
          </a:prstGeom>
          <a:solidFill>
            <a:srgbClr val="FFFFFF"/>
          </a:solidFill>
          <a:ln/>
          <a:effectLst>
            <a:outerShdw sx="100000" sy="100000" kx="0" ky="0" algn="bl" rotWithShape="0" blurRad="114300" dist="38100" dir="5400000">
              <a:srgbClr val="0B3D35">
                <a:alpha val="9000"/>
              </a:srgbClr>
            </a:outerShdw>
          </a:effectLst>
        </p:spPr>
      </p:sp>
      <p:sp>
        <p:nvSpPr>
          <p:cNvPr id="21" name="Shape 19"/>
          <p:cNvSpPr/>
          <p:nvPr/>
        </p:nvSpPr>
        <p:spPr>
          <a:xfrm>
            <a:off x="6812280" y="4718304"/>
            <a:ext cx="493776" cy="493776"/>
          </a:xfrm>
          <a:prstGeom prst="ellipse">
            <a:avLst/>
          </a:prstGeom>
          <a:solidFill>
            <a:srgbClr val="E3EEE9"/>
          </a:solidFill>
          <a:ln/>
        </p:spPr>
      </p:sp>
      <p:sp>
        <p:nvSpPr>
          <p:cNvPr id="22" name="Text 20"/>
          <p:cNvSpPr txBox="1"/>
          <p:nvPr/>
        </p:nvSpPr>
        <p:spPr>
          <a:xfrm>
            <a:off x="6812280" y="4718304"/>
            <a:ext cx="493776" cy="493776"/>
          </a:xfrm>
          <a:prstGeom prst="rect">
            <a:avLst/>
          </a:prstGeom>
          <a:noFill/>
          <a:ln/>
        </p:spPr>
        <p:txBody>
          <a:bodyPr wrap="square" lIns="0" tIns="0" rIns="0" bIns="0" rtlCol="0" anchor="ctr"/>
          <a:lstStyle/>
          <a:p>
            <a:pPr algn="ctr" indent="0" marL="0">
              <a:buNone/>
            </a:pPr>
            <a:r>
              <a:rPr lang="en-US" sz="1200" b="1" dirty="0">
                <a:solidFill>
                  <a:srgbClr val="0B5D50"/>
                </a:solidFill>
                <a:latin typeface="Courier New" pitchFamily="34" charset="0"/>
                <a:ea typeface="Courier New" pitchFamily="34" charset="-122"/>
                <a:cs typeface="Courier New" pitchFamily="34" charset="-120"/>
              </a:rPr>
              <a:t>03</a:t>
            </a:r>
            <a:endParaRPr lang="en-US" sz="1200" dirty="0"/>
          </a:p>
        </p:txBody>
      </p:sp>
      <p:sp>
        <p:nvSpPr>
          <p:cNvPr id="23" name="Text 21"/>
          <p:cNvSpPr txBox="1"/>
          <p:nvPr/>
        </p:nvSpPr>
        <p:spPr>
          <a:xfrm>
            <a:off x="7498080" y="4443984"/>
            <a:ext cx="3840480" cy="1042416"/>
          </a:xfrm>
          <a:prstGeom prst="rect">
            <a:avLst/>
          </a:prstGeom>
          <a:noFill/>
          <a:ln/>
        </p:spPr>
        <p:txBody>
          <a:bodyPr wrap="square" lIns="0" tIns="0" rIns="0" bIns="0" rtlCol="0" anchor="ctr"/>
          <a:lstStyle/>
          <a:p>
            <a:pPr indent="0" marL="0">
              <a:buNone/>
            </a:pPr>
            <a:r>
              <a:rPr lang="en-US" sz="1600" b="1" dirty="0">
                <a:solidFill>
                  <a:srgbClr val="12211D"/>
                </a:solidFill>
                <a:latin typeface="Cambria" pitchFamily="34" charset="0"/>
                <a:ea typeface="Cambria" pitchFamily="34" charset="-122"/>
                <a:cs typeface="Cambria" pitchFamily="34" charset="-120"/>
              </a:rPr>
              <a:t>Sous quelles règles nationales, et contrôlées par qui ?</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ACTIVITÉ INTERACTIVE</a:t>
            </a:r>
            <a:endParaRPr lang="en-US" sz="950" dirty="0"/>
          </a:p>
        </p:txBody>
      </p:sp>
      <p:sp>
        <p:nvSpPr>
          <p:cNvPr id="3" name="Text 1"/>
          <p:cNvSpPr txBox="1"/>
          <p:nvPr/>
        </p:nvSpPr>
        <p:spPr>
          <a:xfrm>
            <a:off x="9765792" y="402336"/>
            <a:ext cx="1828800" cy="237744"/>
          </a:xfrm>
          <a:prstGeom prst="rect">
            <a:avLst/>
          </a:prstGeom>
          <a:noFill/>
          <a:ln/>
        </p:spPr>
        <p:txBody>
          <a:bodyPr wrap="square" lIns="0" tIns="0" rIns="0" bIns="0" rtlCol="0" anchor="ctr"/>
          <a:lstStyle/>
          <a:p>
            <a:pPr algn="r" indent="0" marL="0">
              <a:buNone/>
            </a:pPr>
            <a:r>
              <a:rPr lang="en-US" sz="950" b="1" dirty="0">
                <a:solidFill>
                  <a:srgbClr val="8A9A91"/>
                </a:solidFill>
                <a:latin typeface="Courier New" pitchFamily="34" charset="0"/>
                <a:ea typeface="Courier New" pitchFamily="34" charset="-122"/>
                <a:cs typeface="Courier New" pitchFamily="34" charset="-120"/>
              </a:rPr>
              <a:t>14 MIN</a:t>
            </a:r>
            <a:endParaRPr lang="en-US" sz="950" dirty="0"/>
          </a:p>
        </p:txBody>
      </p:sp>
      <p:sp>
        <p:nvSpPr>
          <p:cNvPr id="4" name="Text 2"/>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200" b="1" dirty="0">
                <a:solidFill>
                  <a:srgbClr val="12211D"/>
                </a:solidFill>
                <a:latin typeface="Cambria" pitchFamily="34" charset="0"/>
                <a:ea typeface="Cambria" pitchFamily="34" charset="-122"/>
                <a:cs typeface="Cambria" pitchFamily="34" charset="-120"/>
              </a:rPr>
              <a:t>Le débat des jeunes</a:t>
            </a:r>
            <a:endParaRPr lang="en-US" sz="3200" dirty="0"/>
          </a:p>
        </p:txBody>
      </p:sp>
      <p:sp>
        <p:nvSpPr>
          <p:cNvPr id="5" name="Text 3"/>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6" name="Text 4"/>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20</a:t>
            </a:r>
            <a:endParaRPr lang="en-US" sz="800" dirty="0"/>
          </a:p>
        </p:txBody>
      </p:sp>
      <p:sp>
        <p:nvSpPr>
          <p:cNvPr id="7" name="Text 5"/>
          <p:cNvSpPr txBox="1"/>
          <p:nvPr/>
        </p:nvSpPr>
        <p:spPr>
          <a:xfrm>
            <a:off x="566928" y="1481328"/>
            <a:ext cx="10424160" cy="457200"/>
          </a:xfrm>
          <a:prstGeom prst="rect">
            <a:avLst/>
          </a:prstGeom>
          <a:noFill/>
          <a:ln/>
        </p:spPr>
        <p:txBody>
          <a:bodyPr wrap="square" lIns="0" tIns="0" rIns="0" bIns="0" rtlCol="0" anchor="t"/>
          <a:lstStyle/>
          <a:p>
            <a:pPr indent="0" marL="0">
              <a:buNone/>
            </a:pPr>
            <a:r>
              <a:rPr lang="en-US" sz="1400" dirty="0">
                <a:solidFill>
                  <a:srgbClr val="5C6D64"/>
                </a:solidFill>
                <a:latin typeface="Calibri" pitchFamily="34" charset="0"/>
                <a:ea typeface="Calibri" pitchFamily="34" charset="-122"/>
                <a:cs typeface="Calibri" pitchFamily="34" charset="-120"/>
              </a:rPr>
              <a:t>Trois groupes, trois intérêts légitimes. Quatre minutes de préparation, deux minutes de plaidoirie ; le groupe C conclut en proposant un compromis.</a:t>
            </a:r>
            <a:endParaRPr lang="en-US" sz="1400" dirty="0"/>
          </a:p>
        </p:txBody>
      </p:sp>
      <p:sp>
        <p:nvSpPr>
          <p:cNvPr id="8" name="Shape 6"/>
          <p:cNvSpPr/>
          <p:nvPr/>
        </p:nvSpPr>
        <p:spPr>
          <a:xfrm>
            <a:off x="566928" y="2084832"/>
            <a:ext cx="3493008" cy="3200400"/>
          </a:xfrm>
          <a:prstGeom prst="roundRect">
            <a:avLst>
              <a:gd name="adj" fmla="val 2000"/>
            </a:avLst>
          </a:prstGeom>
          <a:solidFill>
            <a:srgbClr val="FFFFFF"/>
          </a:solidFill>
          <a:ln/>
          <a:effectLst>
            <a:outerShdw sx="100000" sy="100000" kx="0" ky="0" algn="bl" rotWithShape="0" blurRad="114300" dist="38100" dir="5400000">
              <a:srgbClr val="0B3D35">
                <a:alpha val="9000"/>
              </a:srgbClr>
            </a:outerShdw>
          </a:effectLst>
        </p:spPr>
      </p:sp>
      <p:sp>
        <p:nvSpPr>
          <p:cNvPr id="9" name="Shape 7"/>
          <p:cNvSpPr/>
          <p:nvPr/>
        </p:nvSpPr>
        <p:spPr>
          <a:xfrm>
            <a:off x="841248" y="2340864"/>
            <a:ext cx="658368" cy="658368"/>
          </a:xfrm>
          <a:prstGeom prst="ellipse">
            <a:avLst/>
          </a:prstGeom>
          <a:solidFill>
            <a:srgbClr val="E3EEE9"/>
          </a:solidFill>
          <a:ln/>
        </p:spPr>
      </p:sp>
      <p:sp>
        <p:nvSpPr>
          <p:cNvPr id="10" name="Text 8"/>
          <p:cNvSpPr txBox="1"/>
          <p:nvPr/>
        </p:nvSpPr>
        <p:spPr>
          <a:xfrm>
            <a:off x="841248" y="2340864"/>
            <a:ext cx="658368" cy="658368"/>
          </a:xfrm>
          <a:prstGeom prst="rect">
            <a:avLst/>
          </a:prstGeom>
          <a:noFill/>
          <a:ln/>
        </p:spPr>
        <p:txBody>
          <a:bodyPr wrap="square" lIns="0" tIns="0" rIns="0" bIns="0" rtlCol="0" anchor="ctr"/>
          <a:lstStyle/>
          <a:p>
            <a:pPr algn="ctr" indent="0" marL="0">
              <a:buNone/>
            </a:pPr>
            <a:r>
              <a:rPr lang="en-US" sz="2000" b="1" dirty="0">
                <a:solidFill>
                  <a:srgbClr val="0B5D50"/>
                </a:solidFill>
                <a:latin typeface="Courier New" pitchFamily="34" charset="0"/>
                <a:ea typeface="Courier New" pitchFamily="34" charset="-122"/>
                <a:cs typeface="Courier New" pitchFamily="34" charset="-120"/>
              </a:rPr>
              <a:t>A</a:t>
            </a:r>
            <a:endParaRPr lang="en-US" sz="2000" dirty="0"/>
          </a:p>
        </p:txBody>
      </p:sp>
      <p:sp>
        <p:nvSpPr>
          <p:cNvPr id="11" name="Text 9"/>
          <p:cNvSpPr txBox="1"/>
          <p:nvPr/>
        </p:nvSpPr>
        <p:spPr>
          <a:xfrm>
            <a:off x="841248" y="3127248"/>
            <a:ext cx="2944368" cy="713232"/>
          </a:xfrm>
          <a:prstGeom prst="rect">
            <a:avLst/>
          </a:prstGeom>
          <a:noFill/>
          <a:ln/>
        </p:spPr>
        <p:txBody>
          <a:bodyPr wrap="square" lIns="0" tIns="0" rIns="0" bIns="0" rtlCol="0" anchor="t"/>
          <a:lstStyle/>
          <a:p>
            <a:pPr indent="0" marL="0">
              <a:buNone/>
            </a:pPr>
            <a:r>
              <a:rPr lang="en-US" sz="1800" b="1" dirty="0">
                <a:solidFill>
                  <a:srgbClr val="12211D"/>
                </a:solidFill>
                <a:latin typeface="Cambria" pitchFamily="34" charset="0"/>
                <a:ea typeface="Cambria" pitchFamily="34" charset="-122"/>
                <a:cs typeface="Cambria" pitchFamily="34" charset="-120"/>
              </a:rPr>
              <a:t>Citoyens, étudiants et usagers</a:t>
            </a:r>
            <a:endParaRPr lang="en-US" sz="1800" dirty="0"/>
          </a:p>
        </p:txBody>
      </p:sp>
      <p:sp>
        <p:nvSpPr>
          <p:cNvPr id="12" name="Text 10"/>
          <p:cNvSpPr txBox="1"/>
          <p:nvPr/>
        </p:nvSpPr>
        <p:spPr>
          <a:xfrm>
            <a:off x="841248" y="3913632"/>
            <a:ext cx="2944368" cy="1188720"/>
          </a:xfrm>
          <a:prstGeom prst="rect">
            <a:avLst/>
          </a:prstGeom>
          <a:noFill/>
          <a:ln/>
        </p:spPr>
        <p:txBody>
          <a:bodyPr wrap="square" lIns="0" tIns="0" rIns="0" bIns="0" rtlCol="0" anchor="t"/>
          <a:lstStyle/>
          <a:p>
            <a:pPr indent="0" marL="0">
              <a:lnSpc>
                <a:spcPts val="1900"/>
              </a:lnSpc>
              <a:buNone/>
            </a:pPr>
            <a:r>
              <a:rPr lang="en-US" sz="1300" dirty="0">
                <a:solidFill>
                  <a:srgbClr val="5C6D64"/>
                </a:solidFill>
                <a:latin typeface="Calibri" pitchFamily="34" charset="0"/>
                <a:ea typeface="Calibri" pitchFamily="34" charset="-122"/>
                <a:cs typeface="Calibri" pitchFamily="34" charset="-120"/>
              </a:rPr>
              <a:t>Défendre le droit à la vie privée, le droit d'étudier et de travailler sans IA de détection d'émotions, et refuser l'aspiration des données sans consentement.</a:t>
            </a:r>
            <a:endParaRPr lang="en-US" sz="1300" dirty="0"/>
          </a:p>
        </p:txBody>
      </p:sp>
      <p:sp>
        <p:nvSpPr>
          <p:cNvPr id="13" name="Shape 11"/>
          <p:cNvSpPr/>
          <p:nvPr/>
        </p:nvSpPr>
        <p:spPr>
          <a:xfrm>
            <a:off x="4334256" y="2084832"/>
            <a:ext cx="3493008" cy="3200400"/>
          </a:xfrm>
          <a:prstGeom prst="roundRect">
            <a:avLst>
              <a:gd name="adj" fmla="val 2000"/>
            </a:avLst>
          </a:prstGeom>
          <a:solidFill>
            <a:srgbClr val="FFFFFF"/>
          </a:solidFill>
          <a:ln/>
          <a:effectLst>
            <a:outerShdw sx="100000" sy="100000" kx="0" ky="0" algn="bl" rotWithShape="0" blurRad="114300" dist="38100" dir="5400000">
              <a:srgbClr val="0B3D35">
                <a:alpha val="9000"/>
              </a:srgbClr>
            </a:outerShdw>
          </a:effectLst>
        </p:spPr>
      </p:sp>
      <p:sp>
        <p:nvSpPr>
          <p:cNvPr id="14" name="Shape 12"/>
          <p:cNvSpPr/>
          <p:nvPr/>
        </p:nvSpPr>
        <p:spPr>
          <a:xfrm>
            <a:off x="4608576" y="2340864"/>
            <a:ext cx="658368" cy="658368"/>
          </a:xfrm>
          <a:prstGeom prst="ellipse">
            <a:avLst/>
          </a:prstGeom>
          <a:solidFill>
            <a:srgbClr val="F6E5DF"/>
          </a:solidFill>
          <a:ln/>
        </p:spPr>
      </p:sp>
      <p:sp>
        <p:nvSpPr>
          <p:cNvPr id="15" name="Text 13"/>
          <p:cNvSpPr txBox="1"/>
          <p:nvPr/>
        </p:nvSpPr>
        <p:spPr>
          <a:xfrm>
            <a:off x="4608576" y="2340864"/>
            <a:ext cx="658368" cy="658368"/>
          </a:xfrm>
          <a:prstGeom prst="rect">
            <a:avLst/>
          </a:prstGeom>
          <a:noFill/>
          <a:ln/>
        </p:spPr>
        <p:txBody>
          <a:bodyPr wrap="square" lIns="0" tIns="0" rIns="0" bIns="0" rtlCol="0" anchor="ctr"/>
          <a:lstStyle/>
          <a:p>
            <a:pPr algn="ctr" indent="0" marL="0">
              <a:buNone/>
            </a:pPr>
            <a:r>
              <a:rPr lang="en-US" sz="2000" b="1" dirty="0">
                <a:solidFill>
                  <a:srgbClr val="A33A1C"/>
                </a:solidFill>
                <a:latin typeface="Courier New" pitchFamily="34" charset="0"/>
                <a:ea typeface="Courier New" pitchFamily="34" charset="-122"/>
                <a:cs typeface="Courier New" pitchFamily="34" charset="-120"/>
              </a:rPr>
              <a:t>B</a:t>
            </a:r>
            <a:endParaRPr lang="en-US" sz="2000" dirty="0"/>
          </a:p>
        </p:txBody>
      </p:sp>
      <p:sp>
        <p:nvSpPr>
          <p:cNvPr id="16" name="Text 14"/>
          <p:cNvSpPr txBox="1"/>
          <p:nvPr/>
        </p:nvSpPr>
        <p:spPr>
          <a:xfrm>
            <a:off x="4608576" y="3127248"/>
            <a:ext cx="2944368" cy="713232"/>
          </a:xfrm>
          <a:prstGeom prst="rect">
            <a:avLst/>
          </a:prstGeom>
          <a:noFill/>
          <a:ln/>
        </p:spPr>
        <p:txBody>
          <a:bodyPr wrap="square" lIns="0" tIns="0" rIns="0" bIns="0" rtlCol="0" anchor="t"/>
          <a:lstStyle/>
          <a:p>
            <a:pPr indent="0" marL="0">
              <a:buNone/>
            </a:pPr>
            <a:r>
              <a:rPr lang="en-US" sz="1800" b="1" dirty="0">
                <a:solidFill>
                  <a:srgbClr val="12211D"/>
                </a:solidFill>
                <a:latin typeface="Cambria" pitchFamily="34" charset="0"/>
                <a:ea typeface="Cambria" pitchFamily="34" charset="-122"/>
                <a:cs typeface="Cambria" pitchFamily="34" charset="-120"/>
              </a:rPr>
              <a:t>Police municipale et autorités locales</a:t>
            </a:r>
            <a:endParaRPr lang="en-US" sz="1800" dirty="0"/>
          </a:p>
        </p:txBody>
      </p:sp>
      <p:sp>
        <p:nvSpPr>
          <p:cNvPr id="17" name="Text 15"/>
          <p:cNvSpPr txBox="1"/>
          <p:nvPr/>
        </p:nvSpPr>
        <p:spPr>
          <a:xfrm>
            <a:off x="4608576" y="3913632"/>
            <a:ext cx="2944368" cy="1188720"/>
          </a:xfrm>
          <a:prstGeom prst="rect">
            <a:avLst/>
          </a:prstGeom>
          <a:noFill/>
          <a:ln/>
        </p:spPr>
        <p:txBody>
          <a:bodyPr wrap="square" lIns="0" tIns="0" rIns="0" bIns="0" rtlCol="0" anchor="t"/>
          <a:lstStyle/>
          <a:p>
            <a:pPr indent="0" marL="0">
              <a:lnSpc>
                <a:spcPts val="1900"/>
              </a:lnSpc>
              <a:buNone/>
            </a:pPr>
            <a:r>
              <a:rPr lang="en-US" sz="1300" dirty="0">
                <a:solidFill>
                  <a:srgbClr val="5C6D64"/>
                </a:solidFill>
                <a:latin typeface="Calibri" pitchFamily="34" charset="0"/>
                <a:ea typeface="Calibri" pitchFamily="34" charset="-122"/>
                <a:cs typeface="Calibri" pitchFamily="34" charset="-120"/>
              </a:rPr>
              <a:t>Obtenir la vidéosurveillance intelligente et le stockage biométrique préventif pour lutter contre la délinquance dans la commune.</a:t>
            </a:r>
            <a:endParaRPr lang="en-US" sz="1300" dirty="0"/>
          </a:p>
        </p:txBody>
      </p:sp>
      <p:sp>
        <p:nvSpPr>
          <p:cNvPr id="18" name="Shape 16"/>
          <p:cNvSpPr/>
          <p:nvPr/>
        </p:nvSpPr>
        <p:spPr>
          <a:xfrm>
            <a:off x="8101584" y="2084832"/>
            <a:ext cx="3493008" cy="3200400"/>
          </a:xfrm>
          <a:prstGeom prst="roundRect">
            <a:avLst>
              <a:gd name="adj" fmla="val 2000"/>
            </a:avLst>
          </a:prstGeom>
          <a:solidFill>
            <a:srgbClr val="FFFFFF"/>
          </a:solidFill>
          <a:ln/>
          <a:effectLst>
            <a:outerShdw sx="100000" sy="100000" kx="0" ky="0" algn="bl" rotWithShape="0" blurRad="114300" dist="38100" dir="5400000">
              <a:srgbClr val="0B3D35">
                <a:alpha val="9000"/>
              </a:srgbClr>
            </a:outerShdw>
          </a:effectLst>
        </p:spPr>
      </p:sp>
      <p:sp>
        <p:nvSpPr>
          <p:cNvPr id="19" name="Shape 17"/>
          <p:cNvSpPr/>
          <p:nvPr/>
        </p:nvSpPr>
        <p:spPr>
          <a:xfrm>
            <a:off x="8375904" y="2340864"/>
            <a:ext cx="658368" cy="658368"/>
          </a:xfrm>
          <a:prstGeom prst="ellipse">
            <a:avLst/>
          </a:prstGeom>
          <a:solidFill>
            <a:srgbClr val="F6EDD8"/>
          </a:solidFill>
          <a:ln/>
        </p:spPr>
      </p:sp>
      <p:sp>
        <p:nvSpPr>
          <p:cNvPr id="20" name="Text 18"/>
          <p:cNvSpPr txBox="1"/>
          <p:nvPr/>
        </p:nvSpPr>
        <p:spPr>
          <a:xfrm>
            <a:off x="8375904" y="2340864"/>
            <a:ext cx="658368" cy="658368"/>
          </a:xfrm>
          <a:prstGeom prst="rect">
            <a:avLst/>
          </a:prstGeom>
          <a:noFill/>
          <a:ln/>
        </p:spPr>
        <p:txBody>
          <a:bodyPr wrap="square" lIns="0" tIns="0" rIns="0" bIns="0" rtlCol="0" anchor="ctr"/>
          <a:lstStyle/>
          <a:p>
            <a:pPr algn="ctr" indent="0" marL="0">
              <a:buNone/>
            </a:pPr>
            <a:r>
              <a:rPr lang="en-US" sz="2000" b="1" dirty="0">
                <a:solidFill>
                  <a:srgbClr val="B4820F"/>
                </a:solidFill>
                <a:latin typeface="Courier New" pitchFamily="34" charset="0"/>
                <a:ea typeface="Courier New" pitchFamily="34" charset="-122"/>
                <a:cs typeface="Courier New" pitchFamily="34" charset="-120"/>
              </a:rPr>
              <a:t>C</a:t>
            </a:r>
            <a:endParaRPr lang="en-US" sz="2000" dirty="0"/>
          </a:p>
        </p:txBody>
      </p:sp>
      <p:sp>
        <p:nvSpPr>
          <p:cNvPr id="21" name="Text 19"/>
          <p:cNvSpPr txBox="1"/>
          <p:nvPr/>
        </p:nvSpPr>
        <p:spPr>
          <a:xfrm>
            <a:off x="8375904" y="3127248"/>
            <a:ext cx="2944368" cy="713232"/>
          </a:xfrm>
          <a:prstGeom prst="rect">
            <a:avLst/>
          </a:prstGeom>
          <a:noFill/>
          <a:ln/>
        </p:spPr>
        <p:txBody>
          <a:bodyPr wrap="square" lIns="0" tIns="0" rIns="0" bIns="0" rtlCol="0" anchor="t"/>
          <a:lstStyle/>
          <a:p>
            <a:pPr indent="0" marL="0">
              <a:buNone/>
            </a:pPr>
            <a:r>
              <a:rPr lang="en-US" sz="1800" b="1" dirty="0">
                <a:solidFill>
                  <a:srgbClr val="12211D"/>
                </a:solidFill>
                <a:latin typeface="Cambria" pitchFamily="34" charset="0"/>
                <a:ea typeface="Cambria" pitchFamily="34" charset="-122"/>
                <a:cs typeface="Cambria" pitchFamily="34" charset="-120"/>
              </a:rPr>
              <a:t>FGI Bénin et ISOC Bénin · médiateurs</a:t>
            </a:r>
            <a:endParaRPr lang="en-US" sz="1800" dirty="0"/>
          </a:p>
        </p:txBody>
      </p:sp>
      <p:sp>
        <p:nvSpPr>
          <p:cNvPr id="22" name="Text 20"/>
          <p:cNvSpPr txBox="1"/>
          <p:nvPr/>
        </p:nvSpPr>
        <p:spPr>
          <a:xfrm>
            <a:off x="8375904" y="3913632"/>
            <a:ext cx="2944368" cy="1188720"/>
          </a:xfrm>
          <a:prstGeom prst="rect">
            <a:avLst/>
          </a:prstGeom>
          <a:noFill/>
          <a:ln/>
        </p:spPr>
        <p:txBody>
          <a:bodyPr wrap="square" lIns="0" tIns="0" rIns="0" bIns="0" rtlCol="0" anchor="t"/>
          <a:lstStyle/>
          <a:p>
            <a:pPr indent="0" marL="0">
              <a:lnSpc>
                <a:spcPts val="1900"/>
              </a:lnSpc>
              <a:buNone/>
            </a:pPr>
            <a:r>
              <a:rPr lang="en-US" sz="1300" dirty="0">
                <a:solidFill>
                  <a:srgbClr val="5C6D64"/>
                </a:solidFill>
                <a:latin typeface="Calibri" pitchFamily="34" charset="0"/>
                <a:ea typeface="Calibri" pitchFamily="34" charset="-122"/>
                <a:cs typeface="Calibri" pitchFamily="34" charset="-120"/>
              </a:rPr>
              <a:t>Proposer des compromis techniques — Privacy by Design, apprentissage fédéré, anonymisation à la source — pour garantir la sécurité sans sacrifier les droits.</a:t>
            </a:r>
            <a:endParaRPr lang="en-US" sz="1300" dirty="0"/>
          </a:p>
        </p:txBody>
      </p:sp>
      <p:sp>
        <p:nvSpPr>
          <p:cNvPr id="23" name="Shape 21"/>
          <p:cNvSpPr/>
          <p:nvPr/>
        </p:nvSpPr>
        <p:spPr>
          <a:xfrm>
            <a:off x="566928" y="5486400"/>
            <a:ext cx="11027664" cy="640080"/>
          </a:xfrm>
          <a:prstGeom prst="roundRect">
            <a:avLst>
              <a:gd name="adj" fmla="val 10000"/>
            </a:avLst>
          </a:prstGeom>
          <a:solidFill>
            <a:srgbClr val="E3EEE9"/>
          </a:solidFill>
          <a:ln/>
        </p:spPr>
      </p:sp>
      <p:sp>
        <p:nvSpPr>
          <p:cNvPr id="24" name="Text 22"/>
          <p:cNvSpPr txBox="1"/>
          <p:nvPr/>
        </p:nvSpPr>
        <p:spPr>
          <a:xfrm>
            <a:off x="841248" y="5486400"/>
            <a:ext cx="10479024" cy="640080"/>
          </a:xfrm>
          <a:prstGeom prst="rect">
            <a:avLst/>
          </a:prstGeom>
          <a:noFill/>
          <a:ln/>
        </p:spPr>
        <p:txBody>
          <a:bodyPr wrap="square" lIns="0" tIns="0" rIns="0" bIns="0" rtlCol="0" anchor="ctr"/>
          <a:lstStyle/>
          <a:p>
            <a:pPr indent="0" marL="0">
              <a:buNone/>
            </a:pPr>
            <a:r>
              <a:rPr lang="en-US" sz="950" b="1" spc="200" kern="0" dirty="0">
                <a:solidFill>
                  <a:srgbClr val="0B5D50"/>
                </a:solidFill>
                <a:latin typeface="Courier New" pitchFamily="34" charset="0"/>
                <a:ea typeface="Courier New" pitchFamily="34" charset="-122"/>
                <a:cs typeface="Courier New" pitchFamily="34" charset="-120"/>
              </a:rPr>
              <a:t>VARIANTE   </a:t>
            </a:r>
            <a:pPr indent="0" marL="0">
              <a:buNone/>
            </a:pPr>
            <a:r>
              <a:rPr lang="en-US" sz="1250" dirty="0">
                <a:solidFill>
                  <a:srgbClr val="12211D"/>
                </a:solidFill>
                <a:latin typeface="Calibri" pitchFamily="34" charset="0"/>
                <a:ea typeface="Calibri" pitchFamily="34" charset="-122"/>
                <a:cs typeface="Calibri" pitchFamily="34" charset="-120"/>
              </a:rPr>
              <a:t>si l'effectif est trop faible : activité « Mon empreinte de données » — trois données partagées cette semaine, qui peut y accéder, un geste à poser le soir même.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5D50"/>
        </a:solidFill>
      </p:bgPr>
    </p:bg>
    <p:spTree>
      <p:nvGrpSpPr>
        <p:cNvPr id="1" name=""/>
        <p:cNvGrpSpPr/>
        <p:nvPr/>
      </p:nvGrpSpPr>
      <p:grpSpPr>
        <a:xfrm>
          <a:off x="0" y="0"/>
          <a:ext cx="0" cy="0"/>
          <a:chOff x="0" y="0"/>
          <a:chExt cx="0" cy="0"/>
        </a:xfrm>
      </p:grpSpPr>
      <p:sp>
        <p:nvSpPr>
          <p:cNvPr id="2" name="Shape 0"/>
          <p:cNvSpPr/>
          <p:nvPr/>
        </p:nvSpPr>
        <p:spPr>
          <a:xfrm>
            <a:off x="9692640" y="-1280160"/>
            <a:ext cx="4023360" cy="4023360"/>
          </a:xfrm>
          <a:prstGeom prst="ellipse">
            <a:avLst/>
          </a:prstGeom>
          <a:solidFill>
            <a:srgbClr val="0B3D35">
              <a:alpha val="55000"/>
            </a:srgbClr>
          </a:solidFill>
          <a:ln/>
        </p:spPr>
      </p:sp>
      <p:sp>
        <p:nvSpPr>
          <p:cNvPr id="3" name="Text 1"/>
          <p:cNvSpPr txBox="1"/>
          <p:nvPr/>
        </p:nvSpPr>
        <p:spPr>
          <a:xfrm>
            <a:off x="566928" y="960120"/>
            <a:ext cx="5486400" cy="274320"/>
          </a:xfrm>
          <a:prstGeom prst="rect">
            <a:avLst/>
          </a:prstGeom>
          <a:noFill/>
          <a:ln/>
        </p:spPr>
        <p:txBody>
          <a:bodyPr wrap="square" lIns="0" tIns="0" rIns="0" bIns="0" rtlCol="0" anchor="ctr"/>
          <a:lstStyle/>
          <a:p>
            <a:pPr indent="0" marL="0">
              <a:buNone/>
            </a:pPr>
            <a:r>
              <a:rPr lang="en-US" sz="1100" b="1" spc="300" kern="0" dirty="0">
                <a:solidFill>
                  <a:srgbClr val="D9A521"/>
                </a:solidFill>
                <a:latin typeface="Courier New" pitchFamily="34" charset="0"/>
                <a:ea typeface="Courier New" pitchFamily="34" charset="-122"/>
                <a:cs typeface="Courier New" pitchFamily="34" charset="-120"/>
              </a:rPr>
              <a:t>MESSAGE CLÉ</a:t>
            </a:r>
            <a:endParaRPr lang="en-US" sz="1100" dirty="0"/>
          </a:p>
        </p:txBody>
      </p:sp>
      <p:sp>
        <p:nvSpPr>
          <p:cNvPr id="4" name="Text 2"/>
          <p:cNvSpPr txBox="1"/>
          <p:nvPr/>
        </p:nvSpPr>
        <p:spPr>
          <a:xfrm>
            <a:off x="566928" y="1417320"/>
            <a:ext cx="10241280" cy="1920240"/>
          </a:xfrm>
          <a:prstGeom prst="rect">
            <a:avLst/>
          </a:prstGeom>
          <a:noFill/>
          <a:ln/>
        </p:spPr>
        <p:txBody>
          <a:bodyPr wrap="square" lIns="0" tIns="0" rIns="0" bIns="0" rtlCol="0" anchor="t"/>
          <a:lstStyle/>
          <a:p>
            <a:pPr indent="0" marL="0">
              <a:lnSpc>
                <a:spcPts val="4200"/>
              </a:lnSpc>
              <a:buNone/>
            </a:pPr>
            <a:r>
              <a:rPr lang="en-US" sz="3300" b="1" dirty="0">
                <a:solidFill>
                  <a:srgbClr val="FFFFFF"/>
                </a:solidFill>
                <a:latin typeface="Cambria" pitchFamily="34" charset="0"/>
                <a:ea typeface="Cambria" pitchFamily="34" charset="-122"/>
                <a:cs typeface="Cambria" pitchFamily="34" charset="-120"/>
              </a:rPr>
              <a:t>L'avenir de l'intelligence artificielle ne doit pas être défini seulement par ce qu'elle peut faire, mais aussi par ce qu'elle doit respecter.</a:t>
            </a:r>
            <a:endParaRPr lang="en-US" sz="3300" dirty="0"/>
          </a:p>
        </p:txBody>
      </p:sp>
      <p:sp>
        <p:nvSpPr>
          <p:cNvPr id="5" name="Text 3"/>
          <p:cNvSpPr txBox="1"/>
          <p:nvPr/>
        </p:nvSpPr>
        <p:spPr>
          <a:xfrm>
            <a:off x="566928" y="3401568"/>
            <a:ext cx="9509760" cy="822960"/>
          </a:xfrm>
          <a:prstGeom prst="rect">
            <a:avLst/>
          </a:prstGeom>
          <a:noFill/>
          <a:ln/>
        </p:spPr>
        <p:txBody>
          <a:bodyPr wrap="square" lIns="0" tIns="0" rIns="0" bIns="0" rtlCol="0" anchor="t"/>
          <a:lstStyle/>
          <a:p>
            <a:pPr indent="0" marL="0">
              <a:lnSpc>
                <a:spcPts val="2200"/>
              </a:lnSpc>
              <a:buNone/>
            </a:pPr>
            <a:r>
              <a:rPr lang="en-US" sz="1500" dirty="0">
                <a:solidFill>
                  <a:srgbClr val="9FBFB5"/>
                </a:solidFill>
                <a:latin typeface="Calibri" pitchFamily="34" charset="0"/>
                <a:ea typeface="Calibri" pitchFamily="34" charset="-122"/>
                <a:cs typeface="Calibri" pitchFamily="34" charset="-120"/>
              </a:rPr>
              <a:t>Construire une IA responsable, c'est construire un numérique où l'innovation protège les personnes, où les données restent sous contrôle, et où les droits humains demeurent au cœur de la technologie.</a:t>
            </a:r>
            <a:endParaRPr lang="en-US" sz="1500" dirty="0"/>
          </a:p>
        </p:txBody>
      </p:sp>
      <p:sp>
        <p:nvSpPr>
          <p:cNvPr id="6" name="Shape 4"/>
          <p:cNvSpPr/>
          <p:nvPr/>
        </p:nvSpPr>
        <p:spPr>
          <a:xfrm>
            <a:off x="566928" y="4526280"/>
            <a:ext cx="3493008" cy="1463040"/>
          </a:xfrm>
          <a:prstGeom prst="roundRect">
            <a:avLst>
              <a:gd name="adj" fmla="val 4375"/>
            </a:avLst>
          </a:prstGeom>
          <a:solidFill>
            <a:srgbClr val="0B3D35"/>
          </a:solidFill>
          <a:ln/>
        </p:spPr>
      </p:sp>
      <p:sp>
        <p:nvSpPr>
          <p:cNvPr id="7" name="Shape 5"/>
          <p:cNvSpPr/>
          <p:nvPr/>
        </p:nvSpPr>
        <p:spPr>
          <a:xfrm>
            <a:off x="841248" y="4754880"/>
            <a:ext cx="457200" cy="457200"/>
          </a:xfrm>
          <a:prstGeom prst="ellipse">
            <a:avLst/>
          </a:prstGeom>
          <a:solidFill>
            <a:srgbClr val="D9A521"/>
          </a:solidFill>
          <a:ln/>
        </p:spPr>
      </p:sp>
      <p:sp>
        <p:nvSpPr>
          <p:cNvPr id="8" name="Text 6"/>
          <p:cNvSpPr txBox="1"/>
          <p:nvPr/>
        </p:nvSpPr>
        <p:spPr>
          <a:xfrm>
            <a:off x="841248" y="4754880"/>
            <a:ext cx="457200" cy="457200"/>
          </a:xfrm>
          <a:prstGeom prst="rect">
            <a:avLst/>
          </a:prstGeom>
          <a:noFill/>
          <a:ln/>
        </p:spPr>
        <p:txBody>
          <a:bodyPr wrap="square" lIns="0" tIns="0" rIns="0" bIns="0" rtlCol="0" anchor="ctr"/>
          <a:lstStyle/>
          <a:p>
            <a:pPr algn="ctr" indent="0" marL="0">
              <a:buNone/>
            </a:pPr>
            <a:r>
              <a:rPr lang="en-US" sz="1300" b="1" dirty="0">
                <a:solidFill>
                  <a:srgbClr val="0B3D35"/>
                </a:solidFill>
                <a:latin typeface="Courier New" pitchFamily="34" charset="0"/>
                <a:ea typeface="Courier New" pitchFamily="34" charset="-122"/>
                <a:cs typeface="Courier New" pitchFamily="34" charset="-120"/>
              </a:rPr>
              <a:t>1</a:t>
            </a:r>
            <a:endParaRPr lang="en-US" sz="1300" dirty="0"/>
          </a:p>
        </p:txBody>
      </p:sp>
      <p:sp>
        <p:nvSpPr>
          <p:cNvPr id="9" name="Text 7"/>
          <p:cNvSpPr txBox="1"/>
          <p:nvPr/>
        </p:nvSpPr>
        <p:spPr>
          <a:xfrm>
            <a:off x="841248" y="5321808"/>
            <a:ext cx="2944368" cy="548640"/>
          </a:xfrm>
          <a:prstGeom prst="rect">
            <a:avLst/>
          </a:prstGeom>
          <a:noFill/>
          <a:ln/>
        </p:spPr>
        <p:txBody>
          <a:bodyPr wrap="square" lIns="0" tIns="0" rIns="0" bIns="0" rtlCol="0" anchor="t"/>
          <a:lstStyle/>
          <a:p>
            <a:pPr indent="0" marL="0">
              <a:lnSpc>
                <a:spcPts val="1800"/>
              </a:lnSpc>
              <a:buNone/>
            </a:pPr>
            <a:r>
              <a:rPr lang="en-US" sz="1350" b="1" dirty="0">
                <a:solidFill>
                  <a:srgbClr val="EDF5F1"/>
                </a:solidFill>
                <a:latin typeface="Calibri" pitchFamily="34" charset="0"/>
                <a:ea typeface="Calibri" pitchFamily="34" charset="-122"/>
                <a:cs typeface="Calibri" pitchFamily="34" charset="-120"/>
              </a:rPr>
              <a:t>Mes données ont de la valeur : ce sont elles qui font fonctionner l'IA.</a:t>
            </a:r>
            <a:endParaRPr lang="en-US" sz="1350" dirty="0"/>
          </a:p>
        </p:txBody>
      </p:sp>
      <p:sp>
        <p:nvSpPr>
          <p:cNvPr id="10" name="Shape 8"/>
          <p:cNvSpPr/>
          <p:nvPr/>
        </p:nvSpPr>
        <p:spPr>
          <a:xfrm>
            <a:off x="4334256" y="4526280"/>
            <a:ext cx="3493008" cy="1463040"/>
          </a:xfrm>
          <a:prstGeom prst="roundRect">
            <a:avLst>
              <a:gd name="adj" fmla="val 4375"/>
            </a:avLst>
          </a:prstGeom>
          <a:solidFill>
            <a:srgbClr val="0B3D35"/>
          </a:solidFill>
          <a:ln/>
        </p:spPr>
      </p:sp>
      <p:sp>
        <p:nvSpPr>
          <p:cNvPr id="11" name="Shape 9"/>
          <p:cNvSpPr/>
          <p:nvPr/>
        </p:nvSpPr>
        <p:spPr>
          <a:xfrm>
            <a:off x="4608576" y="4754880"/>
            <a:ext cx="457200" cy="457200"/>
          </a:xfrm>
          <a:prstGeom prst="ellipse">
            <a:avLst/>
          </a:prstGeom>
          <a:solidFill>
            <a:srgbClr val="D9A521"/>
          </a:solidFill>
          <a:ln/>
        </p:spPr>
      </p:sp>
      <p:sp>
        <p:nvSpPr>
          <p:cNvPr id="12" name="Text 10"/>
          <p:cNvSpPr txBox="1"/>
          <p:nvPr/>
        </p:nvSpPr>
        <p:spPr>
          <a:xfrm>
            <a:off x="4608576" y="4754880"/>
            <a:ext cx="457200" cy="457200"/>
          </a:xfrm>
          <a:prstGeom prst="rect">
            <a:avLst/>
          </a:prstGeom>
          <a:noFill/>
          <a:ln/>
        </p:spPr>
        <p:txBody>
          <a:bodyPr wrap="square" lIns="0" tIns="0" rIns="0" bIns="0" rtlCol="0" anchor="ctr"/>
          <a:lstStyle/>
          <a:p>
            <a:pPr algn="ctr" indent="0" marL="0">
              <a:buNone/>
            </a:pPr>
            <a:r>
              <a:rPr lang="en-US" sz="1300" b="1" dirty="0">
                <a:solidFill>
                  <a:srgbClr val="0B3D35"/>
                </a:solidFill>
                <a:latin typeface="Courier New" pitchFamily="34" charset="0"/>
                <a:ea typeface="Courier New" pitchFamily="34" charset="-122"/>
                <a:cs typeface="Courier New" pitchFamily="34" charset="-120"/>
              </a:rPr>
              <a:t>2</a:t>
            </a:r>
            <a:endParaRPr lang="en-US" sz="1300" dirty="0"/>
          </a:p>
        </p:txBody>
      </p:sp>
      <p:sp>
        <p:nvSpPr>
          <p:cNvPr id="13" name="Text 11"/>
          <p:cNvSpPr txBox="1"/>
          <p:nvPr/>
        </p:nvSpPr>
        <p:spPr>
          <a:xfrm>
            <a:off x="4608576" y="5321808"/>
            <a:ext cx="2944368" cy="548640"/>
          </a:xfrm>
          <a:prstGeom prst="rect">
            <a:avLst/>
          </a:prstGeom>
          <a:noFill/>
          <a:ln/>
        </p:spPr>
        <p:txBody>
          <a:bodyPr wrap="square" lIns="0" tIns="0" rIns="0" bIns="0" rtlCol="0" anchor="t"/>
          <a:lstStyle/>
          <a:p>
            <a:pPr indent="0" marL="0">
              <a:lnSpc>
                <a:spcPts val="1800"/>
              </a:lnSpc>
              <a:buNone/>
            </a:pPr>
            <a:r>
              <a:rPr lang="en-US" sz="1350" b="1" dirty="0">
                <a:solidFill>
                  <a:srgbClr val="EDF5F1"/>
                </a:solidFill>
                <a:latin typeface="Calibri" pitchFamily="34" charset="0"/>
                <a:ea typeface="Calibri" pitchFamily="34" charset="-122"/>
                <a:cs typeface="Calibri" pitchFamily="34" charset="-120"/>
              </a:rPr>
              <a:t>Public ne veut pas dire libre de droit.</a:t>
            </a:r>
            <a:endParaRPr lang="en-US" sz="1350" dirty="0"/>
          </a:p>
        </p:txBody>
      </p:sp>
      <p:sp>
        <p:nvSpPr>
          <p:cNvPr id="14" name="Shape 12"/>
          <p:cNvSpPr/>
          <p:nvPr/>
        </p:nvSpPr>
        <p:spPr>
          <a:xfrm>
            <a:off x="8101584" y="4526280"/>
            <a:ext cx="3493008" cy="1463040"/>
          </a:xfrm>
          <a:prstGeom prst="roundRect">
            <a:avLst>
              <a:gd name="adj" fmla="val 4375"/>
            </a:avLst>
          </a:prstGeom>
          <a:solidFill>
            <a:srgbClr val="0B3D35"/>
          </a:solidFill>
          <a:ln/>
        </p:spPr>
      </p:sp>
      <p:sp>
        <p:nvSpPr>
          <p:cNvPr id="15" name="Shape 13"/>
          <p:cNvSpPr/>
          <p:nvPr/>
        </p:nvSpPr>
        <p:spPr>
          <a:xfrm>
            <a:off x="8375904" y="4754880"/>
            <a:ext cx="457200" cy="457200"/>
          </a:xfrm>
          <a:prstGeom prst="ellipse">
            <a:avLst/>
          </a:prstGeom>
          <a:solidFill>
            <a:srgbClr val="D9A521"/>
          </a:solidFill>
          <a:ln/>
        </p:spPr>
      </p:sp>
      <p:sp>
        <p:nvSpPr>
          <p:cNvPr id="16" name="Text 14"/>
          <p:cNvSpPr txBox="1"/>
          <p:nvPr/>
        </p:nvSpPr>
        <p:spPr>
          <a:xfrm>
            <a:off x="8375904" y="4754880"/>
            <a:ext cx="457200" cy="457200"/>
          </a:xfrm>
          <a:prstGeom prst="rect">
            <a:avLst/>
          </a:prstGeom>
          <a:noFill/>
          <a:ln/>
        </p:spPr>
        <p:txBody>
          <a:bodyPr wrap="square" lIns="0" tIns="0" rIns="0" bIns="0" rtlCol="0" anchor="ctr"/>
          <a:lstStyle/>
          <a:p>
            <a:pPr algn="ctr" indent="0" marL="0">
              <a:buNone/>
            </a:pPr>
            <a:r>
              <a:rPr lang="en-US" sz="1300" b="1" dirty="0">
                <a:solidFill>
                  <a:srgbClr val="0B3D35"/>
                </a:solidFill>
                <a:latin typeface="Courier New" pitchFamily="34" charset="0"/>
                <a:ea typeface="Courier New" pitchFamily="34" charset="-122"/>
                <a:cs typeface="Courier New" pitchFamily="34" charset="-120"/>
              </a:rPr>
              <a:t>3</a:t>
            </a:r>
            <a:endParaRPr lang="en-US" sz="1300" dirty="0"/>
          </a:p>
        </p:txBody>
      </p:sp>
      <p:sp>
        <p:nvSpPr>
          <p:cNvPr id="17" name="Text 15"/>
          <p:cNvSpPr txBox="1"/>
          <p:nvPr/>
        </p:nvSpPr>
        <p:spPr>
          <a:xfrm>
            <a:off x="8375904" y="5321808"/>
            <a:ext cx="2944368" cy="548640"/>
          </a:xfrm>
          <a:prstGeom prst="rect">
            <a:avLst/>
          </a:prstGeom>
          <a:noFill/>
          <a:ln/>
        </p:spPr>
        <p:txBody>
          <a:bodyPr wrap="square" lIns="0" tIns="0" rIns="0" bIns="0" rtlCol="0" anchor="t"/>
          <a:lstStyle/>
          <a:p>
            <a:pPr indent="0" marL="0">
              <a:lnSpc>
                <a:spcPts val="1800"/>
              </a:lnSpc>
              <a:buNone/>
            </a:pPr>
            <a:r>
              <a:rPr lang="en-US" sz="1350" b="1" dirty="0">
                <a:solidFill>
                  <a:srgbClr val="EDF5F1"/>
                </a:solidFill>
                <a:latin typeface="Calibri" pitchFamily="34" charset="0"/>
                <a:ea typeface="Calibri" pitchFamily="34" charset="-122"/>
                <a:cs typeface="Calibri" pitchFamily="34" charset="-120"/>
              </a:rPr>
              <a:t>La vie privée se protège dès la conception, et par mes propres gestes.</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3D35"/>
        </a:solidFill>
      </p:bgPr>
    </p:bg>
    <p:spTree>
      <p:nvGrpSpPr>
        <p:cNvPr id="1" name=""/>
        <p:cNvGrpSpPr/>
        <p:nvPr/>
      </p:nvGrpSpPr>
      <p:grpSpPr>
        <a:xfrm>
          <a:off x="0" y="0"/>
          <a:ext cx="0" cy="0"/>
          <a:chOff x="0" y="0"/>
          <a:chExt cx="0" cy="0"/>
        </a:xfrm>
      </p:grpSpPr>
      <p:sp>
        <p:nvSpPr>
          <p:cNvPr id="2" name="Shape 0"/>
          <p:cNvSpPr/>
          <p:nvPr/>
        </p:nvSpPr>
        <p:spPr>
          <a:xfrm>
            <a:off x="8778240" y="3383280"/>
            <a:ext cx="4937760" cy="4937760"/>
          </a:xfrm>
          <a:prstGeom prst="ellipse">
            <a:avLst/>
          </a:prstGeom>
          <a:solidFill>
            <a:srgbClr val="0B5D50">
              <a:alpha val="48000"/>
            </a:srgbClr>
          </a:solidFill>
          <a:ln/>
        </p:spPr>
      </p:sp>
      <p:sp>
        <p:nvSpPr>
          <p:cNvPr id="3" name="Shape 1"/>
          <p:cNvSpPr/>
          <p:nvPr/>
        </p:nvSpPr>
        <p:spPr>
          <a:xfrm>
            <a:off x="10241280" y="4846320"/>
            <a:ext cx="2011680" cy="2011680"/>
          </a:xfrm>
          <a:prstGeom prst="ellipse">
            <a:avLst/>
          </a:prstGeom>
          <a:solidFill>
            <a:srgbClr val="D9A521">
              <a:alpha val="30000"/>
            </a:srgbClr>
          </a:solidFill>
          <a:ln/>
        </p:spPr>
      </p:sp>
      <p:sp>
        <p:nvSpPr>
          <p:cNvPr id="4" name="Text 2"/>
          <p:cNvSpPr txBox="1"/>
          <p:nvPr/>
        </p:nvSpPr>
        <p:spPr>
          <a:xfrm>
            <a:off x="566928" y="1097280"/>
            <a:ext cx="5486400" cy="274320"/>
          </a:xfrm>
          <a:prstGeom prst="rect">
            <a:avLst/>
          </a:prstGeom>
          <a:noFill/>
          <a:ln/>
        </p:spPr>
        <p:txBody>
          <a:bodyPr wrap="square" lIns="0" tIns="0" rIns="0" bIns="0" rtlCol="0" anchor="ctr"/>
          <a:lstStyle/>
          <a:p>
            <a:pPr indent="0" marL="0">
              <a:buNone/>
            </a:pPr>
            <a:r>
              <a:rPr lang="en-US" sz="1100" b="1" spc="300" kern="0" dirty="0">
                <a:solidFill>
                  <a:srgbClr val="D9A521"/>
                </a:solidFill>
                <a:latin typeface="Courier New" pitchFamily="34" charset="0"/>
                <a:ea typeface="Courier New" pitchFamily="34" charset="-122"/>
                <a:cs typeface="Courier New" pitchFamily="34" charset="-120"/>
              </a:rPr>
              <a:t>APPEL À L'ACTION</a:t>
            </a:r>
            <a:endParaRPr lang="en-US" sz="1100" dirty="0"/>
          </a:p>
        </p:txBody>
      </p:sp>
      <p:sp>
        <p:nvSpPr>
          <p:cNvPr id="5" name="Text 3"/>
          <p:cNvSpPr txBox="1"/>
          <p:nvPr/>
        </p:nvSpPr>
        <p:spPr>
          <a:xfrm>
            <a:off x="566928" y="1572768"/>
            <a:ext cx="8412480" cy="1737360"/>
          </a:xfrm>
          <a:prstGeom prst="rect">
            <a:avLst/>
          </a:prstGeom>
          <a:noFill/>
          <a:ln/>
        </p:spPr>
        <p:txBody>
          <a:bodyPr wrap="square" lIns="0" tIns="0" rIns="0" bIns="0" rtlCol="0" anchor="t"/>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Devenez les ambassadeurs de vos propres droits numériques.</a:t>
            </a:r>
            <a:endParaRPr lang="en-US" sz="4000" dirty="0"/>
          </a:p>
        </p:txBody>
      </p:sp>
      <p:sp>
        <p:nvSpPr>
          <p:cNvPr id="6" name="Text 4"/>
          <p:cNvSpPr txBox="1"/>
          <p:nvPr/>
        </p:nvSpPr>
        <p:spPr>
          <a:xfrm>
            <a:off x="566928" y="3429000"/>
            <a:ext cx="7680960" cy="1051560"/>
          </a:xfrm>
          <a:prstGeom prst="rect">
            <a:avLst/>
          </a:prstGeom>
          <a:noFill/>
          <a:ln/>
        </p:spPr>
        <p:txBody>
          <a:bodyPr wrap="square" lIns="0" tIns="0" rIns="0" bIns="0" rtlCol="0" anchor="t"/>
          <a:lstStyle/>
          <a:p>
            <a:pPr indent="0" marL="0">
              <a:lnSpc>
                <a:spcPts val="2300"/>
              </a:lnSpc>
              <a:buNone/>
            </a:pPr>
            <a:r>
              <a:rPr lang="en-US" sz="1500" dirty="0">
                <a:solidFill>
                  <a:srgbClr val="9FBFB5"/>
                </a:solidFill>
                <a:latin typeface="Calibri" pitchFamily="34" charset="0"/>
                <a:ea typeface="Calibri" pitchFamily="34" charset="-122"/>
                <a:cs typeface="Calibri" pitchFamily="34" charset="-120"/>
              </a:rPr>
              <a:t>Bâtir un Internet inclusif et responsable au Bénin commence par notre propre éducation numérique. Nous devons refuser de considérer la surveillance de masse ou l'aspiration incontrôlée de nos vies numériques comme une fatalité.</a:t>
            </a:r>
            <a:endParaRPr lang="en-US" sz="1500" dirty="0"/>
          </a:p>
        </p:txBody>
      </p:sp>
      <p:sp>
        <p:nvSpPr>
          <p:cNvPr id="7" name="Text 5"/>
          <p:cNvSpPr txBox="1"/>
          <p:nvPr/>
        </p:nvSpPr>
        <p:spPr>
          <a:xfrm>
            <a:off x="566928" y="4572000"/>
            <a:ext cx="7680960" cy="1051560"/>
          </a:xfrm>
          <a:prstGeom prst="rect">
            <a:avLst/>
          </a:prstGeom>
          <a:noFill/>
          <a:ln/>
        </p:spPr>
        <p:txBody>
          <a:bodyPr wrap="square" lIns="0" tIns="0" rIns="0" bIns="0" rtlCol="0" anchor="t"/>
          <a:lstStyle/>
          <a:p>
            <a:pPr indent="0" marL="0">
              <a:lnSpc>
                <a:spcPts val="2300"/>
              </a:lnSpc>
              <a:buNone/>
            </a:pPr>
            <a:r>
              <a:rPr lang="en-US" sz="1500" dirty="0">
                <a:solidFill>
                  <a:srgbClr val="EDF5F1"/>
                </a:solidFill>
                <a:latin typeface="Calibri" pitchFamily="34" charset="0"/>
                <a:ea typeface="Calibri" pitchFamily="34" charset="-122"/>
                <a:cs typeface="Calibri" pitchFamily="34" charset="-120"/>
              </a:rPr>
              <a:t>Vous avez le droit d'exiger que les technologies déployées dans nos écoles, nos espaces publics et nos applications respectent le Privacy by Design, la souveraineté locale des données et la transparence.</a:t>
            </a:r>
            <a:endParaRPr lang="en-US" sz="1500" dirty="0"/>
          </a:p>
        </p:txBody>
      </p:sp>
      <p:sp>
        <p:nvSpPr>
          <p:cNvPr id="8" name="Text 6"/>
          <p:cNvSpPr txBox="1"/>
          <p:nvPr/>
        </p:nvSpPr>
        <p:spPr>
          <a:xfrm>
            <a:off x="566928" y="6035040"/>
            <a:ext cx="10058400" cy="274320"/>
          </a:xfrm>
          <a:prstGeom prst="rect">
            <a:avLst/>
          </a:prstGeom>
          <a:noFill/>
          <a:ln/>
        </p:spPr>
        <p:txBody>
          <a:bodyPr wrap="square" lIns="0" tIns="0" rIns="0" bIns="0" rtlCol="0" anchor="ctr"/>
          <a:lstStyle/>
          <a:p>
            <a:pPr indent="0" marL="0">
              <a:buNone/>
            </a:pPr>
            <a:r>
              <a:rPr lang="en-US" sz="1000" b="1" spc="150" kern="0" dirty="0">
                <a:solidFill>
                  <a:srgbClr val="D9A521"/>
                </a:solidFill>
                <a:latin typeface="Courier New" pitchFamily="34" charset="0"/>
                <a:ea typeface="Courier New" pitchFamily="34" charset="-122"/>
                <a:cs typeface="Courier New" pitchFamily="34" charset="-120"/>
              </a:rPr>
              <a:t>MERCI · FGI BÉNIN × ISOC BÉNIN · MAHUVIVI TURIBIO KEKE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1F4F1"/>
        </a:solidFill>
      </p:bgPr>
    </p:bg>
    <p:spTree>
      <p:nvGrpSpPr>
        <p:cNvPr id="1" name=""/>
        <p:cNvGrpSpPr/>
        <p:nvPr/>
      </p:nvGrpSpPr>
      <p:grpSpPr>
        <a:xfrm>
          <a:off x="0" y="0"/>
          <a:ext cx="0" cy="0"/>
          <a:chOff x="0" y="0"/>
          <a:chExt cx="0" cy="0"/>
        </a:xfrm>
      </p:grpSpPr>
      <p:sp>
        <p:nvSpPr>
          <p:cNvPr id="2" name="Text 0"/>
          <p:cNvSpPr txBox="1"/>
          <p:nvPr/>
        </p:nvSpPr>
        <p:spPr>
          <a:xfrm>
            <a:off x="566928" y="402336"/>
            <a:ext cx="9198864" cy="237744"/>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ANNEXE · GLOSSAIRE ET REPÈRES</a:t>
            </a:r>
            <a:endParaRPr lang="en-US" sz="950" dirty="0"/>
          </a:p>
        </p:txBody>
      </p:sp>
      <p:sp>
        <p:nvSpPr>
          <p:cNvPr id="3" name="Text 1"/>
          <p:cNvSpPr txBox="1"/>
          <p:nvPr/>
        </p:nvSpPr>
        <p:spPr>
          <a:xfrm>
            <a:off x="566928" y="694944"/>
            <a:ext cx="11027664" cy="658368"/>
          </a:xfrm>
          <a:prstGeom prst="rect">
            <a:avLst/>
          </a:prstGeom>
          <a:noFill/>
          <a:ln/>
        </p:spPr>
        <p:txBody>
          <a:bodyPr wrap="square" lIns="0" tIns="0" rIns="0" bIns="0" rtlCol="0" anchor="t"/>
          <a:lstStyle/>
          <a:p>
            <a:pPr indent="0" marL="0">
              <a:buNone/>
            </a:pPr>
            <a:r>
              <a:rPr lang="en-US" sz="3200" b="1" dirty="0">
                <a:solidFill>
                  <a:srgbClr val="12211D"/>
                </a:solidFill>
                <a:latin typeface="Cambria" pitchFamily="34" charset="0"/>
                <a:ea typeface="Cambria" pitchFamily="34" charset="-122"/>
                <a:cs typeface="Cambria" pitchFamily="34" charset="-120"/>
              </a:rPr>
              <a:t>Pour aller plus loin</a:t>
            </a:r>
            <a:endParaRPr lang="en-US" sz="3200" dirty="0"/>
          </a:p>
        </p:txBody>
      </p:sp>
      <p:sp>
        <p:nvSpPr>
          <p:cNvPr id="4" name="Text 2"/>
          <p:cNvSpPr txBox="1"/>
          <p:nvPr/>
        </p:nvSpPr>
        <p:spPr>
          <a:xfrm>
            <a:off x="566928" y="6382512"/>
            <a:ext cx="6400800" cy="237744"/>
          </a:xfrm>
          <a:prstGeom prst="rect">
            <a:avLst/>
          </a:prstGeom>
          <a:noFill/>
          <a:ln/>
        </p:spPr>
        <p:txBody>
          <a:bodyPr wrap="square" lIns="0" tIns="0" rIns="0" bIns="0" rtlCol="0" anchor="ctr"/>
          <a:lstStyle/>
          <a:p>
            <a:pPr indent="0" marL="0">
              <a:buNone/>
            </a:pPr>
            <a:r>
              <a:rPr lang="en-US" sz="800" dirty="0">
                <a:solidFill>
                  <a:srgbClr val="8A9A91"/>
                </a:solidFill>
                <a:latin typeface="Courier New" pitchFamily="34" charset="0"/>
                <a:ea typeface="Courier New" pitchFamily="34" charset="-122"/>
                <a:cs typeface="Courier New" pitchFamily="34" charset="-120"/>
              </a:rPr>
              <a:t>FGI Bénin × ISOC Bénin · Communication 1</a:t>
            </a:r>
            <a:endParaRPr lang="en-US" sz="800" dirty="0"/>
          </a:p>
        </p:txBody>
      </p:sp>
      <p:sp>
        <p:nvSpPr>
          <p:cNvPr id="5" name="Text 3"/>
          <p:cNvSpPr txBox="1"/>
          <p:nvPr/>
        </p:nvSpPr>
        <p:spPr>
          <a:xfrm>
            <a:off x="10954512" y="6382512"/>
            <a:ext cx="640080" cy="237744"/>
          </a:xfrm>
          <a:prstGeom prst="rect">
            <a:avLst/>
          </a:prstGeom>
          <a:noFill/>
          <a:ln/>
        </p:spPr>
        <p:txBody>
          <a:bodyPr wrap="square" lIns="0" tIns="0" rIns="0" bIns="0" rtlCol="0" anchor="ctr"/>
          <a:lstStyle/>
          <a:p>
            <a:pPr algn="r" indent="0" marL="0">
              <a:buNone/>
            </a:pPr>
            <a:r>
              <a:rPr lang="en-US" sz="800" dirty="0">
                <a:solidFill>
                  <a:srgbClr val="8A9A91"/>
                </a:solidFill>
                <a:latin typeface="Courier New" pitchFamily="34" charset="0"/>
                <a:ea typeface="Courier New" pitchFamily="34" charset="-122"/>
                <a:cs typeface="Courier New" pitchFamily="34" charset="-120"/>
              </a:rPr>
              <a:t>23</a:t>
            </a:r>
            <a:endParaRPr lang="en-US" sz="800" dirty="0"/>
          </a:p>
        </p:txBody>
      </p:sp>
      <p:sp>
        <p:nvSpPr>
          <p:cNvPr id="6" name="Text 4"/>
          <p:cNvSpPr txBox="1"/>
          <p:nvPr/>
        </p:nvSpPr>
        <p:spPr>
          <a:xfrm>
            <a:off x="566928" y="1517904"/>
            <a:ext cx="5486400" cy="256032"/>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LE VOCABULAIRE DE LA SÉANCE</a:t>
            </a:r>
            <a:endParaRPr lang="en-US" sz="950" dirty="0"/>
          </a:p>
        </p:txBody>
      </p:sp>
      <p:sp>
        <p:nvSpPr>
          <p:cNvPr id="7" name="Shape 5"/>
          <p:cNvSpPr/>
          <p:nvPr/>
        </p:nvSpPr>
        <p:spPr>
          <a:xfrm>
            <a:off x="566928" y="1874520"/>
            <a:ext cx="5806440" cy="3931920"/>
          </a:xfrm>
          <a:prstGeom prst="roundRect">
            <a:avLst>
              <a:gd name="adj" fmla="val 1628"/>
            </a:avLst>
          </a:prstGeom>
          <a:solidFill>
            <a:srgbClr val="FFFFFF"/>
          </a:solidFill>
          <a:ln/>
          <a:effectLst>
            <a:outerShdw sx="100000" sy="100000" kx="0" ky="0" algn="bl" rotWithShape="0" blurRad="114300" dist="38100" dir="5400000">
              <a:srgbClr val="0B3D35">
                <a:alpha val="9000"/>
              </a:srgbClr>
            </a:outerShdw>
          </a:effectLst>
        </p:spPr>
      </p:sp>
      <p:sp>
        <p:nvSpPr>
          <p:cNvPr id="8" name="Text 6"/>
          <p:cNvSpPr txBox="1"/>
          <p:nvPr/>
        </p:nvSpPr>
        <p:spPr>
          <a:xfrm>
            <a:off x="841248" y="2084832"/>
            <a:ext cx="5257800" cy="256032"/>
          </a:xfrm>
          <a:prstGeom prst="rect">
            <a:avLst/>
          </a:prstGeom>
          <a:noFill/>
          <a:ln/>
        </p:spPr>
        <p:txBody>
          <a:bodyPr wrap="square" lIns="0" tIns="0" rIns="0" bIns="0" rtlCol="0" anchor="ctr"/>
          <a:lstStyle/>
          <a:p>
            <a:pPr indent="0" marL="0">
              <a:buNone/>
            </a:pPr>
            <a:r>
              <a:rPr lang="en-US" sz="1100" b="1" dirty="0">
                <a:solidFill>
                  <a:srgbClr val="0B5D50"/>
                </a:solidFill>
                <a:latin typeface="Courier New" pitchFamily="34" charset="0"/>
                <a:ea typeface="Courier New" pitchFamily="34" charset="-122"/>
                <a:cs typeface="Courier New" pitchFamily="34" charset="-120"/>
              </a:rPr>
              <a:t>Web scraping</a:t>
            </a:r>
            <a:endParaRPr lang="en-US" sz="1100" dirty="0"/>
          </a:p>
        </p:txBody>
      </p:sp>
      <p:sp>
        <p:nvSpPr>
          <p:cNvPr id="9" name="Text 7"/>
          <p:cNvSpPr txBox="1"/>
          <p:nvPr/>
        </p:nvSpPr>
        <p:spPr>
          <a:xfrm>
            <a:off x="841248" y="2340864"/>
            <a:ext cx="5257800" cy="274320"/>
          </a:xfrm>
          <a:prstGeom prst="rect">
            <a:avLst/>
          </a:prstGeom>
          <a:noFill/>
          <a:ln/>
        </p:spPr>
        <p:txBody>
          <a:bodyPr wrap="square" lIns="0" tIns="0" rIns="0" bIns="0" rtlCol="0" anchor="ctr"/>
          <a:lstStyle/>
          <a:p>
            <a:pPr indent="0" marL="0">
              <a:buNone/>
            </a:pPr>
            <a:r>
              <a:rPr lang="en-US" sz="1200" dirty="0">
                <a:solidFill>
                  <a:srgbClr val="5C6D64"/>
                </a:solidFill>
                <a:latin typeface="Calibri" pitchFamily="34" charset="0"/>
                <a:ea typeface="Calibri" pitchFamily="34" charset="-122"/>
                <a:cs typeface="Calibri" pitchFamily="34" charset="-120"/>
              </a:rPr>
              <a:t>Collecte automatisée d'informations publiées sur le web.</a:t>
            </a:r>
            <a:endParaRPr lang="en-US" sz="1200" dirty="0"/>
          </a:p>
        </p:txBody>
      </p:sp>
      <p:sp>
        <p:nvSpPr>
          <p:cNvPr id="10" name="Text 8"/>
          <p:cNvSpPr txBox="1"/>
          <p:nvPr/>
        </p:nvSpPr>
        <p:spPr>
          <a:xfrm>
            <a:off x="841248" y="2724912"/>
            <a:ext cx="5257800" cy="256032"/>
          </a:xfrm>
          <a:prstGeom prst="rect">
            <a:avLst/>
          </a:prstGeom>
          <a:noFill/>
          <a:ln/>
        </p:spPr>
        <p:txBody>
          <a:bodyPr wrap="square" lIns="0" tIns="0" rIns="0" bIns="0" rtlCol="0" anchor="ctr"/>
          <a:lstStyle/>
          <a:p>
            <a:pPr indent="0" marL="0">
              <a:buNone/>
            </a:pPr>
            <a:r>
              <a:rPr lang="en-US" sz="1100" b="1" dirty="0">
                <a:solidFill>
                  <a:srgbClr val="0B5D50"/>
                </a:solidFill>
                <a:latin typeface="Courier New" pitchFamily="34" charset="0"/>
                <a:ea typeface="Courier New" pitchFamily="34" charset="-122"/>
                <a:cs typeface="Courier New" pitchFamily="34" charset="-120"/>
              </a:rPr>
              <a:t>LLM</a:t>
            </a:r>
            <a:endParaRPr lang="en-US" sz="1100" dirty="0"/>
          </a:p>
        </p:txBody>
      </p:sp>
      <p:sp>
        <p:nvSpPr>
          <p:cNvPr id="11" name="Text 9"/>
          <p:cNvSpPr txBox="1"/>
          <p:nvPr/>
        </p:nvSpPr>
        <p:spPr>
          <a:xfrm>
            <a:off x="841248" y="2980944"/>
            <a:ext cx="5257800" cy="274320"/>
          </a:xfrm>
          <a:prstGeom prst="rect">
            <a:avLst/>
          </a:prstGeom>
          <a:noFill/>
          <a:ln/>
        </p:spPr>
        <p:txBody>
          <a:bodyPr wrap="square" lIns="0" tIns="0" rIns="0" bIns="0" rtlCol="0" anchor="ctr"/>
          <a:lstStyle/>
          <a:p>
            <a:pPr indent="0" marL="0">
              <a:buNone/>
            </a:pPr>
            <a:r>
              <a:rPr lang="en-US" sz="1200" dirty="0">
                <a:solidFill>
                  <a:srgbClr val="5C6D64"/>
                </a:solidFill>
                <a:latin typeface="Calibri" pitchFamily="34" charset="0"/>
                <a:ea typeface="Calibri" pitchFamily="34" charset="-122"/>
                <a:cs typeface="Calibri" pitchFamily="34" charset="-120"/>
              </a:rPr>
              <a:t>Grand modèle de langage entraîné sur d'immenses volumes de textes.</a:t>
            </a:r>
            <a:endParaRPr lang="en-US" sz="1200" dirty="0"/>
          </a:p>
        </p:txBody>
      </p:sp>
      <p:sp>
        <p:nvSpPr>
          <p:cNvPr id="12" name="Text 10"/>
          <p:cNvSpPr txBox="1"/>
          <p:nvPr/>
        </p:nvSpPr>
        <p:spPr>
          <a:xfrm>
            <a:off x="841248" y="3364992"/>
            <a:ext cx="5257800" cy="256032"/>
          </a:xfrm>
          <a:prstGeom prst="rect">
            <a:avLst/>
          </a:prstGeom>
          <a:noFill/>
          <a:ln/>
        </p:spPr>
        <p:txBody>
          <a:bodyPr wrap="square" lIns="0" tIns="0" rIns="0" bIns="0" rtlCol="0" anchor="ctr"/>
          <a:lstStyle/>
          <a:p>
            <a:pPr indent="0" marL="0">
              <a:buNone/>
            </a:pPr>
            <a:r>
              <a:rPr lang="en-US" sz="1100" b="1" dirty="0">
                <a:solidFill>
                  <a:srgbClr val="0B5D50"/>
                </a:solidFill>
                <a:latin typeface="Courier New" pitchFamily="34" charset="0"/>
                <a:ea typeface="Courier New" pitchFamily="34" charset="-122"/>
                <a:cs typeface="Courier New" pitchFamily="34" charset="-120"/>
              </a:rPr>
              <a:t>robots.txt / ai.txt</a:t>
            </a:r>
            <a:endParaRPr lang="en-US" sz="1100" dirty="0"/>
          </a:p>
        </p:txBody>
      </p:sp>
      <p:sp>
        <p:nvSpPr>
          <p:cNvPr id="13" name="Text 11"/>
          <p:cNvSpPr txBox="1"/>
          <p:nvPr/>
        </p:nvSpPr>
        <p:spPr>
          <a:xfrm>
            <a:off x="841248" y="3621024"/>
            <a:ext cx="5257800" cy="274320"/>
          </a:xfrm>
          <a:prstGeom prst="rect">
            <a:avLst/>
          </a:prstGeom>
          <a:noFill/>
          <a:ln/>
        </p:spPr>
        <p:txBody>
          <a:bodyPr wrap="square" lIns="0" tIns="0" rIns="0" bIns="0" rtlCol="0" anchor="ctr"/>
          <a:lstStyle/>
          <a:p>
            <a:pPr indent="0" marL="0">
              <a:buNone/>
            </a:pPr>
            <a:r>
              <a:rPr lang="en-US" sz="1200" dirty="0">
                <a:solidFill>
                  <a:srgbClr val="5C6D64"/>
                </a:solidFill>
                <a:latin typeface="Calibri" pitchFamily="34" charset="0"/>
                <a:ea typeface="Calibri" pitchFamily="34" charset="-122"/>
                <a:cs typeface="Calibri" pitchFamily="34" charset="-120"/>
              </a:rPr>
              <a:t>Fichiers indiquant aux robots ce qu'ils ne doivent pas collecter.</a:t>
            </a:r>
            <a:endParaRPr lang="en-US" sz="1200" dirty="0"/>
          </a:p>
        </p:txBody>
      </p:sp>
      <p:sp>
        <p:nvSpPr>
          <p:cNvPr id="14" name="Text 12"/>
          <p:cNvSpPr txBox="1"/>
          <p:nvPr/>
        </p:nvSpPr>
        <p:spPr>
          <a:xfrm>
            <a:off x="841248" y="4005072"/>
            <a:ext cx="5257800" cy="256032"/>
          </a:xfrm>
          <a:prstGeom prst="rect">
            <a:avLst/>
          </a:prstGeom>
          <a:noFill/>
          <a:ln/>
        </p:spPr>
        <p:txBody>
          <a:bodyPr wrap="square" lIns="0" tIns="0" rIns="0" bIns="0" rtlCol="0" anchor="ctr"/>
          <a:lstStyle/>
          <a:p>
            <a:pPr indent="0" marL="0">
              <a:buNone/>
            </a:pPr>
            <a:r>
              <a:rPr lang="en-US" sz="1100" b="1" dirty="0">
                <a:solidFill>
                  <a:srgbClr val="0B5D50"/>
                </a:solidFill>
                <a:latin typeface="Courier New" pitchFamily="34" charset="0"/>
                <a:ea typeface="Courier New" pitchFamily="34" charset="-122"/>
                <a:cs typeface="Courier New" pitchFamily="34" charset="-120"/>
              </a:rPr>
              <a:t>Notation sociale</a:t>
            </a:r>
            <a:endParaRPr lang="en-US" sz="1100" dirty="0"/>
          </a:p>
        </p:txBody>
      </p:sp>
      <p:sp>
        <p:nvSpPr>
          <p:cNvPr id="15" name="Text 13"/>
          <p:cNvSpPr txBox="1"/>
          <p:nvPr/>
        </p:nvSpPr>
        <p:spPr>
          <a:xfrm>
            <a:off x="841248" y="4261104"/>
            <a:ext cx="5257800" cy="274320"/>
          </a:xfrm>
          <a:prstGeom prst="rect">
            <a:avLst/>
          </a:prstGeom>
          <a:noFill/>
          <a:ln/>
        </p:spPr>
        <p:txBody>
          <a:bodyPr wrap="square" lIns="0" tIns="0" rIns="0" bIns="0" rtlCol="0" anchor="ctr"/>
          <a:lstStyle/>
          <a:p>
            <a:pPr indent="0" marL="0">
              <a:buNone/>
            </a:pPr>
            <a:r>
              <a:rPr lang="en-US" sz="1200" dirty="0">
                <a:solidFill>
                  <a:srgbClr val="5C6D64"/>
                </a:solidFill>
                <a:latin typeface="Calibri" pitchFamily="34" charset="0"/>
                <a:ea typeface="Calibri" pitchFamily="34" charset="-122"/>
                <a:cs typeface="Calibri" pitchFamily="34" charset="-120"/>
              </a:rPr>
              <a:t>Classement des personnes selon leur comportement social.</a:t>
            </a:r>
            <a:endParaRPr lang="en-US" sz="1200" dirty="0"/>
          </a:p>
        </p:txBody>
      </p:sp>
      <p:sp>
        <p:nvSpPr>
          <p:cNvPr id="16" name="Text 14"/>
          <p:cNvSpPr txBox="1"/>
          <p:nvPr/>
        </p:nvSpPr>
        <p:spPr>
          <a:xfrm>
            <a:off x="841248" y="4645152"/>
            <a:ext cx="5257800" cy="256032"/>
          </a:xfrm>
          <a:prstGeom prst="rect">
            <a:avLst/>
          </a:prstGeom>
          <a:noFill/>
          <a:ln/>
        </p:spPr>
        <p:txBody>
          <a:bodyPr wrap="square" lIns="0" tIns="0" rIns="0" bIns="0" rtlCol="0" anchor="ctr"/>
          <a:lstStyle/>
          <a:p>
            <a:pPr indent="0" marL="0">
              <a:buNone/>
            </a:pPr>
            <a:r>
              <a:rPr lang="en-US" sz="1100" b="1" dirty="0">
                <a:solidFill>
                  <a:srgbClr val="0B5D50"/>
                </a:solidFill>
                <a:latin typeface="Courier New" pitchFamily="34" charset="0"/>
                <a:ea typeface="Courier New" pitchFamily="34" charset="-122"/>
                <a:cs typeface="Courier New" pitchFamily="34" charset="-120"/>
              </a:rPr>
              <a:t>Inversion de gradient</a:t>
            </a:r>
            <a:endParaRPr lang="en-US" sz="1100" dirty="0"/>
          </a:p>
        </p:txBody>
      </p:sp>
      <p:sp>
        <p:nvSpPr>
          <p:cNvPr id="17" name="Text 15"/>
          <p:cNvSpPr txBox="1"/>
          <p:nvPr/>
        </p:nvSpPr>
        <p:spPr>
          <a:xfrm>
            <a:off x="841248" y="4901184"/>
            <a:ext cx="5257800" cy="274320"/>
          </a:xfrm>
          <a:prstGeom prst="rect">
            <a:avLst/>
          </a:prstGeom>
          <a:noFill/>
          <a:ln/>
        </p:spPr>
        <p:txBody>
          <a:bodyPr wrap="square" lIns="0" tIns="0" rIns="0" bIns="0" rtlCol="0" anchor="ctr"/>
          <a:lstStyle/>
          <a:p>
            <a:pPr indent="0" marL="0">
              <a:buNone/>
            </a:pPr>
            <a:r>
              <a:rPr lang="en-US" sz="1200" dirty="0">
                <a:solidFill>
                  <a:srgbClr val="5C6D64"/>
                </a:solidFill>
                <a:latin typeface="Calibri" pitchFamily="34" charset="0"/>
                <a:ea typeface="Calibri" pitchFamily="34" charset="-122"/>
                <a:cs typeface="Calibri" pitchFamily="34" charset="-120"/>
              </a:rPr>
              <a:t>Attaque reconstruisant les données depuis les mises à jour d'un modèle.</a:t>
            </a:r>
            <a:endParaRPr lang="en-US" sz="1200" dirty="0"/>
          </a:p>
        </p:txBody>
      </p:sp>
      <p:sp>
        <p:nvSpPr>
          <p:cNvPr id="18" name="Text 16"/>
          <p:cNvSpPr txBox="1"/>
          <p:nvPr/>
        </p:nvSpPr>
        <p:spPr>
          <a:xfrm>
            <a:off x="841248" y="5285232"/>
            <a:ext cx="5257800" cy="256032"/>
          </a:xfrm>
          <a:prstGeom prst="rect">
            <a:avLst/>
          </a:prstGeom>
          <a:noFill/>
          <a:ln/>
        </p:spPr>
        <p:txBody>
          <a:bodyPr wrap="square" lIns="0" tIns="0" rIns="0" bIns="0" rtlCol="0" anchor="ctr"/>
          <a:lstStyle/>
          <a:p>
            <a:pPr indent="0" marL="0">
              <a:buNone/>
            </a:pPr>
            <a:r>
              <a:rPr lang="en-US" sz="1100" b="1" dirty="0">
                <a:solidFill>
                  <a:srgbClr val="0B5D50"/>
                </a:solidFill>
                <a:latin typeface="Courier New" pitchFamily="34" charset="0"/>
                <a:ea typeface="Courier New" pitchFamily="34" charset="-122"/>
                <a:cs typeface="Courier New" pitchFamily="34" charset="-120"/>
              </a:rPr>
              <a:t>Quantification / élagage</a:t>
            </a:r>
            <a:endParaRPr lang="en-US" sz="1100" dirty="0"/>
          </a:p>
        </p:txBody>
      </p:sp>
      <p:sp>
        <p:nvSpPr>
          <p:cNvPr id="19" name="Text 17"/>
          <p:cNvSpPr txBox="1"/>
          <p:nvPr/>
        </p:nvSpPr>
        <p:spPr>
          <a:xfrm>
            <a:off x="841248" y="5541264"/>
            <a:ext cx="5257800" cy="274320"/>
          </a:xfrm>
          <a:prstGeom prst="rect">
            <a:avLst/>
          </a:prstGeom>
          <a:noFill/>
          <a:ln/>
        </p:spPr>
        <p:txBody>
          <a:bodyPr wrap="square" lIns="0" tIns="0" rIns="0" bIns="0" rtlCol="0" anchor="ctr"/>
          <a:lstStyle/>
          <a:p>
            <a:pPr indent="0" marL="0">
              <a:buNone/>
            </a:pPr>
            <a:r>
              <a:rPr lang="en-US" sz="1200" dirty="0">
                <a:solidFill>
                  <a:srgbClr val="5C6D64"/>
                </a:solidFill>
                <a:latin typeface="Calibri" pitchFamily="34" charset="0"/>
                <a:ea typeface="Calibri" pitchFamily="34" charset="-122"/>
                <a:cs typeface="Calibri" pitchFamily="34" charset="-120"/>
              </a:rPr>
              <a:t>Compressions qui allègent un modèle pour un petit appareil.</a:t>
            </a:r>
            <a:endParaRPr lang="en-US" sz="1200" dirty="0"/>
          </a:p>
        </p:txBody>
      </p:sp>
      <p:sp>
        <p:nvSpPr>
          <p:cNvPr id="20" name="Text 18"/>
          <p:cNvSpPr txBox="1"/>
          <p:nvPr/>
        </p:nvSpPr>
        <p:spPr>
          <a:xfrm>
            <a:off x="6720840" y="1517904"/>
            <a:ext cx="4873752" cy="256032"/>
          </a:xfrm>
          <a:prstGeom prst="rect">
            <a:avLst/>
          </a:prstGeom>
          <a:noFill/>
          <a:ln/>
        </p:spPr>
        <p:txBody>
          <a:bodyPr wrap="square" lIns="0" tIns="0" rIns="0" bIns="0" rtlCol="0" anchor="ctr"/>
          <a:lstStyle/>
          <a:p>
            <a:pPr indent="0" marL="0">
              <a:buNone/>
            </a:pPr>
            <a:r>
              <a:rPr lang="en-US" sz="950" b="1" spc="200" kern="0" dirty="0">
                <a:solidFill>
                  <a:srgbClr val="B4820F"/>
                </a:solidFill>
                <a:latin typeface="Courier New" pitchFamily="34" charset="0"/>
                <a:ea typeface="Courier New" pitchFamily="34" charset="-122"/>
                <a:cs typeface="Courier New" pitchFamily="34" charset="-120"/>
              </a:rPr>
              <a:t>CADRES DE RÉFÉRENCE À CITER</a:t>
            </a:r>
            <a:endParaRPr lang="en-US" sz="950" dirty="0"/>
          </a:p>
        </p:txBody>
      </p:sp>
      <p:sp>
        <p:nvSpPr>
          <p:cNvPr id="21" name="Shape 19"/>
          <p:cNvSpPr/>
          <p:nvPr/>
        </p:nvSpPr>
        <p:spPr>
          <a:xfrm>
            <a:off x="6720840" y="1874520"/>
            <a:ext cx="4873752" cy="749808"/>
          </a:xfrm>
          <a:prstGeom prst="roundRect">
            <a:avLst>
              <a:gd name="adj" fmla="val 8537"/>
            </a:avLst>
          </a:prstGeom>
          <a:solidFill>
            <a:srgbClr val="E3EEE9"/>
          </a:solidFill>
          <a:ln/>
        </p:spPr>
      </p:sp>
      <p:sp>
        <p:nvSpPr>
          <p:cNvPr id="22" name="Text 20"/>
          <p:cNvSpPr txBox="1"/>
          <p:nvPr/>
        </p:nvSpPr>
        <p:spPr>
          <a:xfrm>
            <a:off x="6967728" y="1965960"/>
            <a:ext cx="4389120" cy="219456"/>
          </a:xfrm>
          <a:prstGeom prst="rect">
            <a:avLst/>
          </a:prstGeom>
          <a:noFill/>
          <a:ln/>
        </p:spPr>
        <p:txBody>
          <a:bodyPr wrap="square" lIns="0" tIns="0" rIns="0" bIns="0" rtlCol="0" anchor="ctr"/>
          <a:lstStyle/>
          <a:p>
            <a:pPr indent="0" marL="0">
              <a:buNone/>
            </a:pPr>
            <a:r>
              <a:rPr lang="en-US" sz="900" b="1" spc="200" kern="0" dirty="0">
                <a:solidFill>
                  <a:srgbClr val="0B5D50"/>
                </a:solidFill>
                <a:latin typeface="Courier New" pitchFamily="34" charset="0"/>
                <a:ea typeface="Courier New" pitchFamily="34" charset="-122"/>
                <a:cs typeface="Courier New" pitchFamily="34" charset="-120"/>
              </a:rPr>
              <a:t>BÉNIN</a:t>
            </a:r>
            <a:endParaRPr lang="en-US" sz="900" dirty="0"/>
          </a:p>
        </p:txBody>
      </p:sp>
      <p:sp>
        <p:nvSpPr>
          <p:cNvPr id="23" name="Text 21"/>
          <p:cNvSpPr txBox="1"/>
          <p:nvPr/>
        </p:nvSpPr>
        <p:spPr>
          <a:xfrm>
            <a:off x="6967728" y="2185416"/>
            <a:ext cx="4389120" cy="365760"/>
          </a:xfrm>
          <a:prstGeom prst="rect">
            <a:avLst/>
          </a:prstGeom>
          <a:noFill/>
          <a:ln/>
        </p:spPr>
        <p:txBody>
          <a:bodyPr wrap="square" lIns="0" tIns="0" rIns="0" bIns="0" rtlCol="0" anchor="t"/>
          <a:lstStyle/>
          <a:p>
            <a:pPr indent="0" marL="0">
              <a:lnSpc>
                <a:spcPts val="1500"/>
              </a:lnSpc>
              <a:buNone/>
            </a:pPr>
            <a:r>
              <a:rPr lang="en-US" sz="1150" dirty="0">
                <a:solidFill>
                  <a:srgbClr val="12211D"/>
                </a:solidFill>
                <a:latin typeface="Calibri" pitchFamily="34" charset="0"/>
                <a:ea typeface="Calibri" pitchFamily="34" charset="-122"/>
                <a:cs typeface="Calibri" pitchFamily="34" charset="-120"/>
              </a:rPr>
              <a:t>Code du numérique et autorité nationale de protection des données à caractère personnel.</a:t>
            </a:r>
            <a:endParaRPr lang="en-US" sz="1150" dirty="0"/>
          </a:p>
        </p:txBody>
      </p:sp>
      <p:sp>
        <p:nvSpPr>
          <p:cNvPr id="24" name="Shape 22"/>
          <p:cNvSpPr/>
          <p:nvPr/>
        </p:nvSpPr>
        <p:spPr>
          <a:xfrm>
            <a:off x="6720840" y="2743200"/>
            <a:ext cx="4873752" cy="749808"/>
          </a:xfrm>
          <a:prstGeom prst="roundRect">
            <a:avLst>
              <a:gd name="adj" fmla="val 8537"/>
            </a:avLst>
          </a:prstGeom>
          <a:solidFill>
            <a:srgbClr val="E3EEE9"/>
          </a:solidFill>
          <a:ln/>
        </p:spPr>
      </p:sp>
      <p:sp>
        <p:nvSpPr>
          <p:cNvPr id="25" name="Text 23"/>
          <p:cNvSpPr txBox="1"/>
          <p:nvPr/>
        </p:nvSpPr>
        <p:spPr>
          <a:xfrm>
            <a:off x="6967728" y="2834640"/>
            <a:ext cx="4389120" cy="219456"/>
          </a:xfrm>
          <a:prstGeom prst="rect">
            <a:avLst/>
          </a:prstGeom>
          <a:noFill/>
          <a:ln/>
        </p:spPr>
        <p:txBody>
          <a:bodyPr wrap="square" lIns="0" tIns="0" rIns="0" bIns="0" rtlCol="0" anchor="ctr"/>
          <a:lstStyle/>
          <a:p>
            <a:pPr indent="0" marL="0">
              <a:buNone/>
            </a:pPr>
            <a:r>
              <a:rPr lang="en-US" sz="900" b="1" spc="200" kern="0" dirty="0">
                <a:solidFill>
                  <a:srgbClr val="0B5D50"/>
                </a:solidFill>
                <a:latin typeface="Courier New" pitchFamily="34" charset="0"/>
                <a:ea typeface="Courier New" pitchFamily="34" charset="-122"/>
                <a:cs typeface="Courier New" pitchFamily="34" charset="-120"/>
              </a:rPr>
              <a:t>EUROPE</a:t>
            </a:r>
            <a:endParaRPr lang="en-US" sz="900" dirty="0"/>
          </a:p>
        </p:txBody>
      </p:sp>
      <p:sp>
        <p:nvSpPr>
          <p:cNvPr id="26" name="Text 24"/>
          <p:cNvSpPr txBox="1"/>
          <p:nvPr/>
        </p:nvSpPr>
        <p:spPr>
          <a:xfrm>
            <a:off x="6967728" y="3054096"/>
            <a:ext cx="4389120" cy="365760"/>
          </a:xfrm>
          <a:prstGeom prst="rect">
            <a:avLst/>
          </a:prstGeom>
          <a:noFill/>
          <a:ln/>
        </p:spPr>
        <p:txBody>
          <a:bodyPr wrap="square" lIns="0" tIns="0" rIns="0" bIns="0" rtlCol="0" anchor="t"/>
          <a:lstStyle/>
          <a:p>
            <a:pPr indent="0" marL="0">
              <a:lnSpc>
                <a:spcPts val="1500"/>
              </a:lnSpc>
              <a:buNone/>
            </a:pPr>
            <a:r>
              <a:rPr lang="en-US" sz="1150" dirty="0">
                <a:solidFill>
                  <a:srgbClr val="12211D"/>
                </a:solidFill>
                <a:latin typeface="Calibri" pitchFamily="34" charset="0"/>
                <a:ea typeface="Calibri" pitchFamily="34" charset="-122"/>
                <a:cs typeface="Calibri" pitchFamily="34" charset="-120"/>
              </a:rPr>
              <a:t>RGPD et règlement européen sur l'IA ; lignes directrices sur le scraping et l'IA générative.</a:t>
            </a:r>
            <a:endParaRPr lang="en-US" sz="1150" dirty="0"/>
          </a:p>
        </p:txBody>
      </p:sp>
      <p:sp>
        <p:nvSpPr>
          <p:cNvPr id="27" name="Shape 25"/>
          <p:cNvSpPr/>
          <p:nvPr/>
        </p:nvSpPr>
        <p:spPr>
          <a:xfrm>
            <a:off x="6720840" y="3611880"/>
            <a:ext cx="4873752" cy="749808"/>
          </a:xfrm>
          <a:prstGeom prst="roundRect">
            <a:avLst>
              <a:gd name="adj" fmla="val 8537"/>
            </a:avLst>
          </a:prstGeom>
          <a:solidFill>
            <a:srgbClr val="E3EEE9"/>
          </a:solidFill>
          <a:ln/>
        </p:spPr>
      </p:sp>
      <p:sp>
        <p:nvSpPr>
          <p:cNvPr id="28" name="Text 26"/>
          <p:cNvSpPr txBox="1"/>
          <p:nvPr/>
        </p:nvSpPr>
        <p:spPr>
          <a:xfrm>
            <a:off x="6967728" y="3703320"/>
            <a:ext cx="4389120" cy="219456"/>
          </a:xfrm>
          <a:prstGeom prst="rect">
            <a:avLst/>
          </a:prstGeom>
          <a:noFill/>
          <a:ln/>
        </p:spPr>
        <p:txBody>
          <a:bodyPr wrap="square" lIns="0" tIns="0" rIns="0" bIns="0" rtlCol="0" anchor="ctr"/>
          <a:lstStyle/>
          <a:p>
            <a:pPr indent="0" marL="0">
              <a:buNone/>
            </a:pPr>
            <a:r>
              <a:rPr lang="en-US" sz="900" b="1" spc="200" kern="0" dirty="0">
                <a:solidFill>
                  <a:srgbClr val="0B5D50"/>
                </a:solidFill>
                <a:latin typeface="Courier New" pitchFamily="34" charset="0"/>
                <a:ea typeface="Courier New" pitchFamily="34" charset="-122"/>
                <a:cs typeface="Courier New" pitchFamily="34" charset="-120"/>
              </a:rPr>
              <a:t>AFRIQUE</a:t>
            </a:r>
            <a:endParaRPr lang="en-US" sz="900" dirty="0"/>
          </a:p>
        </p:txBody>
      </p:sp>
      <p:sp>
        <p:nvSpPr>
          <p:cNvPr id="29" name="Text 27"/>
          <p:cNvSpPr txBox="1"/>
          <p:nvPr/>
        </p:nvSpPr>
        <p:spPr>
          <a:xfrm>
            <a:off x="6967728" y="3922776"/>
            <a:ext cx="4389120" cy="365760"/>
          </a:xfrm>
          <a:prstGeom prst="rect">
            <a:avLst/>
          </a:prstGeom>
          <a:noFill/>
          <a:ln/>
        </p:spPr>
        <p:txBody>
          <a:bodyPr wrap="square" lIns="0" tIns="0" rIns="0" bIns="0" rtlCol="0" anchor="t"/>
          <a:lstStyle/>
          <a:p>
            <a:pPr indent="0" marL="0">
              <a:lnSpc>
                <a:spcPts val="1500"/>
              </a:lnSpc>
              <a:buNone/>
            </a:pPr>
            <a:r>
              <a:rPr lang="en-US" sz="1150" dirty="0">
                <a:solidFill>
                  <a:srgbClr val="12211D"/>
                </a:solidFill>
                <a:latin typeface="Calibri" pitchFamily="34" charset="0"/>
                <a:ea typeface="Calibri" pitchFamily="34" charset="-122"/>
                <a:cs typeface="Calibri" pitchFamily="34" charset="-120"/>
              </a:rPr>
              <a:t>Convention de l'Union africaine sur la cybersécurité et la protection des données (Malabo).</a:t>
            </a:r>
            <a:endParaRPr lang="en-US" sz="1150" dirty="0"/>
          </a:p>
        </p:txBody>
      </p:sp>
      <p:sp>
        <p:nvSpPr>
          <p:cNvPr id="30" name="Shape 28"/>
          <p:cNvSpPr/>
          <p:nvPr/>
        </p:nvSpPr>
        <p:spPr>
          <a:xfrm>
            <a:off x="6720840" y="4480560"/>
            <a:ext cx="4873752" cy="749808"/>
          </a:xfrm>
          <a:prstGeom prst="roundRect">
            <a:avLst>
              <a:gd name="adj" fmla="val 8537"/>
            </a:avLst>
          </a:prstGeom>
          <a:solidFill>
            <a:srgbClr val="E3EEE9"/>
          </a:solidFill>
          <a:ln/>
        </p:spPr>
      </p:sp>
      <p:sp>
        <p:nvSpPr>
          <p:cNvPr id="31" name="Text 29"/>
          <p:cNvSpPr txBox="1"/>
          <p:nvPr/>
        </p:nvSpPr>
        <p:spPr>
          <a:xfrm>
            <a:off x="6967728" y="4572000"/>
            <a:ext cx="4389120" cy="219456"/>
          </a:xfrm>
          <a:prstGeom prst="rect">
            <a:avLst/>
          </a:prstGeom>
          <a:noFill/>
          <a:ln/>
        </p:spPr>
        <p:txBody>
          <a:bodyPr wrap="square" lIns="0" tIns="0" rIns="0" bIns="0" rtlCol="0" anchor="ctr"/>
          <a:lstStyle/>
          <a:p>
            <a:pPr indent="0" marL="0">
              <a:buNone/>
            </a:pPr>
            <a:r>
              <a:rPr lang="en-US" sz="900" b="1" spc="200" kern="0" dirty="0">
                <a:solidFill>
                  <a:srgbClr val="0B5D50"/>
                </a:solidFill>
                <a:latin typeface="Courier New" pitchFamily="34" charset="0"/>
                <a:ea typeface="Courier New" pitchFamily="34" charset="-122"/>
                <a:cs typeface="Courier New" pitchFamily="34" charset="-120"/>
              </a:rPr>
              <a:t>ONU</a:t>
            </a:r>
            <a:endParaRPr lang="en-US" sz="900" dirty="0"/>
          </a:p>
        </p:txBody>
      </p:sp>
      <p:sp>
        <p:nvSpPr>
          <p:cNvPr id="32" name="Text 30"/>
          <p:cNvSpPr txBox="1"/>
          <p:nvPr/>
        </p:nvSpPr>
        <p:spPr>
          <a:xfrm>
            <a:off x="6967728" y="4791456"/>
            <a:ext cx="4389120" cy="365760"/>
          </a:xfrm>
          <a:prstGeom prst="rect">
            <a:avLst/>
          </a:prstGeom>
          <a:noFill/>
          <a:ln/>
        </p:spPr>
        <p:txBody>
          <a:bodyPr wrap="square" lIns="0" tIns="0" rIns="0" bIns="0" rtlCol="0" anchor="t"/>
          <a:lstStyle/>
          <a:p>
            <a:pPr indent="0" marL="0">
              <a:lnSpc>
                <a:spcPts val="1500"/>
              </a:lnSpc>
              <a:buNone/>
            </a:pPr>
            <a:r>
              <a:rPr lang="en-US" sz="1150" dirty="0">
                <a:solidFill>
                  <a:srgbClr val="12211D"/>
                </a:solidFill>
                <a:latin typeface="Calibri" pitchFamily="34" charset="0"/>
                <a:ea typeface="Calibri" pitchFamily="34" charset="-122"/>
                <a:cs typeface="Calibri" pitchFamily="34" charset="-120"/>
              </a:rPr>
              <a:t>Déclaration universelle des droits de l'homme : article 12 (vie privée), article 19 (expression).</a:t>
            </a:r>
            <a:endParaRPr lang="en-US" sz="1150" dirty="0"/>
          </a:p>
        </p:txBody>
      </p:sp>
      <p:sp>
        <p:nvSpPr>
          <p:cNvPr id="33" name="Shape 31"/>
          <p:cNvSpPr/>
          <p:nvPr/>
        </p:nvSpPr>
        <p:spPr>
          <a:xfrm>
            <a:off x="6720840" y="5394960"/>
            <a:ext cx="4873752" cy="685800"/>
          </a:xfrm>
          <a:prstGeom prst="roundRect">
            <a:avLst>
              <a:gd name="adj" fmla="val 9333"/>
            </a:avLst>
          </a:prstGeom>
          <a:solidFill>
            <a:srgbClr val="F6E5DF"/>
          </a:solidFill>
          <a:ln/>
        </p:spPr>
      </p:sp>
      <p:sp>
        <p:nvSpPr>
          <p:cNvPr id="34" name="Text 32"/>
          <p:cNvSpPr txBox="1"/>
          <p:nvPr/>
        </p:nvSpPr>
        <p:spPr>
          <a:xfrm>
            <a:off x="6967728" y="5394960"/>
            <a:ext cx="4389120" cy="685800"/>
          </a:xfrm>
          <a:prstGeom prst="rect">
            <a:avLst/>
          </a:prstGeom>
          <a:noFill/>
          <a:ln/>
        </p:spPr>
        <p:txBody>
          <a:bodyPr wrap="square" lIns="0" tIns="0" rIns="0" bIns="0" rtlCol="0" anchor="ctr"/>
          <a:lstStyle/>
          <a:p>
            <a:pPr indent="0" marL="0">
              <a:lnSpc>
                <a:spcPts val="1500"/>
              </a:lnSpc>
              <a:buNone/>
            </a:pPr>
            <a:r>
              <a:rPr lang="en-US" sz="1150" i="1" dirty="0">
                <a:solidFill>
                  <a:srgbClr val="12211D"/>
                </a:solidFill>
                <a:latin typeface="Calibri" pitchFamily="34" charset="0"/>
                <a:ea typeface="Calibri" pitchFamily="34" charset="-122"/>
                <a:cs typeface="Calibri" pitchFamily="34" charset="-120"/>
              </a:rPr>
              <a:t>Avant diffusion : faire confirmer par le FGI Bénin les intitulés, dates et montants cités.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FGI Bénin × ISOC Bénin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Nos données, notre souveraineté</dc:title>
  <dc:subject>Protection de la vie privée et souveraineté des données à l'ère de l'IA</dc:subject>
  <dc:creator>Mahuvivi Turibio KEKE</dc:creator>
  <cp:lastModifiedBy>Mahuvivi Turibio KEKE</cp:lastModifiedBy>
  <cp:revision>1</cp:revision>
  <dcterms:created xsi:type="dcterms:W3CDTF">2026-08-27T23:58:55Z</dcterms:created>
  <dcterms:modified xsi:type="dcterms:W3CDTF">2026-08-27T23:58:55Z</dcterms:modified>
</cp:coreProperties>
</file>